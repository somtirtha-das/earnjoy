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7" d="100"/>
          <a:sy n="67" d="100"/>
        </p:scale>
        <p:origin x="62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33962" y="1981348"/>
            <a:ext cx="2124075" cy="371475"/>
          </a:xfrm>
          <a:prstGeom prst="rect">
            <a:avLst/>
          </a:prstGeom>
        </p:spPr>
      </p:pic>
      <p:sp>
        <p:nvSpPr>
          <p:cNvPr id="4" name="TextBox 3"/>
          <p:cNvSpPr txBox="1"/>
          <p:nvPr/>
        </p:nvSpPr>
        <p:spPr>
          <a:xfrm>
            <a:off x="3845718" y="2638573"/>
            <a:ext cx="4500562" cy="1508521"/>
          </a:xfrm>
          <a:prstGeom prst="rect">
            <a:avLst/>
          </a:prstGeom>
          <a:noFill/>
        </p:spPr>
        <p:txBody>
          <a:bodyPr wrap="square" lIns="0" tIns="0" rIns="0" bIns="0" anchor="t">
            <a:spAutoFit/>
          </a:bodyPr>
          <a:lstStyle/>
          <a:p>
            <a:pPr algn="ctr">
              <a:lnSpc>
                <a:spcPts val="5940"/>
              </a:lnSpc>
            </a:pPr>
            <a:r>
              <a:rPr sz="5400" b="1" i="0" u="none">
                <a:solidFill>
                  <a:srgbClr val="F8FAFC"/>
                </a:solidFill>
                <a:latin typeface="Outfit"/>
              </a:rPr>
              <a:t>History of the</a:t>
            </a:r>
            <a:r>
              <a:t>
</a:t>
            </a:r>
            <a:r>
              <a:rPr sz="5400" b="1" i="0" u="none">
                <a:solidFill>
                  <a:srgbClr val="10B981"/>
                </a:solidFill>
                <a:latin typeface="Outfit"/>
              </a:rPr>
              <a:t>Stock Market</a:t>
            </a:r>
          </a:p>
        </p:txBody>
      </p:sp>
      <p:sp>
        <p:nvSpPr>
          <p:cNvPr id="5" name="TextBox 4"/>
          <p:cNvSpPr txBox="1"/>
          <p:nvPr/>
        </p:nvSpPr>
        <p:spPr>
          <a:xfrm>
            <a:off x="2786062" y="4337595"/>
            <a:ext cx="6619875" cy="396180"/>
          </a:xfrm>
          <a:prstGeom prst="rect">
            <a:avLst/>
          </a:prstGeom>
          <a:noFill/>
        </p:spPr>
        <p:txBody>
          <a:bodyPr wrap="square" lIns="0" tIns="0" rIns="0" bIns="0" anchor="t">
            <a:spAutoFit/>
          </a:bodyPr>
          <a:lstStyle/>
          <a:p>
            <a:pPr algn="ctr">
              <a:lnSpc>
                <a:spcPts val="3120"/>
              </a:lnSpc>
            </a:pPr>
            <a:r>
              <a:rPr sz="1950" b="0" i="0" u="none">
                <a:solidFill>
                  <a:srgbClr val="94A3B8"/>
                </a:solidFill>
                <a:latin typeface="Inter Medium"/>
              </a:rPr>
              <a:t>From Banyan Trees to Supercomputers. Welcome back!</a:t>
            </a:r>
          </a:p>
        </p:txBody>
      </p:sp>
      <p:pic>
        <p:nvPicPr>
          <p:cNvPr id="6" name="Picture 5" descr="image.png"/>
          <p:cNvPicPr>
            <a:picLocks noChangeAspect="1"/>
          </p:cNvPicPr>
          <p:nvPr/>
        </p:nvPicPr>
        <p:blipFill>
          <a:blip r:embed="rId4"/>
          <a:stretch>
            <a:fillRect/>
          </a:stretch>
        </p:blipFill>
        <p:spPr>
          <a:xfrm>
            <a:off x="5110276" y="2089154"/>
            <a:ext cx="173182" cy="1558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3838575"/>
            <a:ext cx="11049000" cy="381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7968" y="4381500"/>
            <a:ext cx="2668302" cy="381000"/>
          </a:xfrm>
          <a:prstGeom prst="rect">
            <a:avLst/>
          </a:prstGeom>
          <a:noFill/>
        </p:spPr>
        <p:txBody>
          <a:bodyPr wrap="square" lIns="0" tIns="0" rIns="0" bIns="0" anchor="t">
            <a:spAutoFit/>
          </a:bodyPr>
          <a:lstStyle/>
          <a:p>
            <a:pPr algn="ctr"/>
            <a:r>
              <a:rPr sz="2400" b="1" i="0" u="none">
                <a:solidFill>
                  <a:srgbClr val="10B981"/>
                </a:solidFill>
                <a:latin typeface="Outfit"/>
              </a:rPr>
              <a:t>1602</a:t>
            </a:r>
          </a:p>
        </p:txBody>
      </p:sp>
      <p:sp>
        <p:nvSpPr>
          <p:cNvPr id="5" name="TextBox 4"/>
          <p:cNvSpPr txBox="1"/>
          <p:nvPr/>
        </p:nvSpPr>
        <p:spPr>
          <a:xfrm>
            <a:off x="571500" y="4857750"/>
            <a:ext cx="2541240" cy="1219200"/>
          </a:xfrm>
          <a:prstGeom prst="rect">
            <a:avLst/>
          </a:prstGeom>
          <a:noFill/>
        </p:spPr>
        <p:txBody>
          <a:bodyPr wrap="square" lIns="0" tIns="0" rIns="0" bIns="0" anchor="t">
            <a:spAutoFit/>
          </a:bodyPr>
          <a:lstStyle/>
          <a:p>
            <a:pPr algn="ctr">
              <a:lnSpc>
                <a:spcPts val="2400"/>
              </a:lnSpc>
            </a:pPr>
            <a:r>
              <a:rPr sz="1500" b="0" i="0" u="none">
                <a:solidFill>
                  <a:srgbClr val="CBD5E1"/>
                </a:solidFill>
                <a:latin typeface="Inter"/>
              </a:rPr>
              <a:t>The Dutch East India Company establishes the first official stock exchange in Amsterdam.</a:t>
            </a:r>
          </a:p>
        </p:txBody>
      </p:sp>
      <p:sp>
        <p:nvSpPr>
          <p:cNvPr id="6" name="TextBox 5"/>
          <p:cNvSpPr txBox="1"/>
          <p:nvPr/>
        </p:nvSpPr>
        <p:spPr>
          <a:xfrm>
            <a:off x="3343888" y="1971675"/>
            <a:ext cx="2668302" cy="381000"/>
          </a:xfrm>
          <a:prstGeom prst="rect">
            <a:avLst/>
          </a:prstGeom>
          <a:noFill/>
        </p:spPr>
        <p:txBody>
          <a:bodyPr wrap="square" lIns="0" tIns="0" rIns="0" bIns="0" anchor="t">
            <a:spAutoFit/>
          </a:bodyPr>
          <a:lstStyle/>
          <a:p>
            <a:pPr algn="ctr"/>
            <a:r>
              <a:rPr sz="2400" b="1" i="0" u="none">
                <a:solidFill>
                  <a:srgbClr val="10B981"/>
                </a:solidFill>
                <a:latin typeface="Outfit"/>
              </a:rPr>
              <a:t>1792</a:t>
            </a:r>
          </a:p>
        </p:txBody>
      </p:sp>
      <p:sp>
        <p:nvSpPr>
          <p:cNvPr id="7" name="TextBox 6"/>
          <p:cNvSpPr txBox="1"/>
          <p:nvPr/>
        </p:nvSpPr>
        <p:spPr>
          <a:xfrm>
            <a:off x="3407419" y="2447925"/>
            <a:ext cx="2541240" cy="1219200"/>
          </a:xfrm>
          <a:prstGeom prst="rect">
            <a:avLst/>
          </a:prstGeom>
          <a:noFill/>
        </p:spPr>
        <p:txBody>
          <a:bodyPr wrap="square" lIns="0" tIns="0" rIns="0" bIns="0" anchor="t">
            <a:spAutoFit/>
          </a:bodyPr>
          <a:lstStyle/>
          <a:p>
            <a:pPr algn="ctr">
              <a:lnSpc>
                <a:spcPts val="2400"/>
              </a:lnSpc>
            </a:pPr>
            <a:r>
              <a:rPr sz="1500" b="0" i="0" u="none">
                <a:solidFill>
                  <a:srgbClr val="CBD5E1"/>
                </a:solidFill>
                <a:latin typeface="Inter"/>
              </a:rPr>
              <a:t>Brokers sign the Buttonwood Agreement, birthing Wall Street and the NYSE.</a:t>
            </a:r>
          </a:p>
        </p:txBody>
      </p:sp>
      <p:sp>
        <p:nvSpPr>
          <p:cNvPr id="8" name="TextBox 7"/>
          <p:cNvSpPr txBox="1"/>
          <p:nvPr/>
        </p:nvSpPr>
        <p:spPr>
          <a:xfrm>
            <a:off x="6179808" y="4381500"/>
            <a:ext cx="2668302" cy="381000"/>
          </a:xfrm>
          <a:prstGeom prst="rect">
            <a:avLst/>
          </a:prstGeom>
          <a:noFill/>
        </p:spPr>
        <p:txBody>
          <a:bodyPr wrap="square" lIns="0" tIns="0" rIns="0" bIns="0" anchor="t">
            <a:spAutoFit/>
          </a:bodyPr>
          <a:lstStyle/>
          <a:p>
            <a:pPr algn="ctr"/>
            <a:r>
              <a:rPr sz="2400" b="1" i="0" u="none">
                <a:solidFill>
                  <a:srgbClr val="10B981"/>
                </a:solidFill>
                <a:latin typeface="Outfit"/>
              </a:rPr>
              <a:t>1875</a:t>
            </a:r>
          </a:p>
        </p:txBody>
      </p:sp>
      <p:sp>
        <p:nvSpPr>
          <p:cNvPr id="9" name="TextBox 8"/>
          <p:cNvSpPr txBox="1"/>
          <p:nvPr/>
        </p:nvSpPr>
        <p:spPr>
          <a:xfrm>
            <a:off x="6243339" y="4857750"/>
            <a:ext cx="2541240" cy="1219200"/>
          </a:xfrm>
          <a:prstGeom prst="rect">
            <a:avLst/>
          </a:prstGeom>
          <a:noFill/>
        </p:spPr>
        <p:txBody>
          <a:bodyPr wrap="square" lIns="0" tIns="0" rIns="0" bIns="0" anchor="t">
            <a:spAutoFit/>
          </a:bodyPr>
          <a:lstStyle/>
          <a:p>
            <a:pPr algn="ctr">
              <a:lnSpc>
                <a:spcPts val="2400"/>
              </a:lnSpc>
            </a:pPr>
            <a:r>
              <a:rPr sz="1500" b="0" i="0" u="none">
                <a:solidFill>
                  <a:srgbClr val="CBD5E1"/>
                </a:solidFill>
                <a:latin typeface="Inter"/>
              </a:rPr>
              <a:t>Bombay Stock Exchange (BSE) is formally established, becoming Asia's oldest exchange.</a:t>
            </a:r>
          </a:p>
        </p:txBody>
      </p:sp>
      <p:sp>
        <p:nvSpPr>
          <p:cNvPr id="10" name="TextBox 9"/>
          <p:cNvSpPr txBox="1"/>
          <p:nvPr/>
        </p:nvSpPr>
        <p:spPr>
          <a:xfrm>
            <a:off x="9015728" y="1971675"/>
            <a:ext cx="2668302" cy="381000"/>
          </a:xfrm>
          <a:prstGeom prst="rect">
            <a:avLst/>
          </a:prstGeom>
          <a:noFill/>
        </p:spPr>
        <p:txBody>
          <a:bodyPr wrap="square" lIns="0" tIns="0" rIns="0" bIns="0" anchor="t">
            <a:spAutoFit/>
          </a:bodyPr>
          <a:lstStyle/>
          <a:p>
            <a:pPr algn="ctr"/>
            <a:r>
              <a:rPr sz="2400" b="1" i="0" u="none">
                <a:solidFill>
                  <a:srgbClr val="10B981"/>
                </a:solidFill>
                <a:latin typeface="Outfit"/>
              </a:rPr>
              <a:t>1994</a:t>
            </a:r>
          </a:p>
        </p:txBody>
      </p:sp>
      <p:sp>
        <p:nvSpPr>
          <p:cNvPr id="11" name="TextBox 10"/>
          <p:cNvSpPr txBox="1"/>
          <p:nvPr/>
        </p:nvSpPr>
        <p:spPr>
          <a:xfrm>
            <a:off x="9079259" y="2447925"/>
            <a:ext cx="2541240" cy="1219200"/>
          </a:xfrm>
          <a:prstGeom prst="rect">
            <a:avLst/>
          </a:prstGeom>
          <a:noFill/>
        </p:spPr>
        <p:txBody>
          <a:bodyPr wrap="square" lIns="0" tIns="0" rIns="0" bIns="0" anchor="t">
            <a:spAutoFit/>
          </a:bodyPr>
          <a:lstStyle/>
          <a:p>
            <a:pPr algn="ctr">
              <a:lnSpc>
                <a:spcPts val="2400"/>
              </a:lnSpc>
            </a:pPr>
            <a:r>
              <a:rPr sz="1500" b="0" i="0" u="none">
                <a:solidFill>
                  <a:srgbClr val="CBD5E1"/>
                </a:solidFill>
                <a:latin typeface="Inter"/>
              </a:rPr>
              <a:t>National Stock Exchange (NSE) launches electronic screen-based trading in India.</a:t>
            </a:r>
          </a:p>
        </p:txBody>
      </p:sp>
      <p:sp>
        <p:nvSpPr>
          <p:cNvPr id="12" name="TextBox 11"/>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Evolution of </a:t>
            </a:r>
            <a:r>
              <a:rPr sz="3600" b="1" i="0" u="none">
                <a:solidFill>
                  <a:srgbClr val="F59E0B"/>
                </a:solidFill>
                <a:latin typeface="Outfit"/>
              </a:rPr>
              <a:t>Stock Markets</a:t>
            </a:r>
          </a:p>
        </p:txBody>
      </p:sp>
      <p:sp>
        <p:nvSpPr>
          <p:cNvPr id="13" name="Rounded Rectangle 12"/>
          <p:cNvSpPr/>
          <p:nvPr/>
        </p:nvSpPr>
        <p:spPr>
          <a:xfrm>
            <a:off x="1727820" y="3981450"/>
            <a:ext cx="228600" cy="228600"/>
          </a:xfrm>
          <a:prstGeom prst="roundRect">
            <a:avLst>
              <a:gd name="adj" fmla="val 50000"/>
            </a:avLst>
          </a:prstGeom>
          <a:solidFill>
            <a:srgbClr val="0F172A"/>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63740" y="3981450"/>
            <a:ext cx="228600" cy="228600"/>
          </a:xfrm>
          <a:prstGeom prst="roundRect">
            <a:avLst>
              <a:gd name="adj" fmla="val 50000"/>
            </a:avLst>
          </a:prstGeom>
          <a:solidFill>
            <a:srgbClr val="0F172A"/>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99659" y="3981450"/>
            <a:ext cx="228600" cy="228600"/>
          </a:xfrm>
          <a:prstGeom prst="roundRect">
            <a:avLst>
              <a:gd name="adj" fmla="val 50000"/>
            </a:avLst>
          </a:prstGeom>
          <a:solidFill>
            <a:srgbClr val="0F172A"/>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235579" y="3981450"/>
            <a:ext cx="228600" cy="228600"/>
          </a:xfrm>
          <a:prstGeom prst="roundRect">
            <a:avLst>
              <a:gd name="adj" fmla="val 50000"/>
            </a:avLst>
          </a:prstGeom>
          <a:solidFill>
            <a:srgbClr val="0F172A"/>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44303"/>
            <a:ext cx="5286375" cy="3810000"/>
          </a:xfrm>
          <a:prstGeom prst="rect">
            <a:avLst/>
          </a:prstGeom>
        </p:spPr>
      </p:pic>
      <p:sp>
        <p:nvSpPr>
          <p:cNvPr id="4" name="TextBox 3"/>
          <p:cNvSpPr txBox="1"/>
          <p:nvPr/>
        </p:nvSpPr>
        <p:spPr>
          <a:xfrm>
            <a:off x="571500" y="142875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 the early 1600s, global spice trade was highly lucrative but incredibly risky. Ships were expensive to build and frequently lost at sea.</a:t>
            </a:r>
          </a:p>
        </p:txBody>
      </p:sp>
      <p:sp>
        <p:nvSpPr>
          <p:cNvPr id="5" name="TextBox 4"/>
          <p:cNvSpPr txBox="1"/>
          <p:nvPr/>
        </p:nvSpPr>
        <p:spPr>
          <a:xfrm>
            <a:off x="914400" y="2767607"/>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Innovator:</a:t>
            </a:r>
            <a:r>
              <a:rPr sz="1650" b="0" i="0" u="none">
                <a:solidFill>
                  <a:srgbClr val="CBD5E1"/>
                </a:solidFill>
                <a:latin typeface="Inter"/>
              </a:rPr>
              <a:t> The Dutch East India Company (VOC) decided to raise massive capital by inviting the general public to invest.</a:t>
            </a:r>
          </a:p>
        </p:txBody>
      </p:sp>
      <p:sp>
        <p:nvSpPr>
          <p:cNvPr id="6" name="TextBox 5"/>
          <p:cNvSpPr txBox="1"/>
          <p:nvPr/>
        </p:nvSpPr>
        <p:spPr>
          <a:xfrm>
            <a:off x="914400" y="4001690"/>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Concept:</a:t>
            </a:r>
            <a:r>
              <a:rPr sz="1650" b="0" i="0" u="none">
                <a:solidFill>
                  <a:srgbClr val="CBD5E1"/>
                </a:solidFill>
                <a:latin typeface="Inter"/>
              </a:rPr>
              <a:t> Investors provided funds in exchange for a printed "share" of the company's future profits (The first IPO).</a:t>
            </a:r>
          </a:p>
        </p:txBody>
      </p:sp>
      <p:sp>
        <p:nvSpPr>
          <p:cNvPr id="7" name="TextBox 6"/>
          <p:cNvSpPr txBox="1"/>
          <p:nvPr/>
        </p:nvSpPr>
        <p:spPr>
          <a:xfrm>
            <a:off x="914400" y="5235773"/>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Exchange:</a:t>
            </a:r>
            <a:r>
              <a:rPr sz="1650" b="0" i="0" u="none">
                <a:solidFill>
                  <a:srgbClr val="CBD5E1"/>
                </a:solidFill>
                <a:latin typeface="Inter"/>
              </a:rPr>
              <a:t> In 1602, the Amsterdam Stock Exchange was created solely to trade these VOC shares, pioneering modern finance.</a:t>
            </a:r>
          </a:p>
        </p:txBody>
      </p:sp>
      <p:pic>
        <p:nvPicPr>
          <p:cNvPr id="8" name="Picture 7" descr="image.png"/>
          <p:cNvPicPr>
            <a:picLocks noChangeAspect="1"/>
          </p:cNvPicPr>
          <p:nvPr/>
        </p:nvPicPr>
        <p:blipFill>
          <a:blip r:embed="rId4"/>
          <a:stretch>
            <a:fillRect/>
          </a:stretch>
        </p:blipFill>
        <p:spPr>
          <a:xfrm>
            <a:off x="6353175" y="2063353"/>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First Exchange: </a:t>
            </a:r>
            <a:r>
              <a:rPr sz="3600" b="1" i="0" u="none">
                <a:solidFill>
                  <a:srgbClr val="F59E0B"/>
                </a:solidFill>
                <a:latin typeface="Outfit"/>
              </a:rPr>
              <a:t>Amsterdam</a:t>
            </a:r>
          </a:p>
        </p:txBody>
      </p:sp>
      <p:pic>
        <p:nvPicPr>
          <p:cNvPr id="10" name="Picture 9" descr="image.png"/>
          <p:cNvPicPr>
            <a:picLocks noChangeAspect="1"/>
          </p:cNvPicPr>
          <p:nvPr/>
        </p:nvPicPr>
        <p:blipFill>
          <a:blip r:embed="rId5"/>
          <a:stretch>
            <a:fillRect/>
          </a:stretch>
        </p:blipFill>
        <p:spPr>
          <a:xfrm>
            <a:off x="571500" y="2786657"/>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4020740"/>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5254823"/>
            <a:ext cx="190500" cy="2000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1143000"/>
          </a:xfrm>
          <a:prstGeom prst="rect">
            <a:avLst/>
          </a:prstGeom>
          <a:noFill/>
        </p:spPr>
        <p:txBody>
          <a:bodyPr wrap="square" lIns="0" tIns="0" rIns="0" bIns="0" anchor="t">
            <a:spAutoFit/>
          </a:bodyPr>
          <a:lstStyle/>
          <a:p>
            <a:pPr algn="l"/>
            <a:r>
              <a:rPr sz="3600" b="1" i="0" u="none">
                <a:solidFill>
                  <a:srgbClr val="F8FAFC"/>
                </a:solidFill>
                <a:latin typeface="Outfit"/>
              </a:rPr>
              <a:t>The Rise of</a:t>
            </a:r>
            <a:r>
              <a:t>
</a:t>
            </a:r>
            <a:r>
              <a:rPr sz="3600" b="1" i="0" u="none">
                <a:solidFill>
                  <a:srgbClr val="F59E0B"/>
                </a:solidFill>
                <a:latin typeface="Outfit"/>
              </a:rPr>
              <a:t>Wall Street</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2062757"/>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While Europe laid the foundation, America scaled it to unprecedented heights.</a:t>
            </a:r>
          </a:p>
        </p:txBody>
      </p:sp>
      <p:sp>
        <p:nvSpPr>
          <p:cNvPr id="6" name="TextBox 5"/>
          <p:cNvSpPr txBox="1"/>
          <p:nvPr/>
        </p:nvSpPr>
        <p:spPr>
          <a:xfrm>
            <a:off x="571500" y="3066454"/>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 1792, a group of 24 prominent stockbrokers and merchants gathered outside 68 Wall Street in Manhattan, under a Buttonwood tree.</a:t>
            </a:r>
          </a:p>
        </p:txBody>
      </p:sp>
      <p:sp>
        <p:nvSpPr>
          <p:cNvPr id="7" name="TextBox 6"/>
          <p:cNvSpPr txBox="1"/>
          <p:nvPr/>
        </p:nvSpPr>
        <p:spPr>
          <a:xfrm>
            <a:off x="571500" y="4405312"/>
            <a:ext cx="5286375"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They signed an agreement to trade securities only among themselves and set fixed commission rates. This historic meeting birthed the New York Stock Exchange (NYSE), establishing the undisputed global capital of finance.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145631" y="1946076"/>
            <a:ext cx="5900737" cy="1543050"/>
          </a:xfrm>
          <a:prstGeom prst="rect">
            <a:avLst/>
          </a:prstGeom>
          <a:noFill/>
        </p:spPr>
        <p:txBody>
          <a:bodyPr wrap="square" lIns="0" tIns="0" rIns="0" bIns="0" anchor="t">
            <a:spAutoFit/>
          </a:bodyPr>
          <a:lstStyle/>
          <a:p>
            <a:pPr algn="ctr"/>
            <a:r>
              <a:rPr sz="4800" b="1" i="0" u="none">
                <a:solidFill>
                  <a:srgbClr val="F8FAFC"/>
                </a:solidFill>
                <a:latin typeface="Outfit"/>
              </a:rPr>
              <a:t>History of the</a:t>
            </a:r>
            <a:r>
              <a:t>
</a:t>
            </a:r>
            <a:r>
              <a:rPr sz="4800" b="1" i="0" u="none">
                <a:solidFill>
                  <a:srgbClr val="F8FAFC"/>
                </a:solidFill>
                <a:latin typeface="Outfit"/>
              </a:rPr>
              <a:t>Indian Stock Market</a:t>
            </a:r>
          </a:p>
        </p:txBody>
      </p:sp>
      <p:sp>
        <p:nvSpPr>
          <p:cNvPr id="4" name="Rectangle 3"/>
          <p:cNvSpPr/>
          <p:nvPr/>
        </p:nvSpPr>
        <p:spPr>
          <a:xfrm>
            <a:off x="5524500" y="3774876"/>
            <a:ext cx="114300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71500" y="4098726"/>
            <a:ext cx="11049000" cy="670321"/>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From informal gatherings of Gujarati and Parsi traders in the 1850s to a heavily regulated, multi-trillion dollar digital ecosystem today.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952625"/>
            <a:ext cx="5286375" cy="3810000"/>
          </a:xfrm>
          <a:prstGeom prst="rect">
            <a:avLst/>
          </a:prstGeom>
        </p:spPr>
      </p:pic>
      <p:sp>
        <p:nvSpPr>
          <p:cNvPr id="4" name="TextBox 3"/>
          <p:cNvSpPr txBox="1"/>
          <p:nvPr/>
        </p:nvSpPr>
        <p:spPr>
          <a:xfrm>
            <a:off x="571500" y="1504652"/>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origins of the Indian stock market are humble, informal, and deeply rooted in trading communities.</a:t>
            </a:r>
          </a:p>
        </p:txBody>
      </p:sp>
      <p:sp>
        <p:nvSpPr>
          <p:cNvPr id="5" name="TextBox 4"/>
          <p:cNvSpPr txBox="1"/>
          <p:nvPr/>
        </p:nvSpPr>
        <p:spPr>
          <a:xfrm>
            <a:off x="914400" y="2508349"/>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Banyan Tree:</a:t>
            </a:r>
            <a:r>
              <a:rPr sz="1650" b="0" i="0" u="none">
                <a:solidFill>
                  <a:srgbClr val="CBD5E1"/>
                </a:solidFill>
                <a:latin typeface="Inter"/>
              </a:rPr>
              <a:t> In the 1850s, stockbrokers would gather under banyan trees in front of Mumbai's Town Hall to trade.</a:t>
            </a:r>
          </a:p>
        </p:txBody>
      </p:sp>
      <p:sp>
        <p:nvSpPr>
          <p:cNvPr id="6" name="TextBox 5"/>
          <p:cNvSpPr txBox="1"/>
          <p:nvPr/>
        </p:nvSpPr>
        <p:spPr>
          <a:xfrm>
            <a:off x="914400" y="3742432"/>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Formal Establishment:</a:t>
            </a:r>
            <a:r>
              <a:rPr sz="1650" b="0" i="0" u="none">
                <a:solidFill>
                  <a:srgbClr val="CBD5E1"/>
                </a:solidFill>
                <a:latin typeface="Inter"/>
              </a:rPr>
              <a:t> In 1875, it was formally established as "The Native Share &amp; Stock Brokers Association".</a:t>
            </a:r>
          </a:p>
        </p:txBody>
      </p:sp>
      <p:sp>
        <p:nvSpPr>
          <p:cNvPr id="7" name="TextBox 6"/>
          <p:cNvSpPr txBox="1"/>
          <p:nvPr/>
        </p:nvSpPr>
        <p:spPr>
          <a:xfrm>
            <a:off x="914400" y="4976514"/>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Legacy:</a:t>
            </a:r>
            <a:r>
              <a:rPr sz="1650" b="0" i="0" u="none">
                <a:solidFill>
                  <a:srgbClr val="CBD5E1"/>
                </a:solidFill>
                <a:latin typeface="Inter"/>
              </a:rPr>
              <a:t> It is officially the oldest stock exchange in Asia. Today, it hosts over 5,000 listed companies—the highest in India.</a:t>
            </a:r>
          </a:p>
        </p:txBody>
      </p:sp>
      <p:pic>
        <p:nvPicPr>
          <p:cNvPr id="8" name="Picture 7" descr="image.png"/>
          <p:cNvPicPr>
            <a:picLocks noChangeAspect="1"/>
          </p:cNvPicPr>
          <p:nvPr/>
        </p:nvPicPr>
        <p:blipFill>
          <a:blip r:embed="rId4"/>
          <a:stretch>
            <a:fillRect/>
          </a:stretch>
        </p:blipFill>
        <p:spPr>
          <a:xfrm>
            <a:off x="6353175" y="1971675"/>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Bombay Stock Exchange </a:t>
            </a:r>
            <a:r>
              <a:rPr sz="3600" b="1" i="0" u="none">
                <a:solidFill>
                  <a:srgbClr val="F59E0B"/>
                </a:solidFill>
                <a:latin typeface="Outfit"/>
              </a:rPr>
              <a:t>(BSE)</a:t>
            </a:r>
          </a:p>
        </p:txBody>
      </p:sp>
      <p:pic>
        <p:nvPicPr>
          <p:cNvPr id="10" name="Picture 9" descr="image.png"/>
          <p:cNvPicPr>
            <a:picLocks noChangeAspect="1"/>
          </p:cNvPicPr>
          <p:nvPr/>
        </p:nvPicPr>
        <p:blipFill>
          <a:blip r:embed="rId5"/>
          <a:stretch>
            <a:fillRect/>
          </a:stretch>
        </p:blipFill>
        <p:spPr>
          <a:xfrm>
            <a:off x="571500" y="2527399"/>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3761482"/>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4995564"/>
            <a:ext cx="190500" cy="2000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82625"/>
            <a:ext cx="5334000" cy="4749998"/>
          </a:xfrm>
          <a:prstGeom prst="rect">
            <a:avLst/>
          </a:prstGeom>
        </p:spPr>
      </p:pic>
      <p:pic>
        <p:nvPicPr>
          <p:cNvPr id="4" name="Picture 3" descr="image.png"/>
          <p:cNvPicPr>
            <a:picLocks noChangeAspect="1"/>
          </p:cNvPicPr>
          <p:nvPr/>
        </p:nvPicPr>
        <p:blipFill>
          <a:blip r:embed="rId4"/>
          <a:stretch>
            <a:fillRect/>
          </a:stretch>
        </p:blipFill>
        <p:spPr>
          <a:xfrm>
            <a:off x="6286500" y="1482625"/>
            <a:ext cx="5334000" cy="4749998"/>
          </a:xfrm>
          <a:prstGeom prst="rect">
            <a:avLst/>
          </a:prstGeom>
        </p:spPr>
      </p:pic>
      <p:sp>
        <p:nvSpPr>
          <p:cNvPr id="6" name="TextBox 5"/>
          <p:cNvSpPr txBox="1"/>
          <p:nvPr/>
        </p:nvSpPr>
        <p:spPr>
          <a:xfrm>
            <a:off x="962025" y="1873150"/>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The Electronic Pioneer</a:t>
            </a:r>
          </a:p>
        </p:txBody>
      </p:sp>
      <p:sp>
        <p:nvSpPr>
          <p:cNvPr id="7" name="TextBox 6"/>
          <p:cNvSpPr txBox="1"/>
          <p:nvPr/>
        </p:nvSpPr>
        <p:spPr>
          <a:xfrm>
            <a:off x="962025" y="2349400"/>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Established in 1992 and operational by 1994, the NSE completely revolutionized the Indian capital markets.</a:t>
            </a:r>
          </a:p>
        </p:txBody>
      </p:sp>
      <p:sp>
        <p:nvSpPr>
          <p:cNvPr id="8" name="TextBox 7"/>
          <p:cNvSpPr txBox="1"/>
          <p:nvPr/>
        </p:nvSpPr>
        <p:spPr>
          <a:xfrm>
            <a:off x="962025" y="3688258"/>
            <a:ext cx="4552950" cy="2010965"/>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Before NSE, trading involved physical paper certificates and an "open outcry" system. NSE introduced a fully automated, screen-based electronic trading system, bringing absolute transparency and eliminating massive geographical barriers.</a:t>
            </a:r>
          </a:p>
        </p:txBody>
      </p:sp>
      <p:sp>
        <p:nvSpPr>
          <p:cNvPr id="10" name="TextBox 9"/>
          <p:cNvSpPr txBox="1"/>
          <p:nvPr/>
        </p:nvSpPr>
        <p:spPr>
          <a:xfrm>
            <a:off x="6677025" y="1873150"/>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Market Dominance</a:t>
            </a:r>
          </a:p>
        </p:txBody>
      </p:sp>
      <p:sp>
        <p:nvSpPr>
          <p:cNvPr id="11" name="TextBox 10"/>
          <p:cNvSpPr txBox="1"/>
          <p:nvPr/>
        </p:nvSpPr>
        <p:spPr>
          <a:xfrm>
            <a:off x="6677025" y="2349400"/>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Although much younger than the BSE, the NSE aggressively captured the market by focusing on modern technology.</a:t>
            </a:r>
          </a:p>
        </p:txBody>
      </p:sp>
      <p:sp>
        <p:nvSpPr>
          <p:cNvPr id="12" name="TextBox 11"/>
          <p:cNvSpPr txBox="1"/>
          <p:nvPr/>
        </p:nvSpPr>
        <p:spPr>
          <a:xfrm>
            <a:off x="6677025" y="3688258"/>
            <a:ext cx="4552950"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Today, the NSE is the absolute heavyweight champion in terms of trading volume and liquidity. It handles over 90% of the total equity derivatives trading happening across India.</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National Stock Exchange </a:t>
            </a:r>
            <a:r>
              <a:rPr sz="3600" b="1" i="0" u="none">
                <a:solidFill>
                  <a:srgbClr val="F59E0B"/>
                </a:solidFill>
                <a:latin typeface="Outfit"/>
              </a:rPr>
              <a:t>(NSE)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05050"/>
            <a:ext cx="5286375" cy="3105150"/>
          </a:xfrm>
          <a:prstGeom prst="rect">
            <a:avLst/>
          </a:prstGeom>
        </p:spPr>
      </p:pic>
      <p:sp>
        <p:nvSpPr>
          <p:cNvPr id="4" name="TextBox 3"/>
          <p:cNvSpPr txBox="1"/>
          <p:nvPr/>
        </p:nvSpPr>
        <p:spPr>
          <a:xfrm>
            <a:off x="962025" y="2886075"/>
            <a:ext cx="4505325" cy="1524000"/>
          </a:xfrm>
          <a:prstGeom prst="rect">
            <a:avLst/>
          </a:prstGeom>
          <a:noFill/>
        </p:spPr>
        <p:txBody>
          <a:bodyPr wrap="square" lIns="0" tIns="0" rIns="0" bIns="0" anchor="t">
            <a:spAutoFit/>
          </a:bodyPr>
          <a:lstStyle/>
          <a:p>
            <a:pPr algn="ctr">
              <a:lnSpc>
                <a:spcPts val="12000"/>
              </a:lnSpc>
              <a:defRPr/>
            </a:pPr>
            <a:r>
              <a:rPr sz="12000" b="1" i="0" u="none">
                <a:solidFill>
                  <a:srgbClr val="10B981"/>
                </a:solidFill>
                <a:latin typeface="Outfit"/>
              </a:rPr>
              <a:t>30</a:t>
            </a:r>
          </a:p>
        </p:txBody>
      </p:sp>
      <p:sp>
        <p:nvSpPr>
          <p:cNvPr id="5" name="TextBox 4"/>
          <p:cNvSpPr txBox="1"/>
          <p:nvPr/>
        </p:nvSpPr>
        <p:spPr>
          <a:xfrm>
            <a:off x="962025" y="4505325"/>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TOP COMPANIES</a:t>
            </a:r>
          </a:p>
        </p:txBody>
      </p:sp>
      <p:sp>
        <p:nvSpPr>
          <p:cNvPr id="6" name="TextBox 5"/>
          <p:cNvSpPr txBox="1"/>
          <p:nvPr/>
        </p:nvSpPr>
        <p:spPr>
          <a:xfrm>
            <a:off x="6334125" y="1874043"/>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Barometer of the Economy</a:t>
            </a:r>
          </a:p>
        </p:txBody>
      </p:sp>
      <p:sp>
        <p:nvSpPr>
          <p:cNvPr id="7" name="TextBox 6"/>
          <p:cNvSpPr txBox="1"/>
          <p:nvPr/>
        </p:nvSpPr>
        <p:spPr>
          <a:xfrm>
            <a:off x="6334125" y="2350293"/>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SENSEX stands for "Sensitivity Index". Introduced in 1986, it was India's first ever equity index.</a:t>
            </a:r>
          </a:p>
        </p:txBody>
      </p:sp>
      <p:sp>
        <p:nvSpPr>
          <p:cNvPr id="8" name="TextBox 7"/>
          <p:cNvSpPr txBox="1"/>
          <p:nvPr/>
        </p:nvSpPr>
        <p:spPr>
          <a:xfrm>
            <a:off x="6334125" y="3353990"/>
            <a:ext cx="5286375"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doesn't track all 5000+ companies on the BSE. Instead, it measures the performance of the top 30 largest, most actively traded, and financially stable companies across key sectors.</a:t>
            </a:r>
          </a:p>
        </p:txBody>
      </p:sp>
      <p:sp>
        <p:nvSpPr>
          <p:cNvPr id="9" name="TextBox 8"/>
          <p:cNvSpPr txBox="1"/>
          <p:nvPr/>
        </p:nvSpPr>
        <p:spPr>
          <a:xfrm>
            <a:off x="6334125" y="5028009"/>
            <a:ext cx="5286375" cy="670321"/>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Base Value:</a:t>
            </a:r>
            <a:r>
              <a:rPr sz="1650" b="0" i="0" u="none">
                <a:solidFill>
                  <a:srgbClr val="CBD5E1"/>
                </a:solidFill>
                <a:latin typeface="Inter"/>
              </a:rPr>
              <a:t> Its history dates back to the base year of 1978-79 with a starting point of just 100 points.</a:t>
            </a:r>
          </a:p>
        </p:txBody>
      </p:sp>
      <p:sp>
        <p:nvSpPr>
          <p:cNvPr id="10" name="TextBox 9"/>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BSE </a:t>
            </a:r>
            <a:r>
              <a:rPr sz="3600" b="1" i="0" u="none">
                <a:solidFill>
                  <a:srgbClr val="F59E0B"/>
                </a:solidFill>
                <a:latin typeface="Outfit"/>
              </a:rPr>
              <a:t>SENSEX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05050"/>
            <a:ext cx="5286375" cy="3105150"/>
          </a:xfrm>
          <a:prstGeom prst="rect">
            <a:avLst/>
          </a:prstGeom>
        </p:spPr>
      </p:pic>
      <p:sp>
        <p:nvSpPr>
          <p:cNvPr id="4" name="TextBox 3"/>
          <p:cNvSpPr txBox="1"/>
          <p:nvPr/>
        </p:nvSpPr>
        <p:spPr>
          <a:xfrm>
            <a:off x="962025" y="2886075"/>
            <a:ext cx="4505325" cy="1524000"/>
          </a:xfrm>
          <a:prstGeom prst="rect">
            <a:avLst/>
          </a:prstGeom>
          <a:noFill/>
        </p:spPr>
        <p:txBody>
          <a:bodyPr wrap="square" lIns="0" tIns="0" rIns="0" bIns="0" anchor="t">
            <a:spAutoFit/>
          </a:bodyPr>
          <a:lstStyle/>
          <a:p>
            <a:pPr algn="ctr">
              <a:lnSpc>
                <a:spcPts val="12000"/>
              </a:lnSpc>
              <a:defRPr/>
            </a:pPr>
            <a:r>
              <a:rPr sz="12000" b="1" i="0" u="none">
                <a:solidFill>
                  <a:srgbClr val="10B981"/>
                </a:solidFill>
                <a:latin typeface="Outfit"/>
              </a:rPr>
              <a:t>50</a:t>
            </a:r>
          </a:p>
        </p:txBody>
      </p:sp>
      <p:sp>
        <p:nvSpPr>
          <p:cNvPr id="5" name="TextBox 4"/>
          <p:cNvSpPr txBox="1"/>
          <p:nvPr/>
        </p:nvSpPr>
        <p:spPr>
          <a:xfrm>
            <a:off x="962025" y="4505325"/>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BLUECHIP STOCKS</a:t>
            </a:r>
          </a:p>
        </p:txBody>
      </p:sp>
      <p:sp>
        <p:nvSpPr>
          <p:cNvPr id="6" name="TextBox 5"/>
          <p:cNvSpPr txBox="1"/>
          <p:nvPr/>
        </p:nvSpPr>
        <p:spPr>
          <a:xfrm>
            <a:off x="6334125" y="1706463"/>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Modern Benchmark</a:t>
            </a:r>
          </a:p>
        </p:txBody>
      </p:sp>
      <p:sp>
        <p:nvSpPr>
          <p:cNvPr id="7" name="TextBox 6"/>
          <p:cNvSpPr txBox="1"/>
          <p:nvPr/>
        </p:nvSpPr>
        <p:spPr>
          <a:xfrm>
            <a:off x="6334125" y="2182713"/>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Launched by the National Stock Exchange in 1996, the NIFTY is derived from combining "National" and "Fifty".</a:t>
            </a:r>
          </a:p>
        </p:txBody>
      </p:sp>
      <p:sp>
        <p:nvSpPr>
          <p:cNvPr id="8" name="TextBox 7"/>
          <p:cNvSpPr txBox="1"/>
          <p:nvPr/>
        </p:nvSpPr>
        <p:spPr>
          <a:xfrm>
            <a:off x="6334125" y="3521571"/>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tracks the weighted average of 50 of the largest and most liquid Indian companies listed on the NSE.</a:t>
            </a:r>
          </a:p>
        </p:txBody>
      </p:sp>
      <p:sp>
        <p:nvSpPr>
          <p:cNvPr id="9" name="TextBox 8"/>
          <p:cNvSpPr txBox="1"/>
          <p:nvPr/>
        </p:nvSpPr>
        <p:spPr>
          <a:xfrm>
            <a:off x="6334125" y="4525267"/>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Significance:</a:t>
            </a:r>
            <a:r>
              <a:rPr sz="1650" b="0" i="0" u="none">
                <a:solidFill>
                  <a:srgbClr val="CBD5E1"/>
                </a:solidFill>
                <a:latin typeface="Inter"/>
              </a:rPr>
              <a:t> Due to NSE's massive trading volumes, the NIFTY 50 is heavily favored as the primary benchmark index by both domestic and foreign institutional investors.</a:t>
            </a:r>
          </a:p>
        </p:txBody>
      </p:sp>
      <p:sp>
        <p:nvSpPr>
          <p:cNvPr id="10" name="TextBox 9"/>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NSE </a:t>
            </a:r>
            <a:r>
              <a:rPr sz="3600" b="1" i="0" u="none">
                <a:solidFill>
                  <a:srgbClr val="F59E0B"/>
                </a:solidFill>
                <a:latin typeface="Outfit"/>
              </a:rPr>
              <a:t>NIFTY 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233487"/>
            <a:ext cx="11049000" cy="5472113"/>
          </a:xfrm>
          <a:prstGeom prst="rect">
            <a:avLst/>
          </a:prstGeom>
        </p:spPr>
      </p:pic>
      <p:pic>
        <p:nvPicPr>
          <p:cNvPr id="4" name="Picture 3" descr="image.png"/>
          <p:cNvPicPr>
            <a:picLocks noChangeAspect="1"/>
          </p:cNvPicPr>
          <p:nvPr/>
        </p:nvPicPr>
        <p:blipFill>
          <a:blip r:embed="rId4"/>
          <a:stretch>
            <a:fillRect/>
          </a:stretch>
        </p:blipFill>
        <p:spPr>
          <a:xfrm>
            <a:off x="1181100" y="1670595"/>
            <a:ext cx="247650" cy="295275"/>
          </a:xfrm>
          <a:prstGeom prst="rect">
            <a:avLst/>
          </a:prstGeom>
        </p:spPr>
      </p:pic>
      <p:sp>
        <p:nvSpPr>
          <p:cNvPr id="5" name="TextBox 4"/>
          <p:cNvSpPr txBox="1"/>
          <p:nvPr/>
        </p:nvSpPr>
        <p:spPr>
          <a:xfrm>
            <a:off x="1724025" y="1581150"/>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Retail Investors (Us)</a:t>
            </a:r>
          </a:p>
        </p:txBody>
      </p:sp>
      <p:sp>
        <p:nvSpPr>
          <p:cNvPr id="6" name="TextBox 5"/>
          <p:cNvSpPr txBox="1"/>
          <p:nvPr/>
        </p:nvSpPr>
        <p:spPr>
          <a:xfrm>
            <a:off x="1724025" y="1994445"/>
            <a:ext cx="9410700" cy="670321"/>
          </a:xfrm>
          <a:prstGeom prst="rect">
            <a:avLst/>
          </a:prstGeom>
          <a:noFill/>
        </p:spPr>
        <p:txBody>
          <a:bodyPr wrap="square" lIns="0" tIns="0" rIns="0" bIns="0" anchor="t">
            <a:spAutoFit/>
          </a:bodyPr>
          <a:lstStyle/>
          <a:p>
            <a:pPr algn="l">
              <a:lnSpc>
                <a:spcPts val="2640"/>
              </a:lnSpc>
            </a:pPr>
            <a:r>
              <a:rPr sz="1650" b="0" i="0" u="none" dirty="0">
                <a:solidFill>
                  <a:srgbClr val="CBD5E1"/>
                </a:solidFill>
                <a:latin typeface="Inter"/>
              </a:rPr>
              <a:t>Individual investors and traders operating with their own personal capital. (e.g., You buying Reliance shares on your mobile app).</a:t>
            </a:r>
          </a:p>
        </p:txBody>
      </p:sp>
      <p:pic>
        <p:nvPicPr>
          <p:cNvPr id="7" name="Picture 6" descr="image.png"/>
          <p:cNvPicPr>
            <a:picLocks noChangeAspect="1"/>
          </p:cNvPicPr>
          <p:nvPr/>
        </p:nvPicPr>
        <p:blipFill>
          <a:blip r:embed="rId5"/>
          <a:stretch>
            <a:fillRect/>
          </a:stretch>
        </p:blipFill>
        <p:spPr>
          <a:xfrm>
            <a:off x="1162050" y="2887563"/>
            <a:ext cx="285750" cy="295275"/>
          </a:xfrm>
          <a:prstGeom prst="rect">
            <a:avLst/>
          </a:prstGeom>
        </p:spPr>
      </p:pic>
      <p:sp>
        <p:nvSpPr>
          <p:cNvPr id="8" name="TextBox 7"/>
          <p:cNvSpPr txBox="1"/>
          <p:nvPr/>
        </p:nvSpPr>
        <p:spPr>
          <a:xfrm>
            <a:off x="1724025" y="2807642"/>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DIIs (Domestic Institutional Investors)</a:t>
            </a:r>
          </a:p>
        </p:txBody>
      </p:sp>
      <p:sp>
        <p:nvSpPr>
          <p:cNvPr id="9" name="TextBox 8"/>
          <p:cNvSpPr txBox="1"/>
          <p:nvPr/>
        </p:nvSpPr>
        <p:spPr>
          <a:xfrm>
            <a:off x="1724025" y="3220938"/>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Large Indian financial entities managing massive pools of capital. Includes Mutual Funds, Insurance companies (like LIC), and local banks.</a:t>
            </a:r>
          </a:p>
        </p:txBody>
      </p:sp>
      <p:pic>
        <p:nvPicPr>
          <p:cNvPr id="10" name="Picture 9" descr="image.png"/>
          <p:cNvPicPr>
            <a:picLocks noChangeAspect="1"/>
          </p:cNvPicPr>
          <p:nvPr/>
        </p:nvPicPr>
        <p:blipFill>
          <a:blip r:embed="rId6"/>
          <a:stretch>
            <a:fillRect/>
          </a:stretch>
        </p:blipFill>
        <p:spPr>
          <a:xfrm>
            <a:off x="1162050" y="4124622"/>
            <a:ext cx="285750" cy="295275"/>
          </a:xfrm>
          <a:prstGeom prst="rect">
            <a:avLst/>
          </a:prstGeom>
        </p:spPr>
      </p:pic>
      <p:sp>
        <p:nvSpPr>
          <p:cNvPr id="11" name="TextBox 10"/>
          <p:cNvSpPr txBox="1"/>
          <p:nvPr/>
        </p:nvSpPr>
        <p:spPr>
          <a:xfrm>
            <a:off x="1724025" y="4043660"/>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FIIs (Foreign Institutional Investors)</a:t>
            </a:r>
          </a:p>
        </p:txBody>
      </p:sp>
      <p:sp>
        <p:nvSpPr>
          <p:cNvPr id="12" name="TextBox 11"/>
          <p:cNvSpPr txBox="1"/>
          <p:nvPr/>
        </p:nvSpPr>
        <p:spPr>
          <a:xfrm>
            <a:off x="1724025" y="4456955"/>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International investment funds, foreign pension funds, and major global banks that inject massive foreign capital into the Indian growth story.</a:t>
            </a:r>
          </a:p>
        </p:txBody>
      </p:sp>
      <p:pic>
        <p:nvPicPr>
          <p:cNvPr id="13" name="Picture 12" descr="image.png"/>
          <p:cNvPicPr>
            <a:picLocks noChangeAspect="1"/>
          </p:cNvPicPr>
          <p:nvPr/>
        </p:nvPicPr>
        <p:blipFill>
          <a:blip r:embed="rId7"/>
          <a:stretch>
            <a:fillRect/>
          </a:stretch>
        </p:blipFill>
        <p:spPr>
          <a:xfrm>
            <a:off x="1152525" y="5337793"/>
            <a:ext cx="323850" cy="295275"/>
          </a:xfrm>
          <a:prstGeom prst="rect">
            <a:avLst/>
          </a:prstGeom>
        </p:spPr>
      </p:pic>
      <p:sp>
        <p:nvSpPr>
          <p:cNvPr id="14" name="TextBox 13"/>
          <p:cNvSpPr txBox="1"/>
          <p:nvPr/>
        </p:nvSpPr>
        <p:spPr>
          <a:xfrm>
            <a:off x="1724025" y="5308252"/>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Promoters</a:t>
            </a:r>
          </a:p>
        </p:txBody>
      </p:sp>
      <p:sp>
        <p:nvSpPr>
          <p:cNvPr id="15" name="TextBox 14"/>
          <p:cNvSpPr txBox="1"/>
          <p:nvPr/>
        </p:nvSpPr>
        <p:spPr>
          <a:xfrm>
            <a:off x="1724025" y="5721548"/>
            <a:ext cx="9410700" cy="0"/>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founders, parent companies, or original large-scale shareholders who maintain significant controlling stakes in the listed businesses.</a:t>
            </a:r>
          </a:p>
        </p:txBody>
      </p:sp>
      <p:sp>
        <p:nvSpPr>
          <p:cNvPr id="16" name="TextBox 15"/>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Key </a:t>
            </a:r>
            <a:r>
              <a:rPr sz="3600" b="1" i="0" u="none">
                <a:solidFill>
                  <a:srgbClr val="F59E0B"/>
                </a:solidFill>
                <a:latin typeface="Outfit"/>
              </a:rPr>
              <a:t>Market Participants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213496"/>
            <a:ext cx="11049000" cy="523875"/>
          </a:xfrm>
          <a:prstGeom prst="rect">
            <a:avLst/>
          </a:prstGeom>
        </p:spPr>
      </p:pic>
      <p:sp>
        <p:nvSpPr>
          <p:cNvPr id="4" name="TextBox 3"/>
          <p:cNvSpPr txBox="1"/>
          <p:nvPr/>
        </p:nvSpPr>
        <p:spPr>
          <a:xfrm>
            <a:off x="295275" y="571500"/>
            <a:ext cx="11601450" cy="962025"/>
          </a:xfrm>
          <a:prstGeom prst="rect">
            <a:avLst/>
          </a:prstGeom>
          <a:noFill/>
        </p:spPr>
        <p:txBody>
          <a:bodyPr wrap="square" lIns="0" tIns="0" rIns="0" bIns="0" anchor="t">
            <a:spAutoFit/>
          </a:bodyPr>
          <a:lstStyle/>
          <a:p>
            <a:pPr algn="ctr"/>
            <a:r>
              <a:rPr sz="6000" b="1" i="0" u="none">
                <a:solidFill>
                  <a:srgbClr val="10B981"/>
                </a:solidFill>
                <a:latin typeface="Outfit"/>
              </a:rPr>
              <a:t>Great Job on Day 2!</a:t>
            </a:r>
          </a:p>
        </p:txBody>
      </p:sp>
      <p:sp>
        <p:nvSpPr>
          <p:cNvPr id="5" name="TextBox 4"/>
          <p:cNvSpPr txBox="1"/>
          <p:nvPr/>
        </p:nvSpPr>
        <p:spPr>
          <a:xfrm>
            <a:off x="571500" y="1724025"/>
            <a:ext cx="11049000" cy="446725"/>
          </a:xfrm>
          <a:prstGeom prst="rect">
            <a:avLst/>
          </a:prstGeom>
          <a:noFill/>
        </p:spPr>
        <p:txBody>
          <a:bodyPr wrap="square" lIns="0" tIns="0" rIns="0" bIns="0" anchor="t">
            <a:spAutoFit/>
          </a:bodyPr>
          <a:lstStyle/>
          <a:p>
            <a:pPr algn="ctr">
              <a:lnSpc>
                <a:spcPts val="3840"/>
              </a:lnSpc>
            </a:pPr>
            <a:r>
              <a:rPr sz="2400" b="0" i="0" u="none" dirty="0">
                <a:solidFill>
                  <a:srgbClr val="F8FAFC"/>
                </a:solidFill>
                <a:latin typeface="Inter"/>
              </a:rPr>
              <a:t>Tomorrow: </a:t>
            </a:r>
            <a:r>
              <a:rPr lang="en-IN" sz="2400" dirty="0">
                <a:solidFill>
                  <a:srgbClr val="F8FAFC"/>
                </a:solidFill>
                <a:latin typeface="Inter"/>
              </a:rPr>
              <a:t>Primary Market vs Secondary Market</a:t>
            </a:r>
            <a:endParaRPr sz="2400" b="0" i="0" u="none" dirty="0">
              <a:solidFill>
                <a:srgbClr val="F8FAFC"/>
              </a:solidFill>
              <a:latin typeface="Inter"/>
            </a:endParaRPr>
          </a:p>
        </p:txBody>
      </p:sp>
      <p:sp>
        <p:nvSpPr>
          <p:cNvPr id="6" name="TextBox 5"/>
          <p:cNvSpPr txBox="1"/>
          <p:nvPr/>
        </p:nvSpPr>
        <p:spPr>
          <a:xfrm>
            <a:off x="571500" y="2402085"/>
            <a:ext cx="11049000" cy="335160"/>
          </a:xfrm>
          <a:prstGeom prst="rect">
            <a:avLst/>
          </a:prstGeom>
          <a:noFill/>
        </p:spPr>
        <p:txBody>
          <a:bodyPr wrap="square" lIns="0" tIns="0" rIns="0" bIns="0" anchor="t">
            <a:spAutoFit/>
          </a:bodyPr>
          <a:lstStyle/>
          <a:p>
            <a:pPr algn="ctr">
              <a:lnSpc>
                <a:spcPts val="2640"/>
              </a:lnSpc>
            </a:pPr>
            <a:r>
              <a:rPr sz="1650" b="0" i="0" u="none">
                <a:solidFill>
                  <a:srgbClr val="10B981"/>
                </a:solidFill>
                <a:latin typeface="Inter"/>
              </a:rPr>
              <a:t>Don't forget to Like, Share, and Subscribe!</a:t>
            </a:r>
          </a:p>
        </p:txBody>
      </p:sp>
      <p:sp>
        <p:nvSpPr>
          <p:cNvPr id="7" name="TextBox 6"/>
          <p:cNvSpPr txBox="1"/>
          <p:nvPr/>
        </p:nvSpPr>
        <p:spPr>
          <a:xfrm>
            <a:off x="5053012" y="3508771"/>
            <a:ext cx="2085975" cy="228600"/>
          </a:xfrm>
          <a:prstGeom prst="rect">
            <a:avLst/>
          </a:prstGeom>
          <a:noFill/>
        </p:spPr>
        <p:txBody>
          <a:bodyPr wrap="square" lIns="0" tIns="0" rIns="0" bIns="0" anchor="ctr">
            <a:spAutoFit/>
          </a:bodyPr>
          <a:lstStyle/>
          <a:p>
            <a:pPr algn="ctr"/>
            <a:r>
              <a:rPr sz="1500" b="0" i="0" u="none" dirty="0">
                <a:solidFill>
                  <a:srgbClr val="94A3B8"/>
                </a:solidFill>
                <a:latin typeface="Inter"/>
              </a:rPr>
              <a:t> /</a:t>
            </a:r>
            <a:r>
              <a:rPr lang="en-IN" sz="1500" dirty="0">
                <a:solidFill>
                  <a:srgbClr val="94A3B8"/>
                </a:solidFill>
                <a:latin typeface="Inter"/>
              </a:rPr>
              <a:t> @EarnJoyOfficial</a:t>
            </a:r>
            <a:endParaRPr sz="1500" b="0" i="0" u="none" dirty="0">
              <a:solidFill>
                <a:srgbClr val="94A3B8"/>
              </a:solidFill>
              <a:latin typeface="Inter"/>
            </a:endParaRPr>
          </a:p>
        </p:txBody>
      </p:sp>
      <p:pic>
        <p:nvPicPr>
          <p:cNvPr id="9" name="Picture 8" descr="image.png"/>
          <p:cNvPicPr>
            <a:picLocks noChangeAspect="1"/>
          </p:cNvPicPr>
          <p:nvPr/>
        </p:nvPicPr>
        <p:blipFill>
          <a:blip r:embed="rId4"/>
          <a:stretch>
            <a:fillRect/>
          </a:stretch>
        </p:blipFill>
        <p:spPr>
          <a:xfrm>
            <a:off x="5053012" y="3527821"/>
            <a:ext cx="2190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805</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Inter</vt:lpstr>
      <vt:lpstr>Inter Medium</vt:lpstr>
      <vt:lpstr>Inter SemiBold</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Somtirtha Das</cp:lastModifiedBy>
  <cp:revision>3</cp:revision>
  <dcterms:created xsi:type="dcterms:W3CDTF">2013-01-27T09:14:16Z</dcterms:created>
  <dcterms:modified xsi:type="dcterms:W3CDTF">2026-07-25T09:39:20Z</dcterms:modified>
  <cp:category/>
</cp:coreProperties>
</file>