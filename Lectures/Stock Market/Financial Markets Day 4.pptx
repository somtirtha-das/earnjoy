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981348"/>
            <a:ext cx="213360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20678" y="2638573"/>
            <a:ext cx="5150643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Outfit"/>
              </a:rPr>
              <a:t>Understanding</a:t>
            </a:r>
            <a:r>
              <a:t>
</a:t>
            </a:r>
            <a:r>
              <a:rPr sz="5400" b="1" i="0" u="none">
                <a:solidFill>
                  <a:srgbClr val="10B981"/>
                </a:solidFill>
                <a:latin typeface="Outfit"/>
              </a:rPr>
              <a:t>Shares &amp; Equity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5162" y="4337595"/>
            <a:ext cx="57816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94A3B8"/>
                </a:solidFill>
                <a:latin typeface="Inter Medium"/>
              </a:rPr>
              <a:t>Claiming your slice of the multi-billion dollar pie.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7428" y="208136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504652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Imagine a massive, delicious pizza. The entire pizza represents the total value of a company.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08349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The Concept: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Equity is simply a fancy word for "Ownership". When you buy equity, you are buying a slice of that corporate pizza.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2432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Shareholders: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By owning a slice (a share), you become a part-owner of the company. You legally own a fraction of its assets and future profits.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76514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Risk &amp; Reward: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If the pizza gets bigger (company grows), your slice is worth more. If the pizza burns in the oven, you lose money.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1971675"/>
            <a:ext cx="5248275" cy="3771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What is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Equity?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27399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6148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95564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5367"/>
            <a:ext cx="5334000" cy="37445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85367"/>
            <a:ext cx="5334000" cy="37445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375892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Common Shares (Equity)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852142"/>
            <a:ext cx="4552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This is what 99% of retail investors buy and trade on the stock exchange every single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855839"/>
            <a:ext cx="45529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Common shares give you the highest potential for growth and profits, but they also place you at the bottom of the ladder if the company goes bankrupt.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375892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Preference Shares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852142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These are a special hybrid instrument, usually bought by large institutions, HNI (High Net-worth Individuals), and venture capitalists.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191000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They act a bit like a stock and a bit like a bond, offering a fixed, predictable return but sacrificing aggressive growth.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Types of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Shares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52625"/>
            <a:ext cx="3492549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52625"/>
            <a:ext cx="3492549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52625"/>
            <a:ext cx="3492549" cy="3810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700" y="2343150"/>
            <a:ext cx="76200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2517" y="2914650"/>
            <a:ext cx="293036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59E0B"/>
                </a:solidFill>
                <a:latin typeface="Outfit"/>
              </a:rPr>
              <a:t>High Risk, High Reward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390900"/>
            <a:ext cx="2901999" cy="2010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If the company makes massive profits, your stock price skyrockets. But if it fails, common shareholders are the very last to get their money back.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343150"/>
            <a:ext cx="7620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90849" y="2914650"/>
            <a:ext cx="241030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59E0B"/>
                </a:solidFill>
                <a:latin typeface="Outfit"/>
              </a:rPr>
              <a:t>Variable Dividends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390900"/>
            <a:ext cx="2901999" cy="2010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 company is not legally obligated to pay you a dividend. The board of directors decides if, when, and how much dividend to distribute from profits.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3299" y="2343150"/>
            <a:ext cx="762000" cy="5054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14154" y="3077170"/>
            <a:ext cx="232029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F59E0B"/>
                </a:solidFill>
                <a:latin typeface="Outfit"/>
              </a:rPr>
              <a:t>The Power to Vote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553420"/>
            <a:ext cx="2901999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Because you hold all the risk, you hold the power. Common shares come with voting rights on major corporate decisions.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3387" y="2343150"/>
            <a:ext cx="4286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4550" y="2343150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79037" y="2424410"/>
            <a:ext cx="3905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Inside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Common Shares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28750"/>
            <a:ext cx="11049000" cy="52225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824" y="2004032"/>
            <a:ext cx="247650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24025" y="1914525"/>
            <a:ext cx="94107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F8FAFC"/>
                </a:solidFill>
                <a:latin typeface="Outfit"/>
              </a:rPr>
              <a:t>Fixed Dividend Guarantee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24025" y="2327820"/>
            <a:ext cx="94107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Unlike common shares, preference shareholders are promised a fixed dividend rate (e.g., 8% per year), regardless of whether the company makes a small profit or a huge one.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16" y="3516275"/>
            <a:ext cx="323850" cy="295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24025" y="3426767"/>
            <a:ext cx="94107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F8FAFC"/>
                </a:solidFill>
                <a:latin typeface="Outfit"/>
              </a:rPr>
              <a:t>Priority in Liquidation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4025" y="3840063"/>
            <a:ext cx="94107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If the company goes bankrupt and shuts down, preference shareholders get their money back *before* any common shareholders get a single rupee.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397" y="5028517"/>
            <a:ext cx="285750" cy="2952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24025" y="4939010"/>
            <a:ext cx="94107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F8FAFC"/>
                </a:solidFill>
                <a:latin typeface="Outfit"/>
              </a:rPr>
              <a:t>No Voting Rights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025" y="5352305"/>
            <a:ext cx="94107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Because they are protected from the extreme risks, they surrender their right to vote on company matters. They are silent financial backers.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Inside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Preference Shares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Power of</a:t>
            </a:r>
            <a:r>
              <a:t>
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Voting Rights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062757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When you own common shares, you aren't just a spectator; you are an active participant in corporate democracy.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01615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Every year, companies hold an AGM (Annual General Meeting). As a shareholder, you get to vote on crucial issues.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40473"/>
            <a:ext cx="52863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What do you vote on?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Electing the Board of Directors, approving mergers or acquisitions, passing the dividend payout, and deciding on executive salaries.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284511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Market Capitalization (or Market Cap) is the total "price tag" of the entire company in the stock market.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69183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If you wanted to buy 100% of the company right now from every single shareholder, the Market Cap is the amount of money you would need.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17541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We use this number to categorize companies into different tiers of risk and growth.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1971675"/>
            <a:ext cx="5248275" cy="3771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Market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Capitalization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714500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538882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Ranked 1 to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015132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These are the top 100 largest companies listed on the exchange by market capitalization (e.g., Reliance, TCS, HDFC Bank).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3353990"/>
            <a:ext cx="52863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The Pros: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They are extremely stable, well-established, and often pay consistent dividends. They are the safest equity investments during market crashes.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5028009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The Cons: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Because they are already massive, their room for hyper-growth is limited. Don't expect your money to double overnight.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828800"/>
            <a:ext cx="4057650" cy="405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Giants: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Large Cap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7786"/>
            <a:ext cx="5334000" cy="40796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17786"/>
            <a:ext cx="5334000" cy="40796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208311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Ranked 101 to 250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684561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These are medium-sized companies that have successfully moved past their startup phase and are expanding aggressively.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023419"/>
            <a:ext cx="45529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Think of them as teenagers in the corporate world—they have a lot of energy and are growing fast, but can sometimes be a bit unpredictable.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208311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The Balancing 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684561"/>
            <a:ext cx="4552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Mid-caps offer the perfect balance for many investors.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3688258"/>
            <a:ext cx="45529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They provide significantly higher growth potential than Large Caps, but they are less volatile and risky than Small Caps. They are tomorrow's potential industry leaders.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Sweet Spot: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Mid Cap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7925"/>
            <a:ext cx="5286375" cy="2819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3028950"/>
            <a:ext cx="4505325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750"/>
              </a:lnSpc>
              <a:defRPr/>
            </a:pPr>
            <a:r>
              <a:rPr sz="9750" b="1" i="0" u="none">
                <a:solidFill>
                  <a:srgbClr val="10B981"/>
                </a:solidFill>
                <a:latin typeface="Outfit"/>
              </a:rPr>
              <a:t>251+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4362450"/>
            <a:ext cx="45053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8FAFC"/>
                </a:solidFill>
                <a:latin typeface="Inter SemiBold"/>
              </a:rPr>
              <a:t>MARKET RANK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1706463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High Risk, High Reward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2182713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These are the companies ranked 251st and below. They are relatively young, niche, or regional businesses.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3521571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The Opportunity: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A successful small cap has the potential to multiply your money 10x or 50x over a decade if it becomes the next big 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4125" y="4860428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The Danger: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They are highly volatile. During market crashes, small caps fall the hardest, and many struggle to survive tough economic times.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Wild West: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Small Cap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10B981"/>
                </a:solidFill>
                <a:latin typeface="Outfit"/>
              </a:rPr>
              <a:t>Great Job on Day 4!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4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 dirty="0">
                <a:solidFill>
                  <a:srgbClr val="F8FAFC"/>
                </a:solidFill>
                <a:latin typeface="Inter"/>
              </a:rPr>
              <a:t>Tomorrow: </a:t>
            </a:r>
            <a:r>
              <a:rPr lang="en-IN" sz="2400" b="0" i="0" u="none" dirty="0">
                <a:solidFill>
                  <a:srgbClr val="F8FAFC"/>
                </a:solidFill>
                <a:latin typeface="Inter"/>
              </a:rPr>
              <a:t>Stock Market Ecosystem</a:t>
            </a:r>
            <a:r>
              <a:rPr sz="2400" b="0" i="0" u="none" dirty="0">
                <a:solidFill>
                  <a:srgbClr val="F8FAFC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10B981"/>
                </a:solidFill>
                <a:latin typeface="Inter"/>
              </a:rPr>
              <a:t>Don't forget to Like, Share, and Subscribe!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53012" y="3508771"/>
            <a:ext cx="208597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94A3B8"/>
                </a:solidFill>
                <a:latin typeface="Inter"/>
              </a:rPr>
              <a:t> /</a:t>
            </a:r>
            <a:r>
              <a:rPr lang="en-IN" sz="1500" dirty="0">
                <a:solidFill>
                  <a:srgbClr val="94A3B8"/>
                </a:solidFill>
                <a:latin typeface="Inter"/>
              </a:rPr>
              <a:t> @EarnJoyOfficial</a:t>
            </a:r>
            <a:endParaRPr sz="150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012" y="3527821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871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Inter</vt:lpstr>
      <vt:lpstr>Inter Medium</vt:lpstr>
      <vt:lpstr>Inter SemiBold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Somtirtha Das</cp:lastModifiedBy>
  <cp:revision>2</cp:revision>
  <dcterms:created xsi:type="dcterms:W3CDTF">2013-01-27T09:14:16Z</dcterms:created>
  <dcterms:modified xsi:type="dcterms:W3CDTF">2026-07-25T10:27:21Z</dcterms:modified>
  <cp:category/>
</cp:coreProperties>
</file>