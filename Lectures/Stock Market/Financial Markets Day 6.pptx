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3" d="100"/>
          <a:sy n="63" d="100"/>
        </p:scale>
        <p:origin x="780" y="1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029200" y="1981348"/>
            <a:ext cx="2133600" cy="371475"/>
          </a:xfrm>
          <a:prstGeom prst="rect">
            <a:avLst/>
          </a:prstGeom>
        </p:spPr>
      </p:pic>
      <p:sp>
        <p:nvSpPr>
          <p:cNvPr id="4" name="TextBox 3"/>
          <p:cNvSpPr txBox="1"/>
          <p:nvPr/>
        </p:nvSpPr>
        <p:spPr>
          <a:xfrm>
            <a:off x="3300650" y="2638573"/>
            <a:ext cx="5590698" cy="1508521"/>
          </a:xfrm>
          <a:prstGeom prst="rect">
            <a:avLst/>
          </a:prstGeom>
          <a:noFill/>
        </p:spPr>
        <p:txBody>
          <a:bodyPr wrap="square" lIns="0" tIns="0" rIns="0" bIns="0" anchor="t">
            <a:spAutoFit/>
          </a:bodyPr>
          <a:lstStyle/>
          <a:p>
            <a:pPr algn="ctr">
              <a:lnSpc>
                <a:spcPts val="5940"/>
              </a:lnSpc>
            </a:pPr>
            <a:r>
              <a:rPr sz="5400" b="1" i="0" u="none">
                <a:solidFill>
                  <a:srgbClr val="F8FAFC"/>
                </a:solidFill>
                <a:latin typeface="Outfit"/>
              </a:rPr>
              <a:t>Demat &amp; Trading</a:t>
            </a:r>
            <a:r>
              <a:t>
</a:t>
            </a:r>
            <a:r>
              <a:rPr sz="5400" b="1" i="0" u="none">
                <a:solidFill>
                  <a:srgbClr val="10B981"/>
                </a:solidFill>
                <a:latin typeface="Outfit"/>
              </a:rPr>
              <a:t>Accounts</a:t>
            </a:r>
          </a:p>
        </p:txBody>
      </p:sp>
      <p:sp>
        <p:nvSpPr>
          <p:cNvPr id="5" name="TextBox 4"/>
          <p:cNvSpPr txBox="1"/>
          <p:nvPr/>
        </p:nvSpPr>
        <p:spPr>
          <a:xfrm>
            <a:off x="2852737" y="4337595"/>
            <a:ext cx="6486525" cy="396180"/>
          </a:xfrm>
          <a:prstGeom prst="rect">
            <a:avLst/>
          </a:prstGeom>
          <a:noFill/>
        </p:spPr>
        <p:txBody>
          <a:bodyPr wrap="square" lIns="0" tIns="0" rIns="0" bIns="0" anchor="t">
            <a:spAutoFit/>
          </a:bodyPr>
          <a:lstStyle/>
          <a:p>
            <a:pPr algn="ctr">
              <a:lnSpc>
                <a:spcPts val="3120"/>
              </a:lnSpc>
            </a:pPr>
            <a:r>
              <a:rPr sz="1950" b="0" i="0" u="none">
                <a:solidFill>
                  <a:srgbClr val="94A3B8"/>
                </a:solidFill>
                <a:latin typeface="Inter Medium"/>
              </a:rPr>
              <a:t>Setting up your digital infrastructure to start investing.</a:t>
            </a:r>
          </a:p>
        </p:txBody>
      </p:sp>
      <p:pic>
        <p:nvPicPr>
          <p:cNvPr id="6" name="Picture 5" descr="image.png"/>
          <p:cNvPicPr>
            <a:picLocks noChangeAspect="1"/>
          </p:cNvPicPr>
          <p:nvPr/>
        </p:nvPicPr>
        <p:blipFill>
          <a:blip r:embed="rId4"/>
          <a:stretch>
            <a:fillRect/>
          </a:stretch>
        </p:blipFill>
        <p:spPr>
          <a:xfrm>
            <a:off x="5096855" y="2081361"/>
            <a:ext cx="190500"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1952625"/>
            <a:ext cx="5286375" cy="3810000"/>
          </a:xfrm>
          <a:prstGeom prst="rect">
            <a:avLst/>
          </a:prstGeom>
        </p:spPr>
      </p:pic>
      <p:sp>
        <p:nvSpPr>
          <p:cNvPr id="4" name="TextBox 3"/>
          <p:cNvSpPr txBox="1"/>
          <p:nvPr/>
        </p:nvSpPr>
        <p:spPr>
          <a:xfrm>
            <a:off x="571500" y="1504652"/>
            <a:ext cx="52863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De-Materialized</a:t>
            </a:r>
            <a:r>
              <a:rPr sz="1650" b="0" i="0" u="none">
                <a:solidFill>
                  <a:srgbClr val="CBD5E1"/>
                </a:solidFill>
                <a:latin typeface="Inter"/>
              </a:rPr>
              <a:t> means moving from physical paper to digital records. A Demat account is simply a digital locker for your assets.</a:t>
            </a:r>
          </a:p>
        </p:txBody>
      </p:sp>
      <p:sp>
        <p:nvSpPr>
          <p:cNvPr id="5" name="TextBox 4"/>
          <p:cNvSpPr txBox="1"/>
          <p:nvPr/>
        </p:nvSpPr>
        <p:spPr>
          <a:xfrm>
            <a:off x="914400" y="2843510"/>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Storage Only:</a:t>
            </a:r>
            <a:r>
              <a:rPr sz="1650" b="0" i="0" u="none">
                <a:solidFill>
                  <a:srgbClr val="CBD5E1"/>
                </a:solidFill>
                <a:latin typeface="Inter"/>
              </a:rPr>
              <a:t> You cannot use a Demat account to buy or sell. Its only job is to safely hold your assets.</a:t>
            </a:r>
          </a:p>
        </p:txBody>
      </p:sp>
      <p:sp>
        <p:nvSpPr>
          <p:cNvPr id="6" name="TextBox 5"/>
          <p:cNvSpPr txBox="1"/>
          <p:nvPr/>
        </p:nvSpPr>
        <p:spPr>
          <a:xfrm>
            <a:off x="914400" y="4077592"/>
            <a:ext cx="4943475" cy="670321"/>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Versatile:</a:t>
            </a:r>
            <a:r>
              <a:rPr sz="1650" b="0" i="0" u="none">
                <a:solidFill>
                  <a:srgbClr val="CBD5E1"/>
                </a:solidFill>
                <a:latin typeface="Inter"/>
              </a:rPr>
              <a:t> It doesn't just hold stocks. It holds Mutual Funds, Sovereign Gold Bonds, and ETFs.</a:t>
            </a:r>
          </a:p>
        </p:txBody>
      </p:sp>
      <p:sp>
        <p:nvSpPr>
          <p:cNvPr id="7" name="TextBox 6"/>
          <p:cNvSpPr txBox="1"/>
          <p:nvPr/>
        </p:nvSpPr>
        <p:spPr>
          <a:xfrm>
            <a:off x="914400" y="4976514"/>
            <a:ext cx="49434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Ultimate Security:</a:t>
            </a:r>
            <a:r>
              <a:rPr sz="1650" b="0" i="0" u="none">
                <a:solidFill>
                  <a:srgbClr val="CBD5E1"/>
                </a:solidFill>
                <a:latin typeface="Inter"/>
              </a:rPr>
              <a:t> The actual assets are kept safe with the central depositories (CDSL or NSDL), not the broker app on your phone.</a:t>
            </a:r>
          </a:p>
        </p:txBody>
      </p:sp>
      <p:pic>
        <p:nvPicPr>
          <p:cNvPr id="8" name="Picture 7" descr="image.png"/>
          <p:cNvPicPr>
            <a:picLocks noChangeAspect="1"/>
          </p:cNvPicPr>
          <p:nvPr/>
        </p:nvPicPr>
        <p:blipFill>
          <a:blip r:embed="rId4"/>
          <a:stretch>
            <a:fillRect/>
          </a:stretch>
        </p:blipFill>
        <p:spPr>
          <a:xfrm>
            <a:off x="6353175" y="1971675"/>
            <a:ext cx="5248275" cy="377190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a:t>
            </a:r>
            <a:r>
              <a:rPr sz="3600" b="1" i="0" u="none">
                <a:solidFill>
                  <a:srgbClr val="F59E0B"/>
                </a:solidFill>
                <a:latin typeface="Outfit"/>
              </a:rPr>
              <a:t>Demat Account</a:t>
            </a:r>
          </a:p>
        </p:txBody>
      </p:sp>
      <p:pic>
        <p:nvPicPr>
          <p:cNvPr id="10" name="Picture 9" descr="image.png"/>
          <p:cNvPicPr>
            <a:picLocks noChangeAspect="1"/>
          </p:cNvPicPr>
          <p:nvPr/>
        </p:nvPicPr>
        <p:blipFill>
          <a:blip r:embed="rId5"/>
          <a:stretch>
            <a:fillRect/>
          </a:stretch>
        </p:blipFill>
        <p:spPr>
          <a:xfrm>
            <a:off x="571500" y="2923520"/>
            <a:ext cx="190500" cy="200025"/>
          </a:xfrm>
          <a:prstGeom prst="rect">
            <a:avLst/>
          </a:prstGeom>
        </p:spPr>
      </p:pic>
      <p:pic>
        <p:nvPicPr>
          <p:cNvPr id="11" name="Picture 10" descr="image.png"/>
          <p:cNvPicPr>
            <a:picLocks noChangeAspect="1"/>
          </p:cNvPicPr>
          <p:nvPr/>
        </p:nvPicPr>
        <p:blipFill>
          <a:blip r:embed="rId5"/>
          <a:stretch>
            <a:fillRect/>
          </a:stretch>
        </p:blipFill>
        <p:spPr>
          <a:xfrm>
            <a:off x="571500" y="4157602"/>
            <a:ext cx="190500" cy="200025"/>
          </a:xfrm>
          <a:prstGeom prst="rect">
            <a:avLst/>
          </a:prstGeom>
        </p:spPr>
      </p:pic>
      <p:pic>
        <p:nvPicPr>
          <p:cNvPr id="12" name="Picture 11" descr="image.png"/>
          <p:cNvPicPr>
            <a:picLocks noChangeAspect="1"/>
          </p:cNvPicPr>
          <p:nvPr/>
        </p:nvPicPr>
        <p:blipFill>
          <a:blip r:embed="rId5"/>
          <a:stretch>
            <a:fillRect/>
          </a:stretch>
        </p:blipFill>
        <p:spPr>
          <a:xfrm>
            <a:off x="571500" y="5056524"/>
            <a:ext cx="190500" cy="2000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482625"/>
            <a:ext cx="5334000" cy="4749998"/>
          </a:xfrm>
          <a:prstGeom prst="rect">
            <a:avLst/>
          </a:prstGeom>
        </p:spPr>
      </p:pic>
      <p:pic>
        <p:nvPicPr>
          <p:cNvPr id="4" name="Picture 3" descr="image.png"/>
          <p:cNvPicPr>
            <a:picLocks noChangeAspect="1"/>
          </p:cNvPicPr>
          <p:nvPr/>
        </p:nvPicPr>
        <p:blipFill>
          <a:blip r:embed="rId4"/>
          <a:stretch>
            <a:fillRect/>
          </a:stretch>
        </p:blipFill>
        <p:spPr>
          <a:xfrm>
            <a:off x="6286500" y="1482625"/>
            <a:ext cx="5334000" cy="4749998"/>
          </a:xfrm>
          <a:prstGeom prst="rect">
            <a:avLst/>
          </a:prstGeom>
        </p:spPr>
      </p:pic>
      <p:sp>
        <p:nvSpPr>
          <p:cNvPr id="5" name="Rectangle 4"/>
          <p:cNvSpPr/>
          <p:nvPr/>
        </p:nvSpPr>
        <p:spPr>
          <a:xfrm>
            <a:off x="581025" y="3829050"/>
            <a:ext cx="5314950" cy="5715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2025" y="1873150"/>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The Execution Engine</a:t>
            </a:r>
          </a:p>
        </p:txBody>
      </p:sp>
      <p:sp>
        <p:nvSpPr>
          <p:cNvPr id="7" name="TextBox 6"/>
          <p:cNvSpPr txBox="1"/>
          <p:nvPr/>
        </p:nvSpPr>
        <p:spPr>
          <a:xfrm>
            <a:off x="962025" y="2349400"/>
            <a:ext cx="4552950" cy="1675804"/>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If the Demat account is the locker, the Trading account is the key and the vehicle. It is the actual interface (like the Zerodha or Groww app) you use to interact with the stock exchange.</a:t>
            </a:r>
          </a:p>
        </p:txBody>
      </p:sp>
      <p:sp>
        <p:nvSpPr>
          <p:cNvPr id="8" name="TextBox 7"/>
          <p:cNvSpPr txBox="1"/>
          <p:nvPr/>
        </p:nvSpPr>
        <p:spPr>
          <a:xfrm>
            <a:off x="962025" y="4358580"/>
            <a:ext cx="455295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When you click "BUY", the Trading account communicates with the exchange, pulls money from your bank, and sends the shares to your Demat.</a:t>
            </a:r>
          </a:p>
        </p:txBody>
      </p:sp>
      <p:sp>
        <p:nvSpPr>
          <p:cNvPr id="9" name="Rectangle 8"/>
          <p:cNvSpPr/>
          <p:nvPr/>
        </p:nvSpPr>
        <p:spPr>
          <a:xfrm>
            <a:off x="6296025" y="3829050"/>
            <a:ext cx="5314950" cy="571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7025" y="1873150"/>
            <a:ext cx="4780597" cy="333375"/>
          </a:xfrm>
          <a:prstGeom prst="rect">
            <a:avLst/>
          </a:prstGeom>
          <a:noFill/>
        </p:spPr>
        <p:txBody>
          <a:bodyPr wrap="square" lIns="0" tIns="0" rIns="0" bIns="0" anchor="t">
            <a:spAutoFit/>
          </a:bodyPr>
          <a:lstStyle/>
          <a:p>
            <a:pPr algn="l"/>
            <a:r>
              <a:rPr sz="2100" b="1" i="0" u="none">
                <a:solidFill>
                  <a:srgbClr val="F59E0B"/>
                </a:solidFill>
                <a:latin typeface="Outfit"/>
              </a:rPr>
              <a:t>The Middleman</a:t>
            </a:r>
          </a:p>
        </p:txBody>
      </p:sp>
      <p:sp>
        <p:nvSpPr>
          <p:cNvPr id="11" name="TextBox 10"/>
          <p:cNvSpPr txBox="1"/>
          <p:nvPr/>
        </p:nvSpPr>
        <p:spPr>
          <a:xfrm>
            <a:off x="6677025" y="2349400"/>
            <a:ext cx="4552950" cy="1675804"/>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A Trading account is provided by a Stock Broker. It acts as the crucial bridge connecting your Bank Account (where your cash is) to your Demat Account (where your shares will go).</a:t>
            </a:r>
          </a:p>
        </p:txBody>
      </p:sp>
      <p:sp>
        <p:nvSpPr>
          <p:cNvPr id="12" name="TextBox 11"/>
          <p:cNvSpPr txBox="1"/>
          <p:nvPr/>
        </p:nvSpPr>
        <p:spPr>
          <a:xfrm>
            <a:off x="6677025" y="4358580"/>
            <a:ext cx="455295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Without a trading account, you cannot place an order on the NSE or BSE.</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a:t>
            </a:r>
            <a:r>
              <a:rPr sz="3600" b="1" i="0" u="none">
                <a:solidFill>
                  <a:srgbClr val="F59E0B"/>
                </a:solidFill>
                <a:latin typeface="Outfit"/>
              </a:rPr>
              <a:t>Trading Account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52625"/>
            <a:ext cx="3492549" cy="3810000"/>
          </a:xfrm>
          <a:prstGeom prst="rect">
            <a:avLst/>
          </a:prstGeom>
        </p:spPr>
      </p:pic>
      <p:pic>
        <p:nvPicPr>
          <p:cNvPr id="4" name="Picture 3" descr="image.png"/>
          <p:cNvPicPr>
            <a:picLocks noChangeAspect="1"/>
          </p:cNvPicPr>
          <p:nvPr/>
        </p:nvPicPr>
        <p:blipFill>
          <a:blip r:embed="rId4"/>
          <a:stretch>
            <a:fillRect/>
          </a:stretch>
        </p:blipFill>
        <p:spPr>
          <a:xfrm>
            <a:off x="4349799" y="1952625"/>
            <a:ext cx="3492549" cy="3810000"/>
          </a:xfrm>
          <a:prstGeom prst="rect">
            <a:avLst/>
          </a:prstGeom>
        </p:spPr>
      </p:pic>
      <p:pic>
        <p:nvPicPr>
          <p:cNvPr id="5" name="Picture 4" descr="image.png"/>
          <p:cNvPicPr>
            <a:picLocks noChangeAspect="1"/>
          </p:cNvPicPr>
          <p:nvPr/>
        </p:nvPicPr>
        <p:blipFill>
          <a:blip r:embed="rId5"/>
          <a:stretch>
            <a:fillRect/>
          </a:stretch>
        </p:blipFill>
        <p:spPr>
          <a:xfrm>
            <a:off x="8128099" y="1952625"/>
            <a:ext cx="3492549" cy="3810000"/>
          </a:xfrm>
          <a:prstGeom prst="rect">
            <a:avLst/>
          </a:prstGeom>
        </p:spPr>
      </p:pic>
      <p:pic>
        <p:nvPicPr>
          <p:cNvPr id="6" name="Picture 5" descr="image.png"/>
          <p:cNvPicPr>
            <a:picLocks noChangeAspect="1"/>
          </p:cNvPicPr>
          <p:nvPr/>
        </p:nvPicPr>
        <p:blipFill>
          <a:blip r:embed="rId6"/>
          <a:stretch>
            <a:fillRect/>
          </a:stretch>
        </p:blipFill>
        <p:spPr>
          <a:xfrm>
            <a:off x="1936700" y="2343150"/>
            <a:ext cx="762000" cy="505420"/>
          </a:xfrm>
          <a:prstGeom prst="rect">
            <a:avLst/>
          </a:prstGeom>
        </p:spPr>
      </p:pic>
      <p:sp>
        <p:nvSpPr>
          <p:cNvPr id="7" name="TextBox 6"/>
          <p:cNvSpPr txBox="1"/>
          <p:nvPr/>
        </p:nvSpPr>
        <p:spPr>
          <a:xfrm>
            <a:off x="1322576" y="3077170"/>
            <a:ext cx="1990248" cy="333375"/>
          </a:xfrm>
          <a:prstGeom prst="rect">
            <a:avLst/>
          </a:prstGeom>
          <a:noFill/>
        </p:spPr>
        <p:txBody>
          <a:bodyPr wrap="square" lIns="0" tIns="0" rIns="0" bIns="0" anchor="t">
            <a:spAutoFit/>
          </a:bodyPr>
          <a:lstStyle/>
          <a:p>
            <a:pPr algn="ctr"/>
            <a:r>
              <a:rPr sz="2100" b="1" i="0" u="none">
                <a:solidFill>
                  <a:srgbClr val="F59E0B"/>
                </a:solidFill>
                <a:latin typeface="Outfit"/>
              </a:rPr>
              <a:t>1. Bank Account</a:t>
            </a:r>
          </a:p>
        </p:txBody>
      </p:sp>
      <p:sp>
        <p:nvSpPr>
          <p:cNvPr id="8" name="TextBox 7"/>
          <p:cNvSpPr txBox="1"/>
          <p:nvPr/>
        </p:nvSpPr>
        <p:spPr>
          <a:xfrm>
            <a:off x="866775" y="3553420"/>
            <a:ext cx="2901999" cy="1675804"/>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This holds your raw Cash (Rupees). You transfer money from here into your Trading Account to prepare for a purchase.</a:t>
            </a:r>
          </a:p>
        </p:txBody>
      </p:sp>
      <p:pic>
        <p:nvPicPr>
          <p:cNvPr id="9" name="Picture 8" descr="image.png"/>
          <p:cNvPicPr>
            <a:picLocks noChangeAspect="1"/>
          </p:cNvPicPr>
          <p:nvPr/>
        </p:nvPicPr>
        <p:blipFill>
          <a:blip r:embed="rId7"/>
          <a:stretch>
            <a:fillRect/>
          </a:stretch>
        </p:blipFill>
        <p:spPr>
          <a:xfrm>
            <a:off x="5715000" y="2343150"/>
            <a:ext cx="762000" cy="762000"/>
          </a:xfrm>
          <a:prstGeom prst="rect">
            <a:avLst/>
          </a:prstGeom>
        </p:spPr>
      </p:pic>
      <p:sp>
        <p:nvSpPr>
          <p:cNvPr id="10" name="TextBox 9"/>
          <p:cNvSpPr txBox="1"/>
          <p:nvPr/>
        </p:nvSpPr>
        <p:spPr>
          <a:xfrm>
            <a:off x="4910851" y="3333750"/>
            <a:ext cx="2370296" cy="333375"/>
          </a:xfrm>
          <a:prstGeom prst="rect">
            <a:avLst/>
          </a:prstGeom>
          <a:noFill/>
        </p:spPr>
        <p:txBody>
          <a:bodyPr wrap="square" lIns="0" tIns="0" rIns="0" bIns="0" anchor="t">
            <a:spAutoFit/>
          </a:bodyPr>
          <a:lstStyle/>
          <a:p>
            <a:pPr algn="ctr"/>
            <a:r>
              <a:rPr sz="2100" b="1" i="0" u="none">
                <a:solidFill>
                  <a:srgbClr val="F59E0B"/>
                </a:solidFill>
                <a:latin typeface="Outfit"/>
              </a:rPr>
              <a:t>2. Trading Account</a:t>
            </a:r>
          </a:p>
        </p:txBody>
      </p:sp>
      <p:sp>
        <p:nvSpPr>
          <p:cNvPr id="11" name="TextBox 10"/>
          <p:cNvSpPr txBox="1"/>
          <p:nvPr/>
        </p:nvSpPr>
        <p:spPr>
          <a:xfrm>
            <a:off x="4645074" y="3810000"/>
            <a:ext cx="2901999" cy="1340643"/>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The operational layer. You use this software to select a stock, enter the quantity, and press the Buy or Sell button.</a:t>
            </a:r>
          </a:p>
        </p:txBody>
      </p:sp>
      <p:pic>
        <p:nvPicPr>
          <p:cNvPr id="12" name="Picture 11" descr="image.png"/>
          <p:cNvPicPr>
            <a:picLocks noChangeAspect="1"/>
          </p:cNvPicPr>
          <p:nvPr/>
        </p:nvPicPr>
        <p:blipFill>
          <a:blip r:embed="rId8"/>
          <a:stretch>
            <a:fillRect/>
          </a:stretch>
        </p:blipFill>
        <p:spPr>
          <a:xfrm>
            <a:off x="9493299" y="2343150"/>
            <a:ext cx="762000" cy="505420"/>
          </a:xfrm>
          <a:prstGeom prst="rect">
            <a:avLst/>
          </a:prstGeom>
        </p:spPr>
      </p:pic>
      <p:sp>
        <p:nvSpPr>
          <p:cNvPr id="13" name="TextBox 12"/>
          <p:cNvSpPr txBox="1"/>
          <p:nvPr/>
        </p:nvSpPr>
        <p:spPr>
          <a:xfrm>
            <a:off x="8749158" y="3077170"/>
            <a:ext cx="2250281" cy="333375"/>
          </a:xfrm>
          <a:prstGeom prst="rect">
            <a:avLst/>
          </a:prstGeom>
          <a:noFill/>
        </p:spPr>
        <p:txBody>
          <a:bodyPr wrap="square" lIns="0" tIns="0" rIns="0" bIns="0" anchor="t">
            <a:spAutoFit/>
          </a:bodyPr>
          <a:lstStyle/>
          <a:p>
            <a:pPr algn="ctr"/>
            <a:r>
              <a:rPr sz="2100" b="1" i="0" u="none">
                <a:solidFill>
                  <a:srgbClr val="F59E0B"/>
                </a:solidFill>
                <a:latin typeface="Outfit"/>
              </a:rPr>
              <a:t>3. Demat Account</a:t>
            </a:r>
          </a:p>
        </p:txBody>
      </p:sp>
      <p:sp>
        <p:nvSpPr>
          <p:cNvPr id="14" name="TextBox 13"/>
          <p:cNvSpPr txBox="1"/>
          <p:nvPr/>
        </p:nvSpPr>
        <p:spPr>
          <a:xfrm>
            <a:off x="8423374" y="3553420"/>
            <a:ext cx="2901999" cy="1675804"/>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The final destination. T+1 day after you buy, the digital shares are deposited here. When you sell, shares are pulled from here.</a:t>
            </a:r>
          </a:p>
        </p:txBody>
      </p:sp>
      <p:pic>
        <p:nvPicPr>
          <p:cNvPr id="15" name="Picture 14" descr="image.png"/>
          <p:cNvPicPr>
            <a:picLocks noChangeAspect="1"/>
          </p:cNvPicPr>
          <p:nvPr/>
        </p:nvPicPr>
        <p:blipFill>
          <a:blip r:embed="rId9"/>
          <a:stretch>
            <a:fillRect/>
          </a:stretch>
        </p:blipFill>
        <p:spPr>
          <a:xfrm>
            <a:off x="2146250" y="2424410"/>
            <a:ext cx="342900" cy="342900"/>
          </a:xfrm>
          <a:prstGeom prst="rect">
            <a:avLst/>
          </a:prstGeom>
        </p:spPr>
      </p:pic>
      <p:pic>
        <p:nvPicPr>
          <p:cNvPr id="16" name="Picture 15" descr="image.png"/>
          <p:cNvPicPr>
            <a:picLocks noChangeAspect="1"/>
          </p:cNvPicPr>
          <p:nvPr/>
        </p:nvPicPr>
        <p:blipFill>
          <a:blip r:embed="rId10"/>
          <a:stretch>
            <a:fillRect/>
          </a:stretch>
        </p:blipFill>
        <p:spPr>
          <a:xfrm>
            <a:off x="5967412" y="2552700"/>
            <a:ext cx="257175" cy="342900"/>
          </a:xfrm>
          <a:prstGeom prst="rect">
            <a:avLst/>
          </a:prstGeom>
        </p:spPr>
      </p:pic>
      <p:pic>
        <p:nvPicPr>
          <p:cNvPr id="17" name="Picture 16" descr="image.png"/>
          <p:cNvPicPr>
            <a:picLocks noChangeAspect="1"/>
          </p:cNvPicPr>
          <p:nvPr/>
        </p:nvPicPr>
        <p:blipFill>
          <a:blip r:embed="rId11"/>
          <a:stretch>
            <a:fillRect/>
          </a:stretch>
        </p:blipFill>
        <p:spPr>
          <a:xfrm>
            <a:off x="9679037" y="2424410"/>
            <a:ext cx="390525" cy="342900"/>
          </a:xfrm>
          <a:prstGeom prst="rect">
            <a:avLst/>
          </a:prstGeom>
        </p:spPr>
      </p:pic>
      <p:sp>
        <p:nvSpPr>
          <p:cNvPr id="18" name="TextBox 17"/>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Financial </a:t>
            </a:r>
            <a:r>
              <a:rPr sz="3600" b="1" i="0" u="none">
                <a:solidFill>
                  <a:srgbClr val="F59E0B"/>
                </a:solidFill>
                <a:latin typeface="Outfit"/>
              </a:rPr>
              <a:t>Trinity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71500"/>
          </a:xfrm>
          <a:prstGeom prst="rect">
            <a:avLst/>
          </a:prstGeom>
          <a:noFill/>
        </p:spPr>
        <p:txBody>
          <a:bodyPr wrap="square" lIns="0" tIns="0" rIns="0" bIns="0" anchor="t">
            <a:spAutoFit/>
          </a:bodyPr>
          <a:lstStyle/>
          <a:p>
            <a:pPr algn="l"/>
            <a:r>
              <a:rPr sz="3600" b="1" i="0" u="none">
                <a:solidFill>
                  <a:srgbClr val="F8FAFC"/>
                </a:solidFill>
                <a:latin typeface="Outfit"/>
              </a:rPr>
              <a:t>What is </a:t>
            </a:r>
            <a:r>
              <a:rPr sz="3600" b="1" i="0" u="none">
                <a:solidFill>
                  <a:srgbClr val="F59E0B"/>
                </a:solidFill>
                <a:latin typeface="Outfit"/>
              </a:rPr>
              <a:t>KYC?</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sp>
        <p:nvSpPr>
          <p:cNvPr id="5" name="TextBox 4"/>
          <p:cNvSpPr txBox="1"/>
          <p:nvPr/>
        </p:nvSpPr>
        <p:spPr>
          <a:xfrm>
            <a:off x="571500" y="1944588"/>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KYC stands for </a:t>
            </a:r>
            <a:r>
              <a:rPr sz="1650" b="1" i="0" u="none">
                <a:solidFill>
                  <a:srgbClr val="CBD5E1"/>
                </a:solidFill>
                <a:latin typeface="Inter"/>
              </a:rPr>
              <a:t>Know Your Customer</a:t>
            </a:r>
            <a:r>
              <a:rPr sz="1650" b="0" i="0" u="none">
                <a:solidFill>
                  <a:srgbClr val="CBD5E1"/>
                </a:solidFill>
                <a:latin typeface="Inter"/>
              </a:rPr>
              <a:t>. It is a mandatory, non-negotiable process enforced by SEBI and the RBI.</a:t>
            </a:r>
          </a:p>
        </p:txBody>
      </p:sp>
      <p:sp>
        <p:nvSpPr>
          <p:cNvPr id="6" name="TextBox 5"/>
          <p:cNvSpPr txBox="1"/>
          <p:nvPr/>
        </p:nvSpPr>
        <p:spPr>
          <a:xfrm>
            <a:off x="571500" y="3283446"/>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Before any financial institution lets you open an account, they must verify your identity, your address, and your financial background.</a:t>
            </a:r>
          </a:p>
        </p:txBody>
      </p:sp>
      <p:sp>
        <p:nvSpPr>
          <p:cNvPr id="7" name="TextBox 6"/>
          <p:cNvSpPr txBox="1"/>
          <p:nvPr/>
        </p:nvSpPr>
        <p:spPr>
          <a:xfrm>
            <a:off x="571500" y="4622303"/>
            <a:ext cx="52863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Why?</a:t>
            </a:r>
            <a:r>
              <a:rPr sz="1650" b="0" i="0" u="none">
                <a:solidFill>
                  <a:srgbClr val="CBD5E1"/>
                </a:solidFill>
                <a:latin typeface="Inter"/>
              </a:rPr>
              <a:t> To prevent the stock market from being used for illegal activities, money laundering, funding terrorism, or massive tax evasion.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071562" y="1714500"/>
            <a:ext cx="4286250" cy="4286250"/>
          </a:xfrm>
          <a:prstGeom prst="rect">
            <a:avLst/>
          </a:prstGeom>
        </p:spPr>
      </p:pic>
      <p:sp>
        <p:nvSpPr>
          <p:cNvPr id="4" name="TextBox 3"/>
          <p:cNvSpPr txBox="1"/>
          <p:nvPr/>
        </p:nvSpPr>
        <p:spPr>
          <a:xfrm>
            <a:off x="6334125" y="1538882"/>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Permanent Account Number</a:t>
            </a:r>
          </a:p>
        </p:txBody>
      </p:sp>
      <p:sp>
        <p:nvSpPr>
          <p:cNvPr id="5" name="TextBox 4"/>
          <p:cNvSpPr txBox="1"/>
          <p:nvPr/>
        </p:nvSpPr>
        <p:spPr>
          <a:xfrm>
            <a:off x="6334125" y="2015132"/>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 India, you absolutely cannot invest in the stock market without a PAN Card. It is your unique financial fingerprint.</a:t>
            </a:r>
          </a:p>
        </p:txBody>
      </p:sp>
      <p:sp>
        <p:nvSpPr>
          <p:cNvPr id="6" name="TextBox 5"/>
          <p:cNvSpPr txBox="1"/>
          <p:nvPr/>
        </p:nvSpPr>
        <p:spPr>
          <a:xfrm>
            <a:off x="6334125" y="3353990"/>
            <a:ext cx="5286375"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Every single trade you execute, every dividend you receive, and every capital gain you make is permanently linked to this 10-digit alphanumeric code.</a:t>
            </a:r>
          </a:p>
        </p:txBody>
      </p:sp>
      <p:sp>
        <p:nvSpPr>
          <p:cNvPr id="7" name="TextBox 6"/>
          <p:cNvSpPr txBox="1"/>
          <p:nvPr/>
        </p:nvSpPr>
        <p:spPr>
          <a:xfrm>
            <a:off x="6334125" y="5028009"/>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Income Tax Department uses your PAN to track your market activity and ensure you are paying the correct taxes on your profits.</a:t>
            </a:r>
          </a:p>
        </p:txBody>
      </p:sp>
      <p:pic>
        <p:nvPicPr>
          <p:cNvPr id="8" name="Picture 7" descr="image.png"/>
          <p:cNvPicPr>
            <a:picLocks noChangeAspect="1"/>
          </p:cNvPicPr>
          <p:nvPr/>
        </p:nvPicPr>
        <p:blipFill>
          <a:blip r:embed="rId4"/>
          <a:stretch>
            <a:fillRect/>
          </a:stretch>
        </p:blipFill>
        <p:spPr>
          <a:xfrm>
            <a:off x="1185862" y="1828800"/>
            <a:ext cx="4057650" cy="405765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Role of </a:t>
            </a:r>
            <a:r>
              <a:rPr sz="3600" b="1" i="0" u="none">
                <a:solidFill>
                  <a:srgbClr val="F59E0B"/>
                </a:solidFill>
                <a:latin typeface="Outfit"/>
              </a:rPr>
              <a:t>PAN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47925"/>
            <a:ext cx="5286375" cy="2819400"/>
          </a:xfrm>
          <a:prstGeom prst="rect">
            <a:avLst/>
          </a:prstGeom>
        </p:spPr>
      </p:pic>
      <p:sp>
        <p:nvSpPr>
          <p:cNvPr id="4" name="TextBox 3"/>
          <p:cNvSpPr txBox="1"/>
          <p:nvPr/>
        </p:nvSpPr>
        <p:spPr>
          <a:xfrm>
            <a:off x="962025" y="3028950"/>
            <a:ext cx="4505325" cy="1238250"/>
          </a:xfrm>
          <a:prstGeom prst="rect">
            <a:avLst/>
          </a:prstGeom>
          <a:noFill/>
        </p:spPr>
        <p:txBody>
          <a:bodyPr wrap="square" lIns="0" tIns="0" rIns="0" bIns="0" anchor="t">
            <a:spAutoFit/>
          </a:bodyPr>
          <a:lstStyle/>
          <a:p>
            <a:pPr algn="ctr">
              <a:lnSpc>
                <a:spcPts val="9750"/>
              </a:lnSpc>
              <a:defRPr/>
            </a:pPr>
            <a:r>
              <a:rPr sz="9750" b="1" i="0" u="none">
                <a:solidFill>
                  <a:srgbClr val="10B981"/>
                </a:solidFill>
                <a:latin typeface="Outfit"/>
              </a:rPr>
              <a:t>12</a:t>
            </a:r>
          </a:p>
        </p:txBody>
      </p:sp>
      <p:sp>
        <p:nvSpPr>
          <p:cNvPr id="5" name="TextBox 4"/>
          <p:cNvSpPr txBox="1"/>
          <p:nvPr/>
        </p:nvSpPr>
        <p:spPr>
          <a:xfrm>
            <a:off x="962025" y="4362450"/>
            <a:ext cx="4505325" cy="323850"/>
          </a:xfrm>
          <a:prstGeom prst="rect">
            <a:avLst/>
          </a:prstGeom>
          <a:noFill/>
        </p:spPr>
        <p:txBody>
          <a:bodyPr wrap="square" lIns="0" tIns="0" rIns="0" bIns="0" anchor="t">
            <a:spAutoFit/>
          </a:bodyPr>
          <a:lstStyle/>
          <a:p>
            <a:pPr algn="ctr"/>
            <a:r>
              <a:rPr sz="2100" b="0" i="0" u="none">
                <a:solidFill>
                  <a:srgbClr val="F8FAFC"/>
                </a:solidFill>
                <a:latin typeface="Inter SemiBold"/>
              </a:rPr>
              <a:t>DIGIT UID</a:t>
            </a:r>
          </a:p>
        </p:txBody>
      </p:sp>
      <p:sp>
        <p:nvSpPr>
          <p:cNvPr id="6" name="TextBox 5"/>
          <p:cNvSpPr txBox="1"/>
          <p:nvPr/>
        </p:nvSpPr>
        <p:spPr>
          <a:xfrm>
            <a:off x="6334125" y="1706463"/>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Speed &amp; Digital Verification</a:t>
            </a:r>
          </a:p>
        </p:txBody>
      </p:sp>
      <p:sp>
        <p:nvSpPr>
          <p:cNvPr id="7" name="TextBox 6"/>
          <p:cNvSpPr txBox="1"/>
          <p:nvPr/>
        </p:nvSpPr>
        <p:spPr>
          <a:xfrm>
            <a:off x="6334125" y="2182713"/>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While PAN tracks your money, Aadhaar proves you are actually who you say you are, using biometric data.</a:t>
            </a:r>
          </a:p>
        </p:txBody>
      </p:sp>
      <p:sp>
        <p:nvSpPr>
          <p:cNvPr id="8" name="TextBox 7"/>
          <p:cNvSpPr txBox="1"/>
          <p:nvPr/>
        </p:nvSpPr>
        <p:spPr>
          <a:xfrm>
            <a:off x="6334125" y="3521571"/>
            <a:ext cx="52863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E-Sign Revolution:</a:t>
            </a:r>
            <a:r>
              <a:rPr sz="1650" b="0" i="0" u="none">
                <a:solidFill>
                  <a:srgbClr val="CBD5E1"/>
                </a:solidFill>
                <a:latin typeface="Inter"/>
              </a:rPr>
              <a:t> Previously, opening a Demat account took weeks of signing physical forms. Today, by linking your Aadhaar to your mobile number, you can digitally "e-Sign" documents using an OTP.</a:t>
            </a:r>
          </a:p>
        </p:txBody>
      </p:sp>
      <p:sp>
        <p:nvSpPr>
          <p:cNvPr id="9" name="TextBox 8"/>
          <p:cNvSpPr txBox="1"/>
          <p:nvPr/>
        </p:nvSpPr>
        <p:spPr>
          <a:xfrm>
            <a:off x="6334125" y="5195589"/>
            <a:ext cx="5286375"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This allows your Trading and Demat accounts to be opened and activated in less than 24 hours.</a:t>
            </a:r>
          </a:p>
        </p:txBody>
      </p:sp>
      <p:sp>
        <p:nvSpPr>
          <p:cNvPr id="10" name="TextBox 9"/>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Role of </a:t>
            </a:r>
            <a:r>
              <a:rPr sz="3600" b="1" i="0" u="none">
                <a:solidFill>
                  <a:srgbClr val="F59E0B"/>
                </a:solidFill>
                <a:latin typeface="Outfit"/>
              </a:rPr>
              <a:t>Aadhaar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230784"/>
            <a:ext cx="11049000" cy="5557688"/>
          </a:xfrm>
          <a:prstGeom prst="rect">
            <a:avLst/>
          </a:prstGeom>
        </p:spPr>
      </p:pic>
      <p:pic>
        <p:nvPicPr>
          <p:cNvPr id="4" name="Picture 3" descr="image.png"/>
          <p:cNvPicPr>
            <a:picLocks noChangeAspect="1"/>
          </p:cNvPicPr>
          <p:nvPr/>
        </p:nvPicPr>
        <p:blipFill>
          <a:blip r:embed="rId4"/>
          <a:stretch>
            <a:fillRect/>
          </a:stretch>
        </p:blipFill>
        <p:spPr>
          <a:xfrm>
            <a:off x="1057275" y="1909762"/>
            <a:ext cx="219075" cy="295275"/>
          </a:xfrm>
          <a:prstGeom prst="rect">
            <a:avLst/>
          </a:prstGeom>
        </p:spPr>
      </p:pic>
      <p:sp>
        <p:nvSpPr>
          <p:cNvPr id="5" name="TextBox 4"/>
          <p:cNvSpPr txBox="1"/>
          <p:nvPr/>
        </p:nvSpPr>
        <p:spPr>
          <a:xfrm>
            <a:off x="1724025" y="1914525"/>
            <a:ext cx="9410700" cy="365670"/>
          </a:xfrm>
          <a:prstGeom prst="rect">
            <a:avLst/>
          </a:prstGeom>
          <a:noFill/>
        </p:spPr>
        <p:txBody>
          <a:bodyPr wrap="square" lIns="0" tIns="0" rIns="0" bIns="0" anchor="t">
            <a:spAutoFit/>
          </a:bodyPr>
          <a:lstStyle/>
          <a:p>
            <a:pPr algn="l">
              <a:lnSpc>
                <a:spcPts val="2879"/>
              </a:lnSpc>
            </a:pPr>
            <a:r>
              <a:rPr sz="1800" b="1" i="0" u="none">
                <a:solidFill>
                  <a:srgbClr val="F8FAFC"/>
                </a:solidFill>
                <a:latin typeface="Outfit"/>
              </a:rPr>
              <a:t>Account Opening &amp; AMC</a:t>
            </a:r>
          </a:p>
        </p:txBody>
      </p:sp>
      <p:sp>
        <p:nvSpPr>
          <p:cNvPr id="6" name="TextBox 5"/>
          <p:cNvSpPr txBox="1"/>
          <p:nvPr/>
        </p:nvSpPr>
        <p:spPr>
          <a:xfrm>
            <a:off x="1724025" y="2327820"/>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Many discount brokers open accounts for free, but almost all charge an Annual Maintenance Charge (AMC) of around ₹300-₹500 per year just to keep your Demat active.</a:t>
            </a:r>
          </a:p>
        </p:txBody>
      </p:sp>
      <p:pic>
        <p:nvPicPr>
          <p:cNvPr id="7" name="Picture 6" descr="image.png"/>
          <p:cNvPicPr>
            <a:picLocks noChangeAspect="1"/>
          </p:cNvPicPr>
          <p:nvPr/>
        </p:nvPicPr>
        <p:blipFill>
          <a:blip r:embed="rId5"/>
          <a:stretch>
            <a:fillRect/>
          </a:stretch>
        </p:blipFill>
        <p:spPr>
          <a:xfrm>
            <a:off x="1057275" y="3422005"/>
            <a:ext cx="219075" cy="295275"/>
          </a:xfrm>
          <a:prstGeom prst="rect">
            <a:avLst/>
          </a:prstGeom>
        </p:spPr>
      </p:pic>
      <p:sp>
        <p:nvSpPr>
          <p:cNvPr id="8" name="TextBox 7"/>
          <p:cNvSpPr txBox="1"/>
          <p:nvPr/>
        </p:nvSpPr>
        <p:spPr>
          <a:xfrm>
            <a:off x="1724025" y="3426767"/>
            <a:ext cx="9410700" cy="365670"/>
          </a:xfrm>
          <a:prstGeom prst="rect">
            <a:avLst/>
          </a:prstGeom>
          <a:noFill/>
        </p:spPr>
        <p:txBody>
          <a:bodyPr wrap="square" lIns="0" tIns="0" rIns="0" bIns="0" anchor="t">
            <a:spAutoFit/>
          </a:bodyPr>
          <a:lstStyle/>
          <a:p>
            <a:pPr algn="l">
              <a:lnSpc>
                <a:spcPts val="2879"/>
              </a:lnSpc>
            </a:pPr>
            <a:r>
              <a:rPr sz="1800" b="1" i="0" u="none">
                <a:solidFill>
                  <a:srgbClr val="F8FAFC"/>
                </a:solidFill>
                <a:latin typeface="Outfit"/>
              </a:rPr>
              <a:t>Brokerage Fees</a:t>
            </a:r>
          </a:p>
        </p:txBody>
      </p:sp>
      <p:sp>
        <p:nvSpPr>
          <p:cNvPr id="9" name="TextBox 8"/>
          <p:cNvSpPr txBox="1"/>
          <p:nvPr/>
        </p:nvSpPr>
        <p:spPr>
          <a:xfrm>
            <a:off x="1724025" y="3840063"/>
            <a:ext cx="941070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fee the broker charges for executing your trade. In discount brokers, Equity Delivery (long term) is usually free, but Intraday (buying/selling same day) costs roughly ₹20 per executed order.</a:t>
            </a:r>
          </a:p>
        </p:txBody>
      </p:sp>
      <p:pic>
        <p:nvPicPr>
          <p:cNvPr id="10" name="Picture 9" descr="image.png"/>
          <p:cNvPicPr>
            <a:picLocks noChangeAspect="1"/>
          </p:cNvPicPr>
          <p:nvPr/>
        </p:nvPicPr>
        <p:blipFill>
          <a:blip r:embed="rId6"/>
          <a:stretch>
            <a:fillRect/>
          </a:stretch>
        </p:blipFill>
        <p:spPr>
          <a:xfrm>
            <a:off x="1057275" y="5269408"/>
            <a:ext cx="285750" cy="295275"/>
          </a:xfrm>
          <a:prstGeom prst="rect">
            <a:avLst/>
          </a:prstGeom>
        </p:spPr>
      </p:pic>
      <p:sp>
        <p:nvSpPr>
          <p:cNvPr id="11" name="TextBox 10"/>
          <p:cNvSpPr txBox="1"/>
          <p:nvPr/>
        </p:nvSpPr>
        <p:spPr>
          <a:xfrm>
            <a:off x="1724025" y="5274171"/>
            <a:ext cx="9410700" cy="365670"/>
          </a:xfrm>
          <a:prstGeom prst="rect">
            <a:avLst/>
          </a:prstGeom>
          <a:noFill/>
        </p:spPr>
        <p:txBody>
          <a:bodyPr wrap="square" lIns="0" tIns="0" rIns="0" bIns="0" anchor="t">
            <a:spAutoFit/>
          </a:bodyPr>
          <a:lstStyle/>
          <a:p>
            <a:pPr algn="l">
              <a:lnSpc>
                <a:spcPts val="2879"/>
              </a:lnSpc>
            </a:pPr>
            <a:r>
              <a:rPr sz="1800" b="1" i="0" u="none">
                <a:solidFill>
                  <a:srgbClr val="F8FAFC"/>
                </a:solidFill>
                <a:latin typeface="Outfit"/>
              </a:rPr>
              <a:t>Government Taxes (STT, GST)</a:t>
            </a:r>
          </a:p>
        </p:txBody>
      </p:sp>
      <p:sp>
        <p:nvSpPr>
          <p:cNvPr id="12" name="TextBox 11"/>
          <p:cNvSpPr txBox="1"/>
          <p:nvPr/>
        </p:nvSpPr>
        <p:spPr>
          <a:xfrm>
            <a:off x="1724025" y="5687466"/>
            <a:ext cx="9410700" cy="670321"/>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You must pay a Securities Transaction Tax (STT) to the government on every trade, plus 18% GST on the brokerage charges, and small exchange turnover fees.</a:t>
            </a:r>
          </a:p>
        </p:txBody>
      </p:sp>
      <p:sp>
        <p:nvSpPr>
          <p:cNvPr id="13" name="TextBox 12"/>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Brokerage &amp; </a:t>
            </a:r>
            <a:r>
              <a:rPr sz="3600" b="1" i="0" u="none">
                <a:solidFill>
                  <a:srgbClr val="F59E0B"/>
                </a:solidFill>
                <a:latin typeface="Outfit"/>
              </a:rPr>
              <a:t>Charges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213496"/>
            <a:ext cx="11049000" cy="523875"/>
          </a:xfrm>
          <a:prstGeom prst="rect">
            <a:avLst/>
          </a:prstGeom>
        </p:spPr>
      </p:pic>
      <p:sp>
        <p:nvSpPr>
          <p:cNvPr id="4" name="TextBox 3"/>
          <p:cNvSpPr txBox="1"/>
          <p:nvPr/>
        </p:nvSpPr>
        <p:spPr>
          <a:xfrm>
            <a:off x="295275" y="571500"/>
            <a:ext cx="11601450" cy="962025"/>
          </a:xfrm>
          <a:prstGeom prst="rect">
            <a:avLst/>
          </a:prstGeom>
          <a:noFill/>
        </p:spPr>
        <p:txBody>
          <a:bodyPr wrap="square" lIns="0" tIns="0" rIns="0" bIns="0" anchor="t">
            <a:spAutoFit/>
          </a:bodyPr>
          <a:lstStyle/>
          <a:p>
            <a:pPr algn="ctr"/>
            <a:r>
              <a:rPr sz="6000" b="1" i="0" u="none">
                <a:solidFill>
                  <a:srgbClr val="10B981"/>
                </a:solidFill>
                <a:latin typeface="Outfit"/>
              </a:rPr>
              <a:t>Great Job on Day 6!</a:t>
            </a:r>
          </a:p>
        </p:txBody>
      </p:sp>
      <p:sp>
        <p:nvSpPr>
          <p:cNvPr id="5" name="TextBox 4"/>
          <p:cNvSpPr txBox="1"/>
          <p:nvPr/>
        </p:nvSpPr>
        <p:spPr>
          <a:xfrm>
            <a:off x="571500" y="1724025"/>
            <a:ext cx="11049000" cy="446725"/>
          </a:xfrm>
          <a:prstGeom prst="rect">
            <a:avLst/>
          </a:prstGeom>
          <a:noFill/>
        </p:spPr>
        <p:txBody>
          <a:bodyPr wrap="square" lIns="0" tIns="0" rIns="0" bIns="0" anchor="t">
            <a:spAutoFit/>
          </a:bodyPr>
          <a:lstStyle/>
          <a:p>
            <a:pPr algn="ctr">
              <a:lnSpc>
                <a:spcPts val="3840"/>
              </a:lnSpc>
            </a:pPr>
            <a:r>
              <a:rPr sz="2400" b="0" i="0" u="none" dirty="0">
                <a:solidFill>
                  <a:srgbClr val="F8FAFC"/>
                </a:solidFill>
                <a:latin typeface="Inter"/>
              </a:rPr>
              <a:t>Tomorrow: </a:t>
            </a:r>
            <a:r>
              <a:rPr lang="en-IN" sz="2400" b="0" i="0" u="none" dirty="0">
                <a:solidFill>
                  <a:srgbClr val="F8FAFC"/>
                </a:solidFill>
                <a:latin typeface="Inter"/>
              </a:rPr>
              <a:t>Stock Market Indices</a:t>
            </a:r>
            <a:r>
              <a:rPr sz="2400" b="0" i="0" u="none" dirty="0">
                <a:solidFill>
                  <a:srgbClr val="F8FAFC"/>
                </a:solidFill>
                <a:latin typeface="Inter"/>
              </a:rPr>
              <a:t>.</a:t>
            </a:r>
          </a:p>
        </p:txBody>
      </p:sp>
      <p:sp>
        <p:nvSpPr>
          <p:cNvPr id="6" name="TextBox 5"/>
          <p:cNvSpPr txBox="1"/>
          <p:nvPr/>
        </p:nvSpPr>
        <p:spPr>
          <a:xfrm>
            <a:off x="571500" y="2402085"/>
            <a:ext cx="11049000" cy="335160"/>
          </a:xfrm>
          <a:prstGeom prst="rect">
            <a:avLst/>
          </a:prstGeom>
          <a:noFill/>
        </p:spPr>
        <p:txBody>
          <a:bodyPr wrap="square" lIns="0" tIns="0" rIns="0" bIns="0" anchor="t">
            <a:spAutoFit/>
          </a:bodyPr>
          <a:lstStyle/>
          <a:p>
            <a:pPr algn="ctr">
              <a:lnSpc>
                <a:spcPts val="2640"/>
              </a:lnSpc>
            </a:pPr>
            <a:r>
              <a:rPr sz="1650" b="0" i="0" u="none">
                <a:solidFill>
                  <a:srgbClr val="10B981"/>
                </a:solidFill>
                <a:latin typeface="Inter"/>
              </a:rPr>
              <a:t>Don't forget to Like, Share, and Subscribe!</a:t>
            </a:r>
          </a:p>
        </p:txBody>
      </p:sp>
      <p:sp>
        <p:nvSpPr>
          <p:cNvPr id="11" name="TextBox 10">
            <a:extLst>
              <a:ext uri="{FF2B5EF4-FFF2-40B4-BE49-F238E27FC236}">
                <a16:creationId xmlns:a16="http://schemas.microsoft.com/office/drawing/2014/main" id="{40736427-3E4A-CD61-85A2-485AAB931BC8}"/>
              </a:ext>
            </a:extLst>
          </p:cNvPr>
          <p:cNvSpPr txBox="1"/>
          <p:nvPr/>
        </p:nvSpPr>
        <p:spPr>
          <a:xfrm>
            <a:off x="5053012" y="3508771"/>
            <a:ext cx="2085975" cy="228600"/>
          </a:xfrm>
          <a:prstGeom prst="rect">
            <a:avLst/>
          </a:prstGeom>
          <a:noFill/>
        </p:spPr>
        <p:txBody>
          <a:bodyPr wrap="square" lIns="0" tIns="0" rIns="0" bIns="0" anchor="ctr">
            <a:spAutoFit/>
          </a:bodyPr>
          <a:lstStyle/>
          <a:p>
            <a:pPr algn="ctr"/>
            <a:r>
              <a:rPr sz="1500" b="0" i="0" u="none" dirty="0">
                <a:solidFill>
                  <a:srgbClr val="94A3B8"/>
                </a:solidFill>
                <a:latin typeface="Inter"/>
              </a:rPr>
              <a:t> /</a:t>
            </a:r>
            <a:r>
              <a:rPr lang="en-IN" sz="1500" dirty="0">
                <a:solidFill>
                  <a:srgbClr val="94A3B8"/>
                </a:solidFill>
                <a:latin typeface="Inter"/>
              </a:rPr>
              <a:t> @EarnJoyOfficial</a:t>
            </a:r>
            <a:endParaRPr sz="1500" b="0" i="0" u="none" dirty="0">
              <a:solidFill>
                <a:srgbClr val="94A3B8"/>
              </a:solidFill>
              <a:latin typeface="Inter"/>
            </a:endParaRPr>
          </a:p>
        </p:txBody>
      </p:sp>
      <p:pic>
        <p:nvPicPr>
          <p:cNvPr id="12" name="Picture 11" descr="image.png">
            <a:extLst>
              <a:ext uri="{FF2B5EF4-FFF2-40B4-BE49-F238E27FC236}">
                <a16:creationId xmlns:a16="http://schemas.microsoft.com/office/drawing/2014/main" id="{19BF428F-AF13-A65A-BA72-1C19EE59BCF4}"/>
              </a:ext>
            </a:extLst>
          </p:cNvPr>
          <p:cNvPicPr>
            <a:picLocks noChangeAspect="1"/>
          </p:cNvPicPr>
          <p:nvPr/>
        </p:nvPicPr>
        <p:blipFill>
          <a:blip r:embed="rId4"/>
          <a:stretch>
            <a:fillRect/>
          </a:stretch>
        </p:blipFill>
        <p:spPr>
          <a:xfrm>
            <a:off x="5053012" y="3527821"/>
            <a:ext cx="219075" cy="190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722</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Inter</vt:lpstr>
      <vt:lpstr>Inter Medium</vt:lpstr>
      <vt:lpstr>Inter SemiBold</vt:lpstr>
      <vt:lpstr>Outfit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Somtirtha Das</cp:lastModifiedBy>
  <cp:revision>4</cp:revision>
  <dcterms:created xsi:type="dcterms:W3CDTF">2013-01-27T09:14:16Z</dcterms:created>
  <dcterms:modified xsi:type="dcterms:W3CDTF">2026-08-18T04:39:34Z</dcterms:modified>
  <cp:category/>
</cp:coreProperties>
</file>