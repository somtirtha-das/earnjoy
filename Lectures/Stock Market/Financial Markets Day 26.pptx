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812" y="2160389"/>
            <a:ext cx="2238375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5541" y="2817614"/>
            <a:ext cx="7340917" cy="754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Mastering </a:t>
            </a:r>
            <a:r>
              <a:rPr b="1" sz="5400" i="0" u="none">
                <a:solidFill>
                  <a:srgbClr val="10B981"/>
                </a:solidFill>
                <a:latin typeface="Outfit"/>
              </a:rPr>
              <a:t>Derivatives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762375"/>
            <a:ext cx="9144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Inter Medium"/>
              </a:rPr>
              <a:t>The advanced arena: Futures, Options, Leverage, Margins, and Professional Hedging.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737" y="226040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504652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Futures Contract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is a legally binding agreement to buy or sell an asset at a predetermined price on a specific future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43510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Standardization: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Traded on recognized exchanges with fixed quantities and expiration 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77592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No Ownership Yet: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Unlike equity investing, you do not own the underlying company; you own a contract tracking its future price.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11675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High Leverage: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Controlled via a fraction of the total contract value using margin deposits.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971675"/>
            <a:ext cx="5248275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Binding Agreement: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Futures Contracts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6256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9664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3072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883568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Right Without Obligation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359818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An Option gives the buyer the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right, but not the obligation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, to buy (Call) or sell (Put) an underlying asset at a set strike price.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28800"/>
            <a:ext cx="4057650" cy="405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7025" y="3698676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Asymmetric Risk: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Buyers risk only the premium paid, while profit potential can be massive.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4597598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Call vs. Put: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Calls bet on rising prices; Puts bet on falling markets or provide portfolio downside insurance.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Power of Choice: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Options Contracts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717726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616648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Minimum Unit:</a:t>
            </a:r>
            <a:r>
              <a:t>
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Lot Size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781675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30338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In the derivatives market, you cannot buy just 1 single share of a stock like Reliance or TCS. You must trade in fixed batches called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Lot Sizes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569196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Exchange Defined: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The stock exchange determines how many shares make up one lot (e.g., 25, 50, or 250 shares depending on the stock).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908053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Multiplier Effect: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If a lot size is 50 shares and the stock moves by ₹10, your total profit or loss multiplies instantly by 50!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5367"/>
            <a:ext cx="5334000" cy="37445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85367"/>
            <a:ext cx="5334000" cy="37445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3829050"/>
            <a:ext cx="53149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375892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Initial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852142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To enter a derivatives contract, you do not pay the full value. You deposit a fraction called the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Initial Margin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(typically 10-20%).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191000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This provides powerful leverage, but it also means losses can exceed your initial capital if the market moves aggressively against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829050"/>
            <a:ext cx="53149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7025" y="2375892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Outfit"/>
              </a:rPr>
              <a:t>Mark-to-Market (MTM)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852142"/>
            <a:ext cx="4552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Derivatives accounts are settled at the end of every single trading 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855839"/>
            <a:ext cx="45529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If your trade loses money today, cash is immediately debited from your account. If your balance drops below the maintenance requirement, you face a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Margin Call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Collateral Deposit: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Margin &amp; Leverage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4303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Originally invented for farmers to protect against fluctuating crop prices,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Hedging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is the art of using derivatives as financial insurance.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67607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Risk Mitigation: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If you hold a large portfolio of stocks and fear a market crash, buying Index Put options can protect your wealth.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01690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Institutional Strategy: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Global funds hedge currency risk, interest rate risk, and commodity price swings daily.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5773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Trading vs. Speculation: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Hedging separates professional risk managers from reckless gamblers.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63353"/>
            <a:ext cx="5248275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Ultimate Insurance: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Hedging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665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2074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54823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0B981"/>
                </a:solidFill>
                <a:latin typeface="Outfit"/>
              </a:rPr>
              <a:t>Great Job on Day 26!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Inter"/>
              </a:rPr>
              <a:t>You have completed Day 26 - Introduction to Derivatives.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0B981"/>
                </a:solidFill>
                <a:latin typeface="Inter"/>
              </a:rPr>
              <a:t>Stay disciplined, master your risk, and trade wisely!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487" y="3508771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/YourFinanceProfessor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4162" y="3508771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@FinanceProf_Official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3527821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3527821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90038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68515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46992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254698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6756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6756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2451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2451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50299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50299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9809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204326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http://googleusercontent.com/image_collection/image_retrieval/10596607337444992123_0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28897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3458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282803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http://googleusercontent.com/image_collection/image_retrieval/9567143621603517633_0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307374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19351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361280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http://googleusercontent.com/image_collection/image_retrieval/10215523849645742433_0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85851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04121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439757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http://googleusercontent.com/image_collection/image_retrieval/6870999414819959977_0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464328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188892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5182344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http://googleusercontent.com/image_collection/image_retrieval/460542420865402945_0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5428059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094755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77616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406047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0509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0509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48357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8357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43298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66875" y="2237630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https://static.vecteezy.com/system/resources/thumbnails/082/472/596/small_2x/abstract-blue-particle-wave-landscape-with-glowing-dots-futuristic-digital-data-flow-smooth-technology-background-cinematic-depth-of-field-4k-60-fps-hud-loop-video.jpg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268143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26159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3220491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https://static.vecteezy.com/system/resources/thumbnails/047/159/737/small/abstract-glowing-wave-from-particles-and-dots-moves-on-a-blue-background-big-data-visualization-futuristic-and-digital-background-3d-4k-seamless-loop-video.jpg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366429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09901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75" y="420335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https://lookaside.fbsbx.com/lookaside/crawler/media/?media_id=1584897383426520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444906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94671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66875" y="498812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https://lookaside.fbsbx.com/lookaside/crawler/media/?media_id=1541748930652677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523383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