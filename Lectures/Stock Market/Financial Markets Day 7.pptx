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592"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038725" y="1981348"/>
            <a:ext cx="2114550" cy="371475"/>
          </a:xfrm>
          <a:prstGeom prst="rect">
            <a:avLst/>
          </a:prstGeom>
        </p:spPr>
      </p:pic>
      <p:sp>
        <p:nvSpPr>
          <p:cNvPr id="4" name="TextBox 3"/>
          <p:cNvSpPr txBox="1"/>
          <p:nvPr/>
        </p:nvSpPr>
        <p:spPr>
          <a:xfrm>
            <a:off x="3895725" y="2638573"/>
            <a:ext cx="4400550" cy="1508521"/>
          </a:xfrm>
          <a:prstGeom prst="rect">
            <a:avLst/>
          </a:prstGeom>
          <a:noFill/>
        </p:spPr>
        <p:txBody>
          <a:bodyPr wrap="square" lIns="0" tIns="0" rIns="0" bIns="0" anchor="t">
            <a:spAutoFit/>
          </a:bodyPr>
          <a:lstStyle/>
          <a:p>
            <a:pPr algn="ctr">
              <a:lnSpc>
                <a:spcPts val="5940"/>
              </a:lnSpc>
            </a:pPr>
            <a:r>
              <a:rPr sz="5400" b="1" i="0" u="none">
                <a:solidFill>
                  <a:srgbClr val="F8FAFC"/>
                </a:solidFill>
                <a:latin typeface="Outfit"/>
              </a:rPr>
              <a:t>Stock Market</a:t>
            </a:r>
            <a:r>
              <a:t>
</a:t>
            </a:r>
            <a:r>
              <a:rPr sz="5400" b="1" i="0" u="none">
                <a:solidFill>
                  <a:srgbClr val="10B981"/>
                </a:solidFill>
                <a:latin typeface="Outfit"/>
              </a:rPr>
              <a:t>Indices</a:t>
            </a:r>
          </a:p>
        </p:txBody>
      </p:sp>
      <p:sp>
        <p:nvSpPr>
          <p:cNvPr id="5" name="TextBox 4"/>
          <p:cNvSpPr txBox="1"/>
          <p:nvPr/>
        </p:nvSpPr>
        <p:spPr>
          <a:xfrm>
            <a:off x="2157412" y="4337595"/>
            <a:ext cx="7877175" cy="396180"/>
          </a:xfrm>
          <a:prstGeom prst="rect">
            <a:avLst/>
          </a:prstGeom>
          <a:noFill/>
        </p:spPr>
        <p:txBody>
          <a:bodyPr wrap="square" lIns="0" tIns="0" rIns="0" bIns="0" anchor="t">
            <a:spAutoFit/>
          </a:bodyPr>
          <a:lstStyle/>
          <a:p>
            <a:pPr algn="ctr">
              <a:lnSpc>
                <a:spcPts val="3120"/>
              </a:lnSpc>
            </a:pPr>
            <a:r>
              <a:rPr sz="1950" b="0" i="0" u="none">
                <a:solidFill>
                  <a:srgbClr val="94A3B8"/>
                </a:solidFill>
                <a:latin typeface="Inter Medium"/>
              </a:rPr>
              <a:t>Measuring the Pulse of the Economy and Tracking Market Trends.</a:t>
            </a:r>
          </a:p>
        </p:txBody>
      </p:sp>
      <p:pic>
        <p:nvPicPr>
          <p:cNvPr id="6" name="Picture 5" descr="image.png"/>
          <p:cNvPicPr>
            <a:picLocks noChangeAspect="1"/>
          </p:cNvPicPr>
          <p:nvPr/>
        </p:nvPicPr>
        <p:blipFill>
          <a:blip r:embed="rId4"/>
          <a:stretch>
            <a:fillRect/>
          </a:stretch>
        </p:blipFill>
        <p:spPr>
          <a:xfrm>
            <a:off x="5106380" y="2081361"/>
            <a:ext cx="190500" cy="1714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6334125" y="2211883"/>
            <a:ext cx="5286375" cy="3810000"/>
          </a:xfrm>
          <a:prstGeom prst="rect">
            <a:avLst/>
          </a:prstGeom>
        </p:spPr>
      </p:pic>
      <p:sp>
        <p:nvSpPr>
          <p:cNvPr id="4" name="TextBox 3"/>
          <p:cNvSpPr txBox="1"/>
          <p:nvPr/>
        </p:nvSpPr>
        <p:spPr>
          <a:xfrm>
            <a:off x="571500" y="1428750"/>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 term SENSEX is a blend of two words: </a:t>
            </a:r>
            <a:r>
              <a:rPr sz="1650" b="1" i="0" u="none">
                <a:solidFill>
                  <a:srgbClr val="CBD5E1"/>
                </a:solidFill>
                <a:latin typeface="Inter"/>
              </a:rPr>
              <a:t>Sensitivity</a:t>
            </a:r>
            <a:r>
              <a:rPr sz="1650" b="0" i="0" u="none">
                <a:solidFill>
                  <a:srgbClr val="CBD5E1"/>
                </a:solidFill>
                <a:latin typeface="Inter"/>
              </a:rPr>
              <a:t> and </a:t>
            </a:r>
            <a:r>
              <a:rPr sz="1650" b="1" i="0" u="none">
                <a:solidFill>
                  <a:srgbClr val="CBD5E1"/>
                </a:solidFill>
                <a:latin typeface="Inter"/>
              </a:rPr>
              <a:t>Index</a:t>
            </a:r>
            <a:r>
              <a:rPr sz="1650" b="0" i="0" u="none">
                <a:solidFill>
                  <a:srgbClr val="CBD5E1"/>
                </a:solidFill>
                <a:latin typeface="Inter"/>
              </a:rPr>
              <a:t>. It was coined by market analyst Deepak Mohoni in 1989.</a:t>
            </a:r>
          </a:p>
        </p:txBody>
      </p:sp>
      <p:sp>
        <p:nvSpPr>
          <p:cNvPr id="5" name="TextBox 4"/>
          <p:cNvSpPr txBox="1"/>
          <p:nvPr/>
        </p:nvSpPr>
        <p:spPr>
          <a:xfrm>
            <a:off x="914400" y="2767607"/>
            <a:ext cx="49434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Barometer:</a:t>
            </a:r>
            <a:r>
              <a:rPr sz="1650" b="0" i="0" u="none">
                <a:solidFill>
                  <a:srgbClr val="CBD5E1"/>
                </a:solidFill>
                <a:latin typeface="Inter"/>
              </a:rPr>
              <a:t> It tracks the performance of the 30 largest, most actively traded, and financially sound companies listed on the Bombay Stock Exchange (BSE).</a:t>
            </a:r>
          </a:p>
        </p:txBody>
      </p:sp>
      <p:sp>
        <p:nvSpPr>
          <p:cNvPr id="6" name="TextBox 5"/>
          <p:cNvSpPr txBox="1"/>
          <p:nvPr/>
        </p:nvSpPr>
        <p:spPr>
          <a:xfrm>
            <a:off x="914400" y="4336851"/>
            <a:ext cx="49434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Free-Float Market Cap:</a:t>
            </a:r>
            <a:r>
              <a:rPr sz="1650" b="0" i="0" u="none">
                <a:solidFill>
                  <a:srgbClr val="CBD5E1"/>
                </a:solidFill>
                <a:latin typeface="Inter"/>
              </a:rPr>
              <a:t> The index is calculated using a free-float market capitalization methodology, meaning it only counts shares available for public trading.</a:t>
            </a:r>
          </a:p>
        </p:txBody>
      </p:sp>
      <p:sp>
        <p:nvSpPr>
          <p:cNvPr id="7" name="TextBox 6"/>
          <p:cNvSpPr txBox="1"/>
          <p:nvPr/>
        </p:nvSpPr>
        <p:spPr>
          <a:xfrm>
            <a:off x="914400" y="5906095"/>
            <a:ext cx="4943475" cy="670321"/>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Historical Baseline:</a:t>
            </a:r>
            <a:r>
              <a:rPr sz="1650" b="0" i="0" u="none">
                <a:solidFill>
                  <a:srgbClr val="CBD5E1"/>
                </a:solidFill>
                <a:latin typeface="Inter"/>
              </a:rPr>
              <a:t> It uses 1978-79 as its base year, with an initial base value of just 100 points!</a:t>
            </a:r>
          </a:p>
        </p:txBody>
      </p:sp>
      <p:pic>
        <p:nvPicPr>
          <p:cNvPr id="8" name="Picture 7" descr="image.png"/>
          <p:cNvPicPr>
            <a:picLocks noChangeAspect="1"/>
          </p:cNvPicPr>
          <p:nvPr/>
        </p:nvPicPr>
        <p:blipFill>
          <a:blip r:embed="rId4"/>
          <a:stretch>
            <a:fillRect/>
          </a:stretch>
        </p:blipFill>
        <p:spPr>
          <a:xfrm>
            <a:off x="6353175" y="2230933"/>
            <a:ext cx="5248275" cy="377190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BSE </a:t>
            </a:r>
            <a:r>
              <a:rPr sz="3600" b="1" i="0" u="none">
                <a:solidFill>
                  <a:srgbClr val="F59E0B"/>
                </a:solidFill>
                <a:latin typeface="Outfit"/>
              </a:rPr>
              <a:t>SENSEX</a:t>
            </a:r>
          </a:p>
        </p:txBody>
      </p:sp>
      <p:pic>
        <p:nvPicPr>
          <p:cNvPr id="10" name="Picture 9" descr="image.png"/>
          <p:cNvPicPr>
            <a:picLocks noChangeAspect="1"/>
          </p:cNvPicPr>
          <p:nvPr/>
        </p:nvPicPr>
        <p:blipFill>
          <a:blip r:embed="rId5"/>
          <a:stretch>
            <a:fillRect/>
          </a:stretch>
        </p:blipFill>
        <p:spPr>
          <a:xfrm>
            <a:off x="571500" y="2786657"/>
            <a:ext cx="190500" cy="200025"/>
          </a:xfrm>
          <a:prstGeom prst="rect">
            <a:avLst/>
          </a:prstGeom>
        </p:spPr>
      </p:pic>
      <p:pic>
        <p:nvPicPr>
          <p:cNvPr id="11" name="Picture 10" descr="image.png"/>
          <p:cNvPicPr>
            <a:picLocks noChangeAspect="1"/>
          </p:cNvPicPr>
          <p:nvPr/>
        </p:nvPicPr>
        <p:blipFill>
          <a:blip r:embed="rId5"/>
          <a:stretch>
            <a:fillRect/>
          </a:stretch>
        </p:blipFill>
        <p:spPr>
          <a:xfrm>
            <a:off x="571500" y="4355901"/>
            <a:ext cx="190500" cy="200025"/>
          </a:xfrm>
          <a:prstGeom prst="rect">
            <a:avLst/>
          </a:prstGeom>
        </p:spPr>
      </p:pic>
      <p:pic>
        <p:nvPicPr>
          <p:cNvPr id="12" name="Picture 11" descr="image.png"/>
          <p:cNvPicPr>
            <a:picLocks noChangeAspect="1"/>
          </p:cNvPicPr>
          <p:nvPr/>
        </p:nvPicPr>
        <p:blipFill>
          <a:blip r:embed="rId5"/>
          <a:stretch>
            <a:fillRect/>
          </a:stretch>
        </p:blipFill>
        <p:spPr>
          <a:xfrm>
            <a:off x="571500" y="5925145"/>
            <a:ext cx="190500" cy="200025"/>
          </a:xfrm>
          <a:prstGeom prst="rect">
            <a:avLst/>
          </a:prstGeom>
        </p:spPr>
      </p:pic>
      <p:pic>
        <p:nvPicPr>
          <p:cNvPr id="1026" name="Picture 2" descr="Bombay Stock Exchange - Wikipedia">
            <a:extLst>
              <a:ext uri="{FF2B5EF4-FFF2-40B4-BE49-F238E27FC236}">
                <a16:creationId xmlns:a16="http://schemas.microsoft.com/office/drawing/2014/main" id="{011C4D3E-C39F-E5CD-9C06-78EC9545CAC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3175" y="2230933"/>
            <a:ext cx="5248275" cy="3790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2505372"/>
            <a:ext cx="5286375" cy="2819400"/>
          </a:xfrm>
          <a:prstGeom prst="rect">
            <a:avLst/>
          </a:prstGeom>
        </p:spPr>
      </p:pic>
      <p:sp>
        <p:nvSpPr>
          <p:cNvPr id="4" name="TextBox 3"/>
          <p:cNvSpPr txBox="1"/>
          <p:nvPr/>
        </p:nvSpPr>
        <p:spPr>
          <a:xfrm>
            <a:off x="962025" y="3086397"/>
            <a:ext cx="4505325" cy="1238250"/>
          </a:xfrm>
          <a:prstGeom prst="rect">
            <a:avLst/>
          </a:prstGeom>
          <a:noFill/>
        </p:spPr>
        <p:txBody>
          <a:bodyPr wrap="square" lIns="0" tIns="0" rIns="0" bIns="0" anchor="t">
            <a:spAutoFit/>
          </a:bodyPr>
          <a:lstStyle/>
          <a:p>
            <a:pPr algn="ctr">
              <a:lnSpc>
                <a:spcPts val="9750"/>
              </a:lnSpc>
              <a:defRPr/>
            </a:pPr>
            <a:r>
              <a:rPr sz="9750" b="1" i="0" u="none">
                <a:solidFill>
                  <a:srgbClr val="10B981"/>
                </a:solidFill>
                <a:latin typeface="Outfit"/>
              </a:rPr>
              <a:t>50</a:t>
            </a:r>
          </a:p>
        </p:txBody>
      </p:sp>
      <p:sp>
        <p:nvSpPr>
          <p:cNvPr id="5" name="TextBox 4"/>
          <p:cNvSpPr txBox="1"/>
          <p:nvPr/>
        </p:nvSpPr>
        <p:spPr>
          <a:xfrm>
            <a:off x="962025" y="4419897"/>
            <a:ext cx="4505325" cy="323850"/>
          </a:xfrm>
          <a:prstGeom prst="rect">
            <a:avLst/>
          </a:prstGeom>
          <a:noFill/>
        </p:spPr>
        <p:txBody>
          <a:bodyPr wrap="square" lIns="0" tIns="0" rIns="0" bIns="0" anchor="t">
            <a:spAutoFit/>
          </a:bodyPr>
          <a:lstStyle/>
          <a:p>
            <a:pPr algn="ctr"/>
            <a:r>
              <a:rPr sz="2100" b="0" i="0" u="none">
                <a:solidFill>
                  <a:srgbClr val="F8FAFC"/>
                </a:solidFill>
                <a:latin typeface="Inter SemiBold"/>
              </a:rPr>
              <a:t>BLUE-CHIP STOCKS</a:t>
            </a:r>
          </a:p>
        </p:txBody>
      </p:sp>
      <p:sp>
        <p:nvSpPr>
          <p:cNvPr id="6" name="TextBox 5"/>
          <p:cNvSpPr txBox="1"/>
          <p:nvPr/>
        </p:nvSpPr>
        <p:spPr>
          <a:xfrm>
            <a:off x="6334125" y="1428750"/>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The Modern Benchmark</a:t>
            </a:r>
          </a:p>
        </p:txBody>
      </p:sp>
      <p:sp>
        <p:nvSpPr>
          <p:cNvPr id="7" name="TextBox 6"/>
          <p:cNvSpPr txBox="1"/>
          <p:nvPr/>
        </p:nvSpPr>
        <p:spPr>
          <a:xfrm>
            <a:off x="6334125" y="1905000"/>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Introduced in 1996 by the National Stock Exchange (NSE), the term NIFTY combines "National" and "Fifty".</a:t>
            </a:r>
          </a:p>
        </p:txBody>
      </p:sp>
      <p:sp>
        <p:nvSpPr>
          <p:cNvPr id="8" name="TextBox 7"/>
          <p:cNvSpPr txBox="1"/>
          <p:nvPr/>
        </p:nvSpPr>
        <p:spPr>
          <a:xfrm>
            <a:off x="6334125" y="3243857"/>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It represents the weighted average of 50 of the largest Indian companies across roughly 13 major sectors of the economy.</a:t>
            </a:r>
          </a:p>
        </p:txBody>
      </p:sp>
      <p:sp>
        <p:nvSpPr>
          <p:cNvPr id="9" name="TextBox 8"/>
          <p:cNvSpPr txBox="1"/>
          <p:nvPr/>
        </p:nvSpPr>
        <p:spPr>
          <a:xfrm>
            <a:off x="6334125" y="4582715"/>
            <a:ext cx="5286375" cy="1675804"/>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The Institutional Favorite:</a:t>
            </a:r>
            <a:r>
              <a:rPr sz="1650" b="0" i="0" u="none">
                <a:solidFill>
                  <a:srgbClr val="CBD5E1"/>
                </a:solidFill>
                <a:latin typeface="Inter"/>
              </a:rPr>
              <a:t> Because of the NSE's massive trading volumes and liquidity, the Nifty 50 is the primary benchmark index used by Mutual Funds, Foreign Institutional Investors (FIIs), and major derivatives traders in India.</a:t>
            </a:r>
          </a:p>
        </p:txBody>
      </p:sp>
      <p:sp>
        <p:nvSpPr>
          <p:cNvPr id="10" name="TextBox 9"/>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The NSE </a:t>
            </a:r>
            <a:r>
              <a:rPr sz="3600" b="1" i="0" u="none">
                <a:solidFill>
                  <a:srgbClr val="F59E0B"/>
                </a:solidFill>
                <a:latin typeface="Outfit"/>
              </a:rPr>
              <a:t>NIFTY 50</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1071562" y="1714500"/>
            <a:ext cx="4286250" cy="4286250"/>
          </a:xfrm>
          <a:prstGeom prst="rect">
            <a:avLst/>
          </a:prstGeom>
        </p:spPr>
      </p:pic>
      <p:sp>
        <p:nvSpPr>
          <p:cNvPr id="4" name="TextBox 3"/>
          <p:cNvSpPr txBox="1"/>
          <p:nvPr/>
        </p:nvSpPr>
        <p:spPr>
          <a:xfrm>
            <a:off x="6334125" y="1538882"/>
            <a:ext cx="5550693" cy="333375"/>
          </a:xfrm>
          <a:prstGeom prst="rect">
            <a:avLst/>
          </a:prstGeom>
          <a:noFill/>
        </p:spPr>
        <p:txBody>
          <a:bodyPr wrap="square" lIns="0" tIns="0" rIns="0" bIns="0" anchor="t">
            <a:spAutoFit/>
          </a:bodyPr>
          <a:lstStyle/>
          <a:p>
            <a:pPr algn="l"/>
            <a:r>
              <a:rPr sz="2100" b="1" i="0" u="none">
                <a:solidFill>
                  <a:srgbClr val="F59E0B"/>
                </a:solidFill>
                <a:latin typeface="Outfit"/>
              </a:rPr>
              <a:t>The Financial Engine</a:t>
            </a:r>
          </a:p>
        </p:txBody>
      </p:sp>
      <p:sp>
        <p:nvSpPr>
          <p:cNvPr id="5" name="TextBox 4"/>
          <p:cNvSpPr txBox="1"/>
          <p:nvPr/>
        </p:nvSpPr>
        <p:spPr>
          <a:xfrm>
            <a:off x="6334125" y="2015132"/>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 Nifty Bank index comprises the most liquid and heavily capitalized Indian banking stocks (both public and private sector).</a:t>
            </a:r>
          </a:p>
        </p:txBody>
      </p:sp>
      <p:sp>
        <p:nvSpPr>
          <p:cNvPr id="6" name="TextBox 5"/>
          <p:cNvSpPr txBox="1"/>
          <p:nvPr/>
        </p:nvSpPr>
        <p:spPr>
          <a:xfrm>
            <a:off x="6334125" y="3353990"/>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It is heavily weighted towards banking giants like HDFC Bank, ICICI Bank, SBI, and Axis Bank. If these 4 banks move, the entire index moves.</a:t>
            </a:r>
          </a:p>
        </p:txBody>
      </p:sp>
      <p:sp>
        <p:nvSpPr>
          <p:cNvPr id="7" name="TextBox 6"/>
          <p:cNvSpPr txBox="1"/>
          <p:nvPr/>
        </p:nvSpPr>
        <p:spPr>
          <a:xfrm>
            <a:off x="6334125" y="4692848"/>
            <a:ext cx="5286375" cy="1340643"/>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Trader's Paradise:</a:t>
            </a:r>
            <a:r>
              <a:rPr sz="1650" b="0" i="0" u="none">
                <a:solidFill>
                  <a:srgbClr val="CBD5E1"/>
                </a:solidFill>
                <a:latin typeface="Inter"/>
              </a:rPr>
              <a:t> Bank Nifty is notoriously famous among Intraday and Options traders because of its extreme volatility and high daily price movements. It often dictates the mood of the broader Nifty 50.</a:t>
            </a:r>
          </a:p>
        </p:txBody>
      </p:sp>
      <p:pic>
        <p:nvPicPr>
          <p:cNvPr id="8" name="Picture 7" descr="image.png"/>
          <p:cNvPicPr>
            <a:picLocks noChangeAspect="1"/>
          </p:cNvPicPr>
          <p:nvPr/>
        </p:nvPicPr>
        <p:blipFill>
          <a:blip r:embed="rId4"/>
          <a:stretch>
            <a:fillRect/>
          </a:stretch>
        </p:blipFill>
        <p:spPr>
          <a:xfrm>
            <a:off x="1185862" y="1828800"/>
            <a:ext cx="4057650" cy="4057650"/>
          </a:xfrm>
          <a:prstGeom prst="rect">
            <a:avLst/>
          </a:prstGeom>
        </p:spPr>
      </p:pic>
      <p:sp>
        <p:nvSpPr>
          <p:cNvPr id="9" name="TextBox 8"/>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High Volatility: </a:t>
            </a:r>
            <a:r>
              <a:rPr sz="3600" b="1" i="0" u="none">
                <a:solidFill>
                  <a:srgbClr val="F59E0B"/>
                </a:solidFill>
                <a:latin typeface="Outfit"/>
              </a:rPr>
              <a:t>Bank Nifty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1952625"/>
            <a:ext cx="3492549" cy="3810000"/>
          </a:xfrm>
          <a:prstGeom prst="rect">
            <a:avLst/>
          </a:prstGeom>
        </p:spPr>
      </p:pic>
      <p:pic>
        <p:nvPicPr>
          <p:cNvPr id="4" name="Picture 3" descr="image.png"/>
          <p:cNvPicPr>
            <a:picLocks noChangeAspect="1"/>
          </p:cNvPicPr>
          <p:nvPr/>
        </p:nvPicPr>
        <p:blipFill>
          <a:blip r:embed="rId4"/>
          <a:stretch>
            <a:fillRect/>
          </a:stretch>
        </p:blipFill>
        <p:spPr>
          <a:xfrm>
            <a:off x="4349799" y="1952625"/>
            <a:ext cx="3492549" cy="3810000"/>
          </a:xfrm>
          <a:prstGeom prst="rect">
            <a:avLst/>
          </a:prstGeom>
        </p:spPr>
      </p:pic>
      <p:pic>
        <p:nvPicPr>
          <p:cNvPr id="5" name="Picture 4" descr="image.png"/>
          <p:cNvPicPr>
            <a:picLocks noChangeAspect="1"/>
          </p:cNvPicPr>
          <p:nvPr/>
        </p:nvPicPr>
        <p:blipFill>
          <a:blip r:embed="rId5"/>
          <a:stretch>
            <a:fillRect/>
          </a:stretch>
        </p:blipFill>
        <p:spPr>
          <a:xfrm>
            <a:off x="8128099" y="1952625"/>
            <a:ext cx="3492549" cy="3810000"/>
          </a:xfrm>
          <a:prstGeom prst="rect">
            <a:avLst/>
          </a:prstGeom>
        </p:spPr>
      </p:pic>
      <p:pic>
        <p:nvPicPr>
          <p:cNvPr id="6" name="Picture 5" descr="image.png"/>
          <p:cNvPicPr>
            <a:picLocks noChangeAspect="1"/>
          </p:cNvPicPr>
          <p:nvPr/>
        </p:nvPicPr>
        <p:blipFill>
          <a:blip r:embed="rId6"/>
          <a:stretch>
            <a:fillRect/>
          </a:stretch>
        </p:blipFill>
        <p:spPr>
          <a:xfrm>
            <a:off x="1936700" y="2343150"/>
            <a:ext cx="762000" cy="342900"/>
          </a:xfrm>
          <a:prstGeom prst="rect">
            <a:avLst/>
          </a:prstGeom>
        </p:spPr>
      </p:pic>
      <p:sp>
        <p:nvSpPr>
          <p:cNvPr id="7" name="TextBox 6"/>
          <p:cNvSpPr txBox="1"/>
          <p:nvPr/>
        </p:nvSpPr>
        <p:spPr>
          <a:xfrm>
            <a:off x="1837640" y="2914650"/>
            <a:ext cx="960120" cy="333375"/>
          </a:xfrm>
          <a:prstGeom prst="rect">
            <a:avLst/>
          </a:prstGeom>
          <a:noFill/>
        </p:spPr>
        <p:txBody>
          <a:bodyPr wrap="square" lIns="0" tIns="0" rIns="0" bIns="0" anchor="t">
            <a:spAutoFit/>
          </a:bodyPr>
          <a:lstStyle/>
          <a:p>
            <a:pPr algn="ctr"/>
            <a:r>
              <a:rPr sz="2100" b="1" i="0" u="none">
                <a:solidFill>
                  <a:srgbClr val="F59E0B"/>
                </a:solidFill>
                <a:latin typeface="Outfit"/>
              </a:rPr>
              <a:t>Nifty IT</a:t>
            </a:r>
          </a:p>
        </p:txBody>
      </p:sp>
      <p:sp>
        <p:nvSpPr>
          <p:cNvPr id="8" name="TextBox 7"/>
          <p:cNvSpPr txBox="1"/>
          <p:nvPr/>
        </p:nvSpPr>
        <p:spPr>
          <a:xfrm>
            <a:off x="866775" y="3390900"/>
            <a:ext cx="2901999" cy="2010965"/>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Tracks the performance of Indian tech giants like TCS, Infosys, and Wipro. This sector is heavily dependent on the US and European economies for revenue.</a:t>
            </a:r>
          </a:p>
        </p:txBody>
      </p:sp>
      <p:sp>
        <p:nvSpPr>
          <p:cNvPr id="9" name="TextBox 8"/>
          <p:cNvSpPr txBox="1"/>
          <p:nvPr/>
        </p:nvSpPr>
        <p:spPr>
          <a:xfrm>
            <a:off x="5445918" y="2914650"/>
            <a:ext cx="1300162" cy="333375"/>
          </a:xfrm>
          <a:prstGeom prst="rect">
            <a:avLst/>
          </a:prstGeom>
          <a:noFill/>
        </p:spPr>
        <p:txBody>
          <a:bodyPr wrap="square" lIns="0" tIns="0" rIns="0" bIns="0" anchor="t">
            <a:spAutoFit/>
          </a:bodyPr>
          <a:lstStyle/>
          <a:p>
            <a:pPr algn="ctr"/>
            <a:r>
              <a:rPr sz="2100" b="1" i="0" u="none">
                <a:solidFill>
                  <a:srgbClr val="F59E0B"/>
                </a:solidFill>
                <a:latin typeface="Outfit"/>
              </a:rPr>
              <a:t>Nifty Auto</a:t>
            </a:r>
          </a:p>
        </p:txBody>
      </p:sp>
      <p:sp>
        <p:nvSpPr>
          <p:cNvPr id="10" name="TextBox 9"/>
          <p:cNvSpPr txBox="1"/>
          <p:nvPr/>
        </p:nvSpPr>
        <p:spPr>
          <a:xfrm>
            <a:off x="4645074" y="3390900"/>
            <a:ext cx="2901999" cy="2346126"/>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Tracks companies like Tata Motors, Mahindra &amp; Mahindra, and Maruti Suzuki. It is a massive indicator of domestic consumption and middle-class spending power.</a:t>
            </a:r>
          </a:p>
        </p:txBody>
      </p:sp>
      <p:pic>
        <p:nvPicPr>
          <p:cNvPr id="11" name="Picture 10" descr="image.png"/>
          <p:cNvPicPr>
            <a:picLocks noChangeAspect="1"/>
          </p:cNvPicPr>
          <p:nvPr/>
        </p:nvPicPr>
        <p:blipFill>
          <a:blip r:embed="rId7"/>
          <a:stretch>
            <a:fillRect/>
          </a:stretch>
        </p:blipFill>
        <p:spPr>
          <a:xfrm>
            <a:off x="9493299" y="2343150"/>
            <a:ext cx="762000" cy="342900"/>
          </a:xfrm>
          <a:prstGeom prst="rect">
            <a:avLst/>
          </a:prstGeom>
        </p:spPr>
      </p:pic>
      <p:sp>
        <p:nvSpPr>
          <p:cNvPr id="12" name="TextBox 11"/>
          <p:cNvSpPr txBox="1"/>
          <p:nvPr/>
        </p:nvSpPr>
        <p:spPr>
          <a:xfrm>
            <a:off x="9009191" y="2914650"/>
            <a:ext cx="1730216" cy="333375"/>
          </a:xfrm>
          <a:prstGeom prst="rect">
            <a:avLst/>
          </a:prstGeom>
          <a:noFill/>
        </p:spPr>
        <p:txBody>
          <a:bodyPr wrap="square" lIns="0" tIns="0" rIns="0" bIns="0" anchor="t">
            <a:spAutoFit/>
          </a:bodyPr>
          <a:lstStyle/>
          <a:p>
            <a:pPr algn="ctr"/>
            <a:r>
              <a:rPr sz="2100" b="1" i="0" u="none">
                <a:solidFill>
                  <a:srgbClr val="F59E0B"/>
                </a:solidFill>
                <a:latin typeface="Outfit"/>
              </a:rPr>
              <a:t>Nifty Pharma</a:t>
            </a:r>
          </a:p>
        </p:txBody>
      </p:sp>
      <p:sp>
        <p:nvSpPr>
          <p:cNvPr id="13" name="TextBox 12"/>
          <p:cNvSpPr txBox="1"/>
          <p:nvPr/>
        </p:nvSpPr>
        <p:spPr>
          <a:xfrm>
            <a:off x="8423374" y="3390900"/>
            <a:ext cx="2901999" cy="2010965"/>
          </a:xfrm>
          <a:prstGeom prst="rect">
            <a:avLst/>
          </a:prstGeom>
          <a:noFill/>
        </p:spPr>
        <p:txBody>
          <a:bodyPr wrap="square" lIns="0" tIns="0" rIns="0" bIns="0" anchor="t">
            <a:spAutoFit/>
          </a:bodyPr>
          <a:lstStyle/>
          <a:p>
            <a:pPr algn="ctr">
              <a:lnSpc>
                <a:spcPts val="2640"/>
              </a:lnSpc>
            </a:pPr>
            <a:r>
              <a:rPr sz="1650" b="0" i="0" u="none">
                <a:solidFill>
                  <a:srgbClr val="CBD5E1"/>
                </a:solidFill>
                <a:latin typeface="Inter"/>
              </a:rPr>
              <a:t>Tracks healthcare leaders like Sun Pharma and Cipla. Known as a "defensive" sector, it often performs well even when the broader market is falling.</a:t>
            </a:r>
          </a:p>
        </p:txBody>
      </p:sp>
      <p:pic>
        <p:nvPicPr>
          <p:cNvPr id="14" name="Picture 13" descr="image.png"/>
          <p:cNvPicPr>
            <a:picLocks noChangeAspect="1"/>
          </p:cNvPicPr>
          <p:nvPr/>
        </p:nvPicPr>
        <p:blipFill>
          <a:blip r:embed="rId8"/>
          <a:stretch>
            <a:fillRect/>
          </a:stretch>
        </p:blipFill>
        <p:spPr>
          <a:xfrm>
            <a:off x="2103387" y="2343150"/>
            <a:ext cx="428625" cy="342900"/>
          </a:xfrm>
          <a:prstGeom prst="rect">
            <a:avLst/>
          </a:prstGeom>
        </p:spPr>
      </p:pic>
      <p:pic>
        <p:nvPicPr>
          <p:cNvPr id="15" name="Picture 14" descr="image.png"/>
          <p:cNvPicPr>
            <a:picLocks noChangeAspect="1"/>
          </p:cNvPicPr>
          <p:nvPr/>
        </p:nvPicPr>
        <p:blipFill>
          <a:blip r:embed="rId9"/>
          <a:stretch>
            <a:fillRect/>
          </a:stretch>
        </p:blipFill>
        <p:spPr>
          <a:xfrm>
            <a:off x="5881687" y="2343150"/>
            <a:ext cx="428625" cy="342900"/>
          </a:xfrm>
          <a:prstGeom prst="rect">
            <a:avLst/>
          </a:prstGeom>
        </p:spPr>
      </p:pic>
      <p:pic>
        <p:nvPicPr>
          <p:cNvPr id="16" name="Picture 15" descr="image.png"/>
          <p:cNvPicPr>
            <a:picLocks noChangeAspect="1"/>
          </p:cNvPicPr>
          <p:nvPr/>
        </p:nvPicPr>
        <p:blipFill>
          <a:blip r:embed="rId10"/>
          <a:stretch>
            <a:fillRect/>
          </a:stretch>
        </p:blipFill>
        <p:spPr>
          <a:xfrm>
            <a:off x="9679037" y="2343150"/>
            <a:ext cx="390525" cy="342900"/>
          </a:xfrm>
          <a:prstGeom prst="rect">
            <a:avLst/>
          </a:prstGeom>
        </p:spPr>
      </p:pic>
      <p:sp>
        <p:nvSpPr>
          <p:cNvPr id="17" name="TextBox 16"/>
          <p:cNvSpPr txBox="1"/>
          <p:nvPr/>
        </p:nvSpPr>
        <p:spPr>
          <a:xfrm>
            <a:off x="571500" y="571500"/>
            <a:ext cx="11601450" cy="571500"/>
          </a:xfrm>
          <a:prstGeom prst="rect">
            <a:avLst/>
          </a:prstGeom>
          <a:noFill/>
        </p:spPr>
        <p:txBody>
          <a:bodyPr wrap="square" lIns="0" tIns="0" rIns="0" bIns="0" anchor="t">
            <a:spAutoFit/>
          </a:bodyPr>
          <a:lstStyle/>
          <a:p>
            <a:pPr algn="l"/>
            <a:r>
              <a:rPr sz="3600" b="1" i="0" u="none">
                <a:solidFill>
                  <a:srgbClr val="F8FAFC"/>
                </a:solidFill>
                <a:latin typeface="Outfit"/>
              </a:rPr>
              <a:t>Tracking Specifics: </a:t>
            </a:r>
            <a:r>
              <a:rPr sz="3600" b="1" i="0" u="none">
                <a:solidFill>
                  <a:srgbClr val="F59E0B"/>
                </a:solidFill>
                <a:latin typeface="Outfit"/>
              </a:rPr>
              <a:t>Sectoral Indices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TextBox 2"/>
          <p:cNvSpPr txBox="1"/>
          <p:nvPr/>
        </p:nvSpPr>
        <p:spPr>
          <a:xfrm>
            <a:off x="571500" y="49422"/>
            <a:ext cx="5550693" cy="1143000"/>
          </a:xfrm>
          <a:prstGeom prst="rect">
            <a:avLst/>
          </a:prstGeom>
          <a:noFill/>
        </p:spPr>
        <p:txBody>
          <a:bodyPr wrap="square" lIns="0" tIns="0" rIns="0" bIns="0" anchor="t">
            <a:spAutoFit/>
          </a:bodyPr>
          <a:lstStyle/>
          <a:p>
            <a:pPr algn="l"/>
            <a:r>
              <a:rPr sz="3600" b="1" i="0" u="none" dirty="0">
                <a:solidFill>
                  <a:srgbClr val="F8FAFC"/>
                </a:solidFill>
                <a:latin typeface="Outfit"/>
              </a:rPr>
              <a:t>Watching the</a:t>
            </a:r>
            <a:r>
              <a:rPr dirty="0"/>
              <a:t>
</a:t>
            </a:r>
            <a:r>
              <a:rPr sz="3600" b="1" i="0" u="none" dirty="0">
                <a:solidFill>
                  <a:srgbClr val="F59E0B"/>
                </a:solidFill>
                <a:latin typeface="Outfit"/>
              </a:rPr>
              <a:t>Global Pulse</a:t>
            </a:r>
          </a:p>
        </p:txBody>
      </p:sp>
      <p:sp>
        <p:nvSpPr>
          <p:cNvPr id="5" name="TextBox 4"/>
          <p:cNvSpPr txBox="1"/>
          <p:nvPr/>
        </p:nvSpPr>
        <p:spPr>
          <a:xfrm>
            <a:off x="571500" y="1393328"/>
            <a:ext cx="5286375" cy="1005482"/>
          </a:xfrm>
          <a:prstGeom prst="rect">
            <a:avLst/>
          </a:prstGeom>
          <a:noFill/>
        </p:spPr>
        <p:txBody>
          <a:bodyPr wrap="square" lIns="0" tIns="0" rIns="0" bIns="0" anchor="t">
            <a:spAutoFit/>
          </a:bodyPr>
          <a:lstStyle/>
          <a:p>
            <a:pPr algn="l">
              <a:lnSpc>
                <a:spcPts val="2640"/>
              </a:lnSpc>
            </a:pPr>
            <a:r>
              <a:rPr sz="1650" b="0" i="0" u="none">
                <a:solidFill>
                  <a:srgbClr val="CBD5E1"/>
                </a:solidFill>
                <a:latin typeface="Inter"/>
              </a:rPr>
              <a:t>The Indian stock market does not operate in a vacuum. We react aggressively to global economic cues.</a:t>
            </a:r>
          </a:p>
        </p:txBody>
      </p:sp>
      <p:sp>
        <p:nvSpPr>
          <p:cNvPr id="6" name="TextBox 5"/>
          <p:cNvSpPr txBox="1"/>
          <p:nvPr/>
        </p:nvSpPr>
        <p:spPr>
          <a:xfrm>
            <a:off x="571500" y="2732186"/>
            <a:ext cx="52863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Dow Jones (US):</a:t>
            </a:r>
            <a:r>
              <a:rPr sz="1650" b="0" i="0" u="none">
                <a:solidFill>
                  <a:srgbClr val="CBD5E1"/>
                </a:solidFill>
                <a:latin typeface="Inter"/>
              </a:rPr>
              <a:t> Tracks 30 prominent industrial giants. It's the traditional thermometer of the US economy.</a:t>
            </a:r>
          </a:p>
        </p:txBody>
      </p:sp>
      <p:sp>
        <p:nvSpPr>
          <p:cNvPr id="7" name="TextBox 6"/>
          <p:cNvSpPr txBox="1"/>
          <p:nvPr/>
        </p:nvSpPr>
        <p:spPr>
          <a:xfrm>
            <a:off x="571500" y="4071044"/>
            <a:ext cx="5286375" cy="1005482"/>
          </a:xfrm>
          <a:prstGeom prst="rect">
            <a:avLst/>
          </a:prstGeom>
          <a:noFill/>
        </p:spPr>
        <p:txBody>
          <a:bodyPr wrap="square" lIns="0" tIns="0" rIns="0" bIns="0" anchor="t">
            <a:spAutoFit/>
          </a:bodyPr>
          <a:lstStyle/>
          <a:p>
            <a:pPr algn="l">
              <a:lnSpc>
                <a:spcPts val="2640"/>
              </a:lnSpc>
            </a:pPr>
            <a:r>
              <a:rPr sz="1650" b="1" i="0" u="none">
                <a:solidFill>
                  <a:srgbClr val="CBD5E1"/>
                </a:solidFill>
                <a:latin typeface="Inter"/>
              </a:rPr>
              <a:t>S&amp;P 500 (US):</a:t>
            </a:r>
            <a:r>
              <a:rPr sz="1650" b="0" i="0" u="none">
                <a:solidFill>
                  <a:srgbClr val="CBD5E1"/>
                </a:solidFill>
                <a:latin typeface="Inter"/>
              </a:rPr>
              <a:t> The top 500 companies in the US. This is the truest representation of the American market.</a:t>
            </a:r>
          </a:p>
        </p:txBody>
      </p:sp>
      <p:sp>
        <p:nvSpPr>
          <p:cNvPr id="8" name="TextBox 7"/>
          <p:cNvSpPr txBox="1"/>
          <p:nvPr/>
        </p:nvSpPr>
        <p:spPr>
          <a:xfrm>
            <a:off x="571500" y="5409902"/>
            <a:ext cx="5286375" cy="1340643"/>
          </a:xfrm>
          <a:prstGeom prst="rect">
            <a:avLst/>
          </a:prstGeom>
          <a:noFill/>
        </p:spPr>
        <p:txBody>
          <a:bodyPr wrap="square" lIns="0" tIns="0" rIns="0" bIns="0" anchor="t">
            <a:spAutoFit/>
          </a:bodyPr>
          <a:lstStyle/>
          <a:p>
            <a:pPr algn="l">
              <a:lnSpc>
                <a:spcPts val="2640"/>
              </a:lnSpc>
            </a:pPr>
            <a:r>
              <a:rPr sz="1650" b="1" i="0" u="none" dirty="0">
                <a:solidFill>
                  <a:srgbClr val="CBD5E1"/>
                </a:solidFill>
                <a:latin typeface="Inter"/>
              </a:rPr>
              <a:t>NASDAQ (US):</a:t>
            </a:r>
            <a:r>
              <a:rPr sz="1650" b="0" i="0" u="none" dirty="0">
                <a:solidFill>
                  <a:srgbClr val="CBD5E1"/>
                </a:solidFill>
                <a:latin typeface="Inter"/>
              </a:rPr>
              <a:t> Extremely tech-heavy. When Nasdaq falls at night, Indian IT stocks usually open in the red the next morning. </a:t>
            </a:r>
            <a:r>
              <a:rPr sz="1650" b="0" i="1" u="none" dirty="0">
                <a:solidFill>
                  <a:srgbClr val="CBD5E1"/>
                </a:solidFill>
                <a:latin typeface="Inter"/>
              </a:rPr>
              <a:t>When Wall Street sneezes, Dalal Street catches a cold!</a:t>
            </a:r>
          </a:p>
        </p:txBody>
      </p:sp>
      <p:pic>
        <p:nvPicPr>
          <p:cNvPr id="2050" name="Picture 2" descr="World Stock Market Performance: 10 Year Returns of Major Global Indices">
            <a:extLst>
              <a:ext uri="{FF2B5EF4-FFF2-40B4-BE49-F238E27FC236}">
                <a16:creationId xmlns:a16="http://schemas.microsoft.com/office/drawing/2014/main" id="{64133C7F-5BDE-8E52-AE9A-EE35B2DDC6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29639" y="2090248"/>
            <a:ext cx="4890861" cy="30567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pic>
        <p:nvPicPr>
          <p:cNvPr id="3" name="Picture 2" descr="image.png"/>
          <p:cNvPicPr>
            <a:picLocks noChangeAspect="1"/>
          </p:cNvPicPr>
          <p:nvPr/>
        </p:nvPicPr>
        <p:blipFill>
          <a:blip r:embed="rId3"/>
          <a:stretch>
            <a:fillRect/>
          </a:stretch>
        </p:blipFill>
        <p:spPr>
          <a:xfrm>
            <a:off x="571500" y="3213496"/>
            <a:ext cx="11049000" cy="523875"/>
          </a:xfrm>
          <a:prstGeom prst="rect">
            <a:avLst/>
          </a:prstGeom>
        </p:spPr>
      </p:pic>
      <p:sp>
        <p:nvSpPr>
          <p:cNvPr id="4" name="TextBox 3"/>
          <p:cNvSpPr txBox="1"/>
          <p:nvPr/>
        </p:nvSpPr>
        <p:spPr>
          <a:xfrm>
            <a:off x="295275" y="571500"/>
            <a:ext cx="11601450" cy="962025"/>
          </a:xfrm>
          <a:prstGeom prst="rect">
            <a:avLst/>
          </a:prstGeom>
          <a:noFill/>
        </p:spPr>
        <p:txBody>
          <a:bodyPr wrap="square" lIns="0" tIns="0" rIns="0" bIns="0" anchor="t">
            <a:spAutoFit/>
          </a:bodyPr>
          <a:lstStyle/>
          <a:p>
            <a:pPr algn="ctr"/>
            <a:r>
              <a:rPr sz="6000" b="1" i="0" u="none">
                <a:solidFill>
                  <a:srgbClr val="10B981"/>
                </a:solidFill>
                <a:latin typeface="Outfit"/>
              </a:rPr>
              <a:t>Great Job on Day 7!</a:t>
            </a:r>
          </a:p>
        </p:txBody>
      </p:sp>
      <p:sp>
        <p:nvSpPr>
          <p:cNvPr id="5" name="TextBox 4"/>
          <p:cNvSpPr txBox="1"/>
          <p:nvPr/>
        </p:nvSpPr>
        <p:spPr>
          <a:xfrm>
            <a:off x="571500" y="1724025"/>
            <a:ext cx="11049000" cy="446725"/>
          </a:xfrm>
          <a:prstGeom prst="rect">
            <a:avLst/>
          </a:prstGeom>
          <a:noFill/>
        </p:spPr>
        <p:txBody>
          <a:bodyPr wrap="square" lIns="0" tIns="0" rIns="0" bIns="0" anchor="t">
            <a:spAutoFit/>
          </a:bodyPr>
          <a:lstStyle/>
          <a:p>
            <a:pPr algn="ctr">
              <a:lnSpc>
                <a:spcPts val="3840"/>
              </a:lnSpc>
            </a:pPr>
            <a:r>
              <a:rPr sz="2400" b="0" i="0" u="none" dirty="0">
                <a:solidFill>
                  <a:srgbClr val="F8FAFC"/>
                </a:solidFill>
                <a:latin typeface="Inter"/>
              </a:rPr>
              <a:t>Tomorrow: </a:t>
            </a:r>
            <a:r>
              <a:rPr lang="en-US" sz="2400" dirty="0">
                <a:solidFill>
                  <a:srgbClr val="F8FAFC"/>
                </a:solidFill>
                <a:latin typeface="Inter"/>
              </a:rPr>
              <a:t>Order Types</a:t>
            </a:r>
            <a:r>
              <a:rPr sz="2400" b="0" i="0" u="none" dirty="0">
                <a:solidFill>
                  <a:srgbClr val="F8FAFC"/>
                </a:solidFill>
                <a:latin typeface="Inter"/>
              </a:rPr>
              <a:t>.</a:t>
            </a:r>
          </a:p>
        </p:txBody>
      </p:sp>
      <p:sp>
        <p:nvSpPr>
          <p:cNvPr id="6" name="TextBox 5"/>
          <p:cNvSpPr txBox="1"/>
          <p:nvPr/>
        </p:nvSpPr>
        <p:spPr>
          <a:xfrm>
            <a:off x="571500" y="2402085"/>
            <a:ext cx="11049000" cy="335160"/>
          </a:xfrm>
          <a:prstGeom prst="rect">
            <a:avLst/>
          </a:prstGeom>
          <a:noFill/>
        </p:spPr>
        <p:txBody>
          <a:bodyPr wrap="square" lIns="0" tIns="0" rIns="0" bIns="0" anchor="t">
            <a:spAutoFit/>
          </a:bodyPr>
          <a:lstStyle/>
          <a:p>
            <a:pPr algn="ctr">
              <a:lnSpc>
                <a:spcPts val="2640"/>
              </a:lnSpc>
            </a:pPr>
            <a:r>
              <a:rPr sz="1650" b="0" i="0" u="none">
                <a:solidFill>
                  <a:srgbClr val="10B981"/>
                </a:solidFill>
                <a:latin typeface="Inter"/>
              </a:rPr>
              <a:t>Don't forget to Like, Share, and Subscribe!</a:t>
            </a:r>
          </a:p>
        </p:txBody>
      </p:sp>
      <p:sp>
        <p:nvSpPr>
          <p:cNvPr id="11" name="TextBox 10">
            <a:extLst>
              <a:ext uri="{FF2B5EF4-FFF2-40B4-BE49-F238E27FC236}">
                <a16:creationId xmlns:a16="http://schemas.microsoft.com/office/drawing/2014/main" id="{932F7476-C906-E471-7E6A-BC5BADCD6C4D}"/>
              </a:ext>
            </a:extLst>
          </p:cNvPr>
          <p:cNvSpPr txBox="1"/>
          <p:nvPr/>
        </p:nvSpPr>
        <p:spPr>
          <a:xfrm>
            <a:off x="5053012" y="3508771"/>
            <a:ext cx="2085975" cy="228600"/>
          </a:xfrm>
          <a:prstGeom prst="rect">
            <a:avLst/>
          </a:prstGeom>
          <a:noFill/>
        </p:spPr>
        <p:txBody>
          <a:bodyPr wrap="square" lIns="0" tIns="0" rIns="0" bIns="0" anchor="ctr">
            <a:spAutoFit/>
          </a:bodyPr>
          <a:lstStyle/>
          <a:p>
            <a:pPr algn="ctr"/>
            <a:r>
              <a:rPr sz="1500" b="0" i="0" u="none" dirty="0">
                <a:solidFill>
                  <a:srgbClr val="94A3B8"/>
                </a:solidFill>
                <a:latin typeface="Inter"/>
              </a:rPr>
              <a:t> /</a:t>
            </a:r>
            <a:r>
              <a:rPr lang="en-IN" sz="1500" dirty="0">
                <a:solidFill>
                  <a:srgbClr val="94A3B8"/>
                </a:solidFill>
                <a:latin typeface="Inter"/>
              </a:rPr>
              <a:t> @EarnJoyOfficial</a:t>
            </a:r>
            <a:endParaRPr sz="1500" b="0" i="0" u="none" dirty="0">
              <a:solidFill>
                <a:srgbClr val="94A3B8"/>
              </a:solidFill>
              <a:latin typeface="Inter"/>
            </a:endParaRPr>
          </a:p>
        </p:txBody>
      </p:sp>
      <p:pic>
        <p:nvPicPr>
          <p:cNvPr id="12" name="Picture 11" descr="image.png">
            <a:extLst>
              <a:ext uri="{FF2B5EF4-FFF2-40B4-BE49-F238E27FC236}">
                <a16:creationId xmlns:a16="http://schemas.microsoft.com/office/drawing/2014/main" id="{251431AA-492A-C73E-02B2-61D7866D14BA}"/>
              </a:ext>
            </a:extLst>
          </p:cNvPr>
          <p:cNvPicPr>
            <a:picLocks noChangeAspect="1"/>
          </p:cNvPicPr>
          <p:nvPr/>
        </p:nvPicPr>
        <p:blipFill>
          <a:blip r:embed="rId4"/>
          <a:stretch>
            <a:fillRect/>
          </a:stretch>
        </p:blipFill>
        <p:spPr>
          <a:xfrm>
            <a:off x="5053012" y="3527821"/>
            <a:ext cx="219075" cy="190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37</TotalTime>
  <Words>532</Words>
  <Application>Microsoft Office PowerPoint</Application>
  <PresentationFormat>Widescreen</PresentationFormat>
  <Paragraphs>35</Paragraphs>
  <Slides>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Calibri</vt:lpstr>
      <vt:lpstr>Inter</vt:lpstr>
      <vt:lpstr>Inter Medium</vt:lpstr>
      <vt:lpstr>Inter SemiBold</vt:lpstr>
      <vt:lpstr>Outfit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Somtirtha Das</cp:lastModifiedBy>
  <cp:revision>4</cp:revision>
  <dcterms:created xsi:type="dcterms:W3CDTF">2013-01-27T09:14:16Z</dcterms:created>
  <dcterms:modified xsi:type="dcterms:W3CDTF">2026-08-19T09:10:25Z</dcterms:modified>
  <cp:category/>
</cp:coreProperties>
</file>