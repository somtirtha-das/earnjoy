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100" y="2160389"/>
            <a:ext cx="220980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20503" y="2817614"/>
            <a:ext cx="7950993" cy="754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Mastering </a:t>
            </a:r>
            <a:r>
              <a:rPr b="1" sz="5400" i="0" u="none">
                <a:solidFill>
                  <a:srgbClr val="10B981"/>
                </a:solidFill>
                <a:latin typeface="Outfit"/>
              </a:rPr>
              <a:t>Mutual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762375"/>
            <a:ext cx="9144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Inter Medium"/>
              </a:rPr>
              <a:t>The superpower of pooled money: SIPs, NAVs, Expense Ratios, and Passive Wealth Building.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025" y="226040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504652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Systematic Investment Plan (SIP)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allows you to invest a fixed amount regularly (e.g., monthly) into a mutual fund.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43510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Rupee Cost Averaging: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You automatically buy more units when the market is low and fewer units when it is high.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77592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No Timing Needed: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Removes the emotional stress of trying to "time the market."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76514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Power of Compounding: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Small, consistent monthly investments grow into substantial wealth over decades.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971675"/>
            <a:ext cx="5248275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Disciplined Powerhouse: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SIP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6256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9664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95564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3441799"/>
            <a:ext cx="3545085" cy="61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4125" y="2304752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Net Asset Value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2781002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NAV is the per-unit market value of a mutual fund scheme based on its underlying securities.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3926978"/>
            <a:ext cx="52863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Big Myth: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 lower NAV (e.g., ₹15) does </a:t>
            </a:r>
            <a:r>
              <a:rPr b="0" sz="1650" i="1" u="none">
                <a:solidFill>
                  <a:srgbClr val="CBD5E1"/>
                </a:solidFill>
                <a:latin typeface="Inter"/>
              </a:rPr>
              <a:t>not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mean a fund is cheaper or a better bargain than a fund with a high NAV (e.g., ₹150). Returns depend entirely on percentage growth!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862" y="1828800"/>
            <a:ext cx="405765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643312"/>
            <a:ext cx="3049785" cy="2836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Unit Price: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NAV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Silent Wealth Eater:</a:t>
            </a:r>
            <a:r>
              <a:t>
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Expense Ratio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397918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The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Expense Ratio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is the annual fee charged by the mutual fund company to manage your money.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01615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Why it matters: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It covers fund management salaries, research, administration, and marketing.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405312"/>
            <a:ext cx="52863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Even a seemingly small 1% difference in expense ratio can eat away up to 25–30% of your total compounded wealth over a 30-year investment horizon. Always look for lower ratios!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5367"/>
            <a:ext cx="5334000" cy="37445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85367"/>
            <a:ext cx="5334000" cy="37445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3829050"/>
            <a:ext cx="53149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375892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Direct Plans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852142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You buy the mutual fund directly from the fund house (AMC) or through zero-commission platforms.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191000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Benefit: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Lower expense ratio because no intermediary commission is paid. Over time, this yields significantly higher returns for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829050"/>
            <a:ext cx="53149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7025" y="2375892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Outfit"/>
              </a:rPr>
              <a:t>Regular Plans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852142"/>
            <a:ext cx="4552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You buy the mutual fund through an agent, broker, bank distributor, or financial advisor.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855839"/>
            <a:ext cx="45529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Catch: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Part of your investment goes toward paying distributor commissions, resulting in a higher expense ratio and lower net returns.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Commission Split: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Direct vs. Regular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504652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An Index Fund is a passive mutual fund designed to mirror the exact performance of a specific market index like the Nifty 50 or Sensex.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43510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No Active Manager: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Instead of paying a fund manager to pick stocks, the fund simply holds every stock in the index in exact proportions.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77592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Rock-Bottom Fees: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Because management is automated, expense ratios are extremely 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76514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Reality: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Statistically, over 80% of active fund managers fail to beat simple index funds over a 10-year period!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971675"/>
            <a:ext cx="5248275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Beating the Average: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Index Funds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6256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9664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95564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52625"/>
            <a:ext cx="3492549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52625"/>
            <a:ext cx="3492549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52625"/>
            <a:ext cx="3492549" cy="381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00" y="2343150"/>
            <a:ext cx="7620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2553" y="2914650"/>
            <a:ext cx="23502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8FAFC"/>
                </a:solidFill>
                <a:latin typeface="Outfit"/>
              </a:rPr>
              <a:t>Real-Time Trading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390900"/>
            <a:ext cx="2901999" cy="2010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Unlike regular mutual funds that price once a day at market close, Exchange Traded Funds (ETFs) can be bought and sold live all day on the stock exchange.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343150"/>
            <a:ext cx="762000" cy="5054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60870" y="3077170"/>
            <a:ext cx="207025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8FAFC"/>
                </a:solidFill>
                <a:latin typeface="Outfit"/>
              </a:rPr>
              <a:t>Demat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553420"/>
            <a:ext cx="2901999" cy="1675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You must have an active Demat and Trading account to purchase ETFs, exactly like buying shares of Reliance or TCS.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3299" y="2343150"/>
            <a:ext cx="7620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29181" y="2914650"/>
            <a:ext cx="1890236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8FAFC"/>
                </a:solidFill>
                <a:latin typeface="Outfit"/>
              </a:rPr>
              <a:t>Ultra Low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390900"/>
            <a:ext cx="2901999" cy="2010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Like index funds, ETFs track baskets of assets with minimal administrative overhead, giving you instant diversification at rock-bottom costs.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6250" y="2343150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0737" y="2424410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9037" y="2343150"/>
            <a:ext cx="3905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Trading Like Stocks: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ETFs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0B981"/>
                </a:solidFill>
                <a:latin typeface="Outfit"/>
              </a:rPr>
              <a:t>Great Job on Day 19!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Inter"/>
              </a:rPr>
              <a:t>Tomorrow: Day 20 - Portfolio Diversification &amp; Asset Allocation.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487" y="3508771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/YourFinanceProfessor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4162" y="3508771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@FinanceProf_Official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3527821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3527821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29284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07761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6238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068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2269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43572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http://googleusercontent.com/image_collection/image_retrieval/542310408119990732_0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68143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2704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22049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http://googleusercontent.com/image_collection/image_retrieval/713336301404813874_0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46620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1181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400526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http://googleusercontent.com/image_collection/image_retrieval/6059622041744728903_0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25097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96581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79003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http://googleusercontent.com/image_collection/image_retrieval/11224912318382582384_0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03574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193726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17658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961358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167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167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9518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9518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47366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7366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42269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66875" y="2336601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https://media.istockphoto.com/id/2236221040/video/tracking-shot-of-growing-price-chart-of-gold-with-increasing-stacks-of-gold-coins.jpg?s=640x640&amp;k=20&amp;c=fx2fKO7Qg9dAZ3SvJCKM2b_w2_hoPLiFkv07088dvfw=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278040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2601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331946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https://lookaside.fbsbx.com/lookaside/crawler/media/?media_id=1454996053341791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356517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10781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75" y="410423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https://blueberrymarkets.com/media/fwrff52j/support-and-resistance-levels-in-day-trading.jpg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434994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blueberrymarkets.com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95552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66875" y="488900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https://videocdn.cdnpk.net/videos/4113846b-ece1-556e-8354-2f58fd765ad1/horizontal/thumbnails/large.jpg?semt=ais_hybrid&amp;item_id=8303439&amp;w=740&amp;q=80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5134719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