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7" d="100"/>
          <a:sy n="67" d="100"/>
        </p:scale>
        <p:origin x="620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1100" y="2160389"/>
            <a:ext cx="2209800" cy="3714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0478" y="2817614"/>
            <a:ext cx="8351043" cy="7542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sz="5400" b="1" i="0" u="none">
                <a:solidFill>
                  <a:srgbClr val="F8FAFC"/>
                </a:solidFill>
                <a:latin typeface="Outfit"/>
              </a:rPr>
              <a:t>Decoding </a:t>
            </a:r>
            <a:r>
              <a:rPr sz="5400" b="1" i="0" u="none">
                <a:solidFill>
                  <a:srgbClr val="10B981"/>
                </a:solidFill>
                <a:latin typeface="Outfit"/>
              </a:rPr>
              <a:t>Annual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4000" y="3762375"/>
            <a:ext cx="9144000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sz="1950" b="0" i="0" u="none">
                <a:solidFill>
                  <a:srgbClr val="94A3B8"/>
                </a:solidFill>
                <a:latin typeface="Inter Medium"/>
              </a:rPr>
              <a:t>Reading between the lines: How to inspect a company's yearly prospectus like a professional analyst.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8755" y="2260401"/>
            <a:ext cx="19050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00250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The </a:t>
            </a:r>
            <a:r>
              <a:rPr sz="1650" b="1" i="0" u="none" dirty="0">
                <a:solidFill>
                  <a:srgbClr val="CBD5E1"/>
                </a:solidFill>
                <a:latin typeface="Inter"/>
              </a:rPr>
              <a:t>Management Discussion &amp; Analysis (MD&amp;A)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is written directly by the top executives and managing directors of the firm.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39107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It reviews the macroeconomic environment, industry trends, and company performance over the past financial year.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3190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It outlines future strategic goals, expansion plans, and capital expenditure targets.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72112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Pro Tip: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Compare what management promised last year in this section against what actually happened today to test their credibility!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571500"/>
            <a:ext cx="1160145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Visionary View: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Management Discussion (MD&amp;A)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358157"/>
            <a:ext cx="190500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92240"/>
            <a:ext cx="190500" cy="2000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491162"/>
            <a:ext cx="190500" cy="200025"/>
          </a:xfrm>
          <a:prstGeom prst="rect">
            <a:avLst/>
          </a:prstGeom>
        </p:spPr>
      </p:pic>
      <p:pic>
        <p:nvPicPr>
          <p:cNvPr id="1026" name="Picture 2" descr="10 Best Self Evaluation Performance Review Examples &amp; Tips">
            <a:extLst>
              <a:ext uri="{FF2B5EF4-FFF2-40B4-BE49-F238E27FC236}">
                <a16:creationId xmlns:a16="http://schemas.microsoft.com/office/drawing/2014/main" id="{3C02196D-3235-5171-C149-7DC2983BBBC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87" t="20580" r="4373" b="6706"/>
          <a:stretch>
            <a:fillRect/>
          </a:stretch>
        </p:blipFill>
        <p:spPr bwMode="auto">
          <a:xfrm>
            <a:off x="6372225" y="2629791"/>
            <a:ext cx="5248275" cy="2424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17786"/>
            <a:ext cx="5334000" cy="407967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817786"/>
            <a:ext cx="5334000" cy="40796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2025" y="220831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The Watchdog's 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2684561"/>
            <a:ext cx="4552950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The Auditor's Report is prepared by an independent external Chartered Accountant firm hired to scrutinize every financial ledger of the company.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025" y="4358580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Unqualified (Clean) Opinion: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financial statements are accurate, fair, and adhere strictly to accounting standards.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2208311"/>
            <a:ext cx="4780597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EF4444"/>
                </a:solidFill>
                <a:latin typeface="Outfit"/>
              </a:rPr>
              <a:t>Qualified or Adverse Opinions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7025" y="2684561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Qualified Opinion: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The auditor found discrepancies or areas they could not verify fully. Proceed with caution.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7025" y="4023419"/>
            <a:ext cx="4552950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Adverse Opinion: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Major fraud, misrepresentation, or severe non-compliance detected. Run away immediately!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Independent Truth: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Auditor's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5550693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 dirty="0">
                <a:solidFill>
                  <a:srgbClr val="F8FAFC"/>
                </a:solidFill>
                <a:latin typeface="Outfit"/>
              </a:rPr>
              <a:t>The Fine Print:</a:t>
            </a:r>
            <a:r>
              <a:rPr dirty="0"/>
              <a:t>
</a:t>
            </a:r>
            <a:r>
              <a:rPr sz="3600" b="1" i="0" u="none" dirty="0">
                <a:solidFill>
                  <a:srgbClr val="F59E0B"/>
                </a:solidFill>
                <a:latin typeface="Outfit"/>
              </a:rPr>
              <a:t>Notes to Accounts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2062757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Amateurs look only at the P&amp;L and Balance Sheet numbers. Professional investors spend 80% of their time reading the </a:t>
            </a:r>
            <a:r>
              <a:rPr sz="1650" b="1" i="0" u="none">
                <a:solidFill>
                  <a:srgbClr val="CBD5E1"/>
                </a:solidFill>
                <a:latin typeface="Inter"/>
              </a:rPr>
              <a:t>Notes to Accounts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401615"/>
            <a:ext cx="5286375" cy="13406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>
                <a:solidFill>
                  <a:srgbClr val="CBD5E1"/>
                </a:solidFill>
                <a:latin typeface="Inter"/>
              </a:rPr>
              <a:t>What's inside:</a:t>
            </a:r>
            <a:r>
              <a:rPr sz="1650" b="0" i="0" u="none">
                <a:solidFill>
                  <a:srgbClr val="CBD5E1"/>
                </a:solidFill>
                <a:latin typeface="Inter"/>
              </a:rPr>
              <a:t> Detailed breakdowns of accounting policies, contingent liabilities (lawsuits or tax disputes that could blow up unexpectedly), and related-party transactions.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5075634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This is where promoters try to hide aggressive accounting tricks or complex loans given to sister companies.</a:t>
            </a:r>
          </a:p>
        </p:txBody>
      </p:sp>
      <p:pic>
        <p:nvPicPr>
          <p:cNvPr id="2050" name="Picture 2" descr="Notes to Accounts - MadelynnqoHammond">
            <a:extLst>
              <a:ext uri="{FF2B5EF4-FFF2-40B4-BE49-F238E27FC236}">
                <a16:creationId xmlns:a16="http://schemas.microsoft.com/office/drawing/2014/main" id="{86CF5645-C9D1-6C87-190E-F15E69AB1C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125" y="0"/>
            <a:ext cx="58578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34125" y="1428750"/>
            <a:ext cx="5550693" cy="333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59E0B"/>
                </a:solidFill>
                <a:latin typeface="Outfit"/>
              </a:rPr>
              <a:t>Anticipating the Storm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34125" y="1905000"/>
            <a:ext cx="52863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>
                <a:solidFill>
                  <a:srgbClr val="CBD5E1"/>
                </a:solidFill>
                <a:latin typeface="Inter"/>
              </a:rPr>
              <a:t>Every legitimate annual report contains a dedicated section detailing the specific business risks facing the company.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34125" y="6132909"/>
            <a:ext cx="5286375" cy="5822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0" i="0" u="none" dirty="0">
                <a:solidFill>
                  <a:srgbClr val="CBD5E1"/>
                </a:solidFill>
                <a:latin typeface="Inter"/>
              </a:rPr>
              <a:t>Evaluating these risks tells you whether management is realistic or overly optimistic.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7025" y="3243857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CBD5E1"/>
                </a:solidFill>
                <a:latin typeface="Inter"/>
              </a:rPr>
              <a:t>Regulatory Risks: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Government policy changes or heavy taxation.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7025" y="4142779"/>
            <a:ext cx="4943475" cy="10054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CBD5E1"/>
                </a:solidFill>
                <a:latin typeface="Inter"/>
              </a:rPr>
              <a:t>Operational Risks: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Raw material price volatility or customer concentration (reliance on top 2-3 clients).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7025" y="5081587"/>
            <a:ext cx="4943475" cy="6703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sz="1650" b="1" i="0" u="none" dirty="0">
                <a:solidFill>
                  <a:srgbClr val="CBD5E1"/>
                </a:solidFill>
                <a:latin typeface="Inter"/>
              </a:rPr>
              <a:t>Currency &amp; Geopolitical Risks:</a:t>
            </a:r>
            <a:r>
              <a:rPr sz="1650" b="0" i="0" u="none" dirty="0">
                <a:solidFill>
                  <a:srgbClr val="CBD5E1"/>
                </a:solidFill>
                <a:latin typeface="Inter"/>
              </a:rPr>
              <a:t> Forex fluctuations and global supply chain disruptions.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utfit"/>
              </a:rPr>
              <a:t>The Dark Side: </a:t>
            </a:r>
            <a:r>
              <a:rPr sz="3600" b="1" i="0" u="none">
                <a:solidFill>
                  <a:srgbClr val="F59E0B"/>
                </a:solidFill>
                <a:latin typeface="Outfit"/>
              </a:rPr>
              <a:t>Risk Factors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3262907"/>
            <a:ext cx="190500" cy="2000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4161829"/>
            <a:ext cx="190500" cy="2000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125" y="5100637"/>
            <a:ext cx="190500" cy="200025"/>
          </a:xfrm>
          <a:prstGeom prst="rect">
            <a:avLst/>
          </a:prstGeom>
        </p:spPr>
      </p:pic>
      <p:pic>
        <p:nvPicPr>
          <p:cNvPr id="3074" name="Picture 2" descr="Five types of strategic risks - Governance, Operational, Competitive ...">
            <a:extLst>
              <a:ext uri="{FF2B5EF4-FFF2-40B4-BE49-F238E27FC236}">
                <a16:creationId xmlns:a16="http://schemas.microsoft.com/office/drawing/2014/main" id="{755EC291-282C-4456-5EFD-A000DE7B0FE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31" t="12921" r="16690"/>
          <a:stretch>
            <a:fillRect/>
          </a:stretch>
        </p:blipFill>
        <p:spPr bwMode="auto">
          <a:xfrm>
            <a:off x="571500" y="1747924"/>
            <a:ext cx="3487918" cy="4527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213496"/>
            <a:ext cx="11049000" cy="5238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275" y="571500"/>
            <a:ext cx="11601450" cy="96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6000" b="1" i="0" u="none">
                <a:solidFill>
                  <a:srgbClr val="10B981"/>
                </a:solidFill>
                <a:latin typeface="Outfit"/>
              </a:rPr>
              <a:t>Great Job on Day 14!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1724025"/>
            <a:ext cx="11049000" cy="44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sz="2400" b="0" i="0" u="none" dirty="0">
                <a:solidFill>
                  <a:srgbClr val="F8FAFC"/>
                </a:solidFill>
                <a:latin typeface="Inter"/>
              </a:rPr>
              <a:t>Tomorrow:</a:t>
            </a:r>
            <a:r>
              <a:rPr lang="en-IN" sz="2400" b="0" i="0" u="none" dirty="0">
                <a:solidFill>
                  <a:srgbClr val="F8FAFC"/>
                </a:solidFill>
                <a:latin typeface="Inter"/>
              </a:rPr>
              <a:t> Company Analysis</a:t>
            </a:r>
            <a:r>
              <a:rPr sz="2400" b="0" i="0" u="none" dirty="0">
                <a:solidFill>
                  <a:srgbClr val="F8FAFC"/>
                </a:solidFill>
                <a:latin typeface="Inter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2402085"/>
            <a:ext cx="1104900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10B981"/>
                </a:solidFill>
                <a:latin typeface="Inter"/>
              </a:rPr>
              <a:t>Don't forget to Like, Share, and Subscribe!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1D813C-C717-C894-E59C-9771D3944F5F}"/>
              </a:ext>
            </a:extLst>
          </p:cNvPr>
          <p:cNvSpPr txBox="1"/>
          <p:nvPr/>
        </p:nvSpPr>
        <p:spPr>
          <a:xfrm>
            <a:off x="5053012" y="3508771"/>
            <a:ext cx="2085975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"/>
              </a:rPr>
              <a:t> /</a:t>
            </a:r>
            <a:r>
              <a:rPr lang="en-IN" sz="1500" dirty="0">
                <a:solidFill>
                  <a:srgbClr val="94A3B8"/>
                </a:solidFill>
                <a:latin typeface="Inter"/>
              </a:rPr>
              <a:t> @EarnJoyOfficial</a:t>
            </a:r>
            <a:endParaRPr sz="1500" b="0" i="0" u="none" dirty="0">
              <a:solidFill>
                <a:srgbClr val="94A3B8"/>
              </a:solidFill>
              <a:latin typeface="Inter"/>
            </a:endParaRPr>
          </a:p>
        </p:txBody>
      </p:sp>
      <p:pic>
        <p:nvPicPr>
          <p:cNvPr id="12" name="Picture 11" descr="image.png">
            <a:extLst>
              <a:ext uri="{FF2B5EF4-FFF2-40B4-BE49-F238E27FC236}">
                <a16:creationId xmlns:a16="http://schemas.microsoft.com/office/drawing/2014/main" id="{7CE05614-2888-D333-ACE3-F40F4CFAD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012" y="3527821"/>
            <a:ext cx="219075" cy="190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384</Words>
  <Application>Microsoft Office PowerPoint</Application>
  <PresentationFormat>Widescreen</PresentationFormat>
  <Paragraphs>29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Inter Medium</vt:lpstr>
      <vt:lpstr>Outfit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Somtirtha Das</cp:lastModifiedBy>
  <cp:revision>3</cp:revision>
  <dcterms:created xsi:type="dcterms:W3CDTF">2013-01-27T09:14:16Z</dcterms:created>
  <dcterms:modified xsi:type="dcterms:W3CDTF">2026-08-23T05:46:27Z</dcterms:modified>
  <cp:category/>
</cp:coreProperties>
</file>