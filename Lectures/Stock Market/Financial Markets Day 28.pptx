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812" y="1783258"/>
            <a:ext cx="2238375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5400" y="2440483"/>
            <a:ext cx="9601200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Outfit"/>
              </a:rPr>
              <a:t>Understanding </a:t>
            </a:r>
            <a:r>
              <a:rPr b="1" sz="5400" i="0" u="none">
                <a:solidFill>
                  <a:srgbClr val="10B981"/>
                </a:solidFill>
                <a:latin typeface="Outfit"/>
              </a:rPr>
              <a:t>Macroeconomics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4139505"/>
            <a:ext cx="9144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Inter Medium"/>
              </a:rPr>
              <a:t>The big picture: How inflation, interest rates, GDP, and government policies drive the entire stock market.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737" y="188327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504652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Inflation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is the general increase in prices and fall in the purchasing value of money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08349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Purchasing Power Erosion: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If inflation is 6% and your savings account pays 3%, you are actually getting poorer every single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2432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Cost-Push vs. Demand-Pull: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Caused either by surging production/raw material costs or excessive money supply chasing limited goods.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76514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Equity Hedge: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Quality stocks with pricing power serve as one of the best long-term defenses against high inflation.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1971675"/>
            <a:ext cx="5248275" cy="3771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Silent Wealth Killer: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Inflation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27399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6148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95564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14500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715988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Monetary Policy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192238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The Reserve Bank of India (RBI) controls the nation's monetary policy, currency issuance, and banking regulation.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828800"/>
            <a:ext cx="4057650" cy="405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7025" y="3531096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Price Stability: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RBI’s primary mandate is to keep inflation within a target band (typically 4% +/- 2%).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4765178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Lender of Last Resort: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Supervises commercial banks to ensure absolute financial stability during economic stress.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Central Bank Guardian: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RBI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550146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784228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Cost of Money:</a:t>
            </a:r>
            <a:r>
              <a:t>
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Repo Rate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08635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230338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The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Repo Rate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is the interest rate at which the central bank (RBI) lends short-term money to commercial banks.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569196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Controlling Inflation: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When inflation rises, RBI </a:t>
            </a:r>
            <a:r>
              <a:rPr b="0" sz="1650" i="1" u="none">
                <a:solidFill>
                  <a:srgbClr val="CBD5E1"/>
                </a:solidFill>
                <a:latin typeface="Inter"/>
              </a:rPr>
              <a:t>raises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repo rates. Banks then hike loan and EMI rates, cooling down consumer spending and borrowing.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908053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Market Impact: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Higher repo rates make debt expensive for corporations, often putting pressure on stock market valuations.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5367"/>
            <a:ext cx="5334000" cy="37445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85367"/>
            <a:ext cx="5334000" cy="37445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025" y="3829050"/>
            <a:ext cx="53149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25" y="2375892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What is GDP?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852142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GDP is the total monetary value of all finished goods and services produced within a country during a specific time period.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191000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Four Pillars: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Consumption + Investment + Government Spending + Net Exports (Exports minus Imports).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6025" y="3829050"/>
            <a:ext cx="531495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7025" y="2375892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Outfit"/>
              </a:rPr>
              <a:t>Real vs. Nominal GDP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852142"/>
            <a:ext cx="4552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Nominal GDP: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Measured at current market prices without adjusting for inflation.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3855839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Real GDP: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Adjusted for inflation, giving the true measure of actual economic output growth over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Economic Pulse: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Gross Domestic Product (GDP)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4303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28750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Presented annually by the Finance Minister, the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Union Budget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is the government's financial statement outlining estimated revenues and expenditures.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67607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Capital Expenditure (CapEx):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Spending on infrastructure, railways, and highways that creates long-term economic assets.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01690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Tax Proposals: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Changes in income tax slabs, corporate tax rates, and customs duties that directly impact investor sentiment.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5773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Fiscal Deficit: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The gap between total government spending and total revenue, funded through market borrowings.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63353"/>
            <a:ext cx="5248275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National Blueprint: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Union Budget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8665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2074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54823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5367"/>
            <a:ext cx="5334000" cy="37445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85367"/>
            <a:ext cx="5334000" cy="37445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025" y="3829050"/>
            <a:ext cx="53149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25" y="2375892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Expansionary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852142"/>
            <a:ext cx="4552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Used during economic downturns or recessions.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855839"/>
            <a:ext cx="45529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The government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increases public spending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and reduces taxes to put money into consumer hands, stimulating demand and business growth.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6025" y="3829050"/>
            <a:ext cx="531495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7025" y="2375892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Outfit"/>
              </a:rPr>
              <a:t>Contractionary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852142"/>
            <a:ext cx="4552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Used when the economy is overheating and inflation is running rampant.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3855839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The government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cuts back on spending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and increases taxes to slow down excessive demand and stabilize prices.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Steering the Nation: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Fiscal Policy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10B981"/>
                </a:solidFill>
                <a:latin typeface="Outfit"/>
              </a:rPr>
              <a:t>Great Job on Day 28!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8FAFC"/>
                </a:solidFill>
                <a:latin typeface="Inter"/>
              </a:rPr>
              <a:t>You have completed Day 28 - Macroeconomics &amp; Government Policies.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10B981"/>
                </a:solidFill>
                <a:latin typeface="Inter"/>
              </a:rPr>
              <a:t>Stay informed, understand the big picture, and invest wisely!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487" y="3508771"/>
            <a:ext cx="2085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/YourFinanceProfessor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4162" y="3508771"/>
            <a:ext cx="19716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@FinanceProf_Official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162" y="3527821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2" y="3527821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29284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07761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86238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068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068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2269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43572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http://googleusercontent.com/image_collection/image_retrieval/9602843645768708016_0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681436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2704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322049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http://googleusercontent.com/image_collection/image_retrieval/9372476380795389244_0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46620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1181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400526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http://googleusercontent.com/image_collection/image_retrieval/4290809392186432828_0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25097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96581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479003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http://googleusercontent.com/image_collection/image_retrieval/15996303441084782772_0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03574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229284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7761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86238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068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068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42269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66875" y="243572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https://videocdn.cdnpk.net/videos/dcc87715-3082-56ec-a9aa-f8e23f2ad7a8/horizontal/thumbnails/large.jpg?semt=ais_hybrid&amp;item_id=8892109&amp;w=740&amp;q=80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2681436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2704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6875" y="322049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https://images.squarespace-cdn.com/content/v1/511eea22e4b06642027a9a99/212fe4fc-04f3-416d-a11b-934338017e08/825+Forest+Road.jpg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346620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culturecrypt.com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11810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6875" y="400526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https://lookaside.fbsbx.com/lookaside/crawler/media/?media_id=1637236058402196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425097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96581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66875" y="479003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https://lookaside.fbsbx.com/lookaside/crawler/media/?media_id=122189068718797681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503574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