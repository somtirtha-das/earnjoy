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862" y="2358479"/>
            <a:ext cx="2200275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5455" y="3015704"/>
            <a:ext cx="8721090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Outfit"/>
              </a:rPr>
              <a:t>Decoding </a:t>
            </a:r>
            <a:r>
              <a:rPr sz="5400" b="1" i="0" u="none">
                <a:solidFill>
                  <a:srgbClr val="10B981"/>
                </a:solidFill>
                <a:latin typeface="Outfit"/>
              </a:rPr>
              <a:t>Revenue &amp; Profit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7925" y="3960465"/>
            <a:ext cx="7296150" cy="3641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 dirty="0">
                <a:solidFill>
                  <a:srgbClr val="94A3B8"/>
                </a:solidFill>
                <a:latin typeface="Inter Medium"/>
              </a:rPr>
              <a:t>The journey of a </a:t>
            </a:r>
            <a:r>
              <a:rPr lang="en-IN" sz="1950" dirty="0">
                <a:solidFill>
                  <a:srgbClr val="94A3B8"/>
                </a:solidFill>
                <a:latin typeface="Inter Medium"/>
              </a:rPr>
              <a:t>Rupee</a:t>
            </a:r>
            <a:r>
              <a:rPr sz="1950" b="0" i="0" u="none" dirty="0">
                <a:solidFill>
                  <a:srgbClr val="94A3B8"/>
                </a:solidFill>
                <a:latin typeface="Inter Medium"/>
              </a:rPr>
              <a:t>: From the Top Line to the Bottom Line.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3517" y="245849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952625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672232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Revenue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(also called Sales or the Top Line) is the total amount of money brought in by a company's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1090"/>
            <a:ext cx="49434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It sits at the very top of the Income Statement.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74851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It represents pure market demand. It is calculated before </a:t>
            </a:r>
            <a:r>
              <a:rPr sz="1650" b="0" i="1" u="none">
                <a:solidFill>
                  <a:srgbClr val="CBD5E1"/>
                </a:solidFill>
                <a:latin typeface="Inter"/>
              </a:rPr>
              <a:t>any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expenses, taxes, or salaries are deducted.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8934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Key Rule: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A business can survive without profit for a short time, but it cannot survive without revenue. No sales = No business.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1971675"/>
            <a:ext cx="5248275" cy="3771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Top Line: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Revenue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30140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93901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827984"/>
            <a:ext cx="19050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Operational Pulse:</a:t>
            </a:r>
            <a:r>
              <a:t>
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EBITDA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230338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EBITDA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stands for Earnings Before Interest, Taxes, Depreciation, and Amortization.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234035"/>
            <a:ext cx="52863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Why it matters: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It shows how much cash the core business operations are generating. It strips out the accounting rules (depreciation) and financial structure (interest).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908053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If EBITDA is negative, the core business model is flawed. The company is losing money just by opening its doors every morning.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7786"/>
            <a:ext cx="5334000" cy="40796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17786"/>
            <a:ext cx="5334000" cy="40796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208311"/>
            <a:ext cx="47805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Subtracting the Wear &amp; Tear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684561"/>
            <a:ext cx="45529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Operating Profit (or EBIT - Earnings Before Interest &amp; Taxes) is calculated by taking EBITDA and subtracting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Depreciation &amp; Amortization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358580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Depreciation accounts for the aging of physical assets (like factory machines breaking down over 10 years).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208311"/>
            <a:ext cx="47805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Outfit"/>
              </a:rPr>
              <a:t>The True Operating 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684561"/>
            <a:ext cx="45529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EBIT shows you the profit purely from operations, ignoring how the company is funded (Debt vs Equity) and ignoring government tax rates.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358580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This allows you to accurately compare the operational efficiency of two companies in the same industry.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Core Earnings: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Operating Profit (EBIT)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428750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What Belongs to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1905000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Net Profit (or Net Income) is the famous "Bottom Line". It is the final amount left over after absolutely every expense has been paid.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5498901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This is the money that actually belongs to the shareholders. It can be reinvested into the company or paid out as Dividends.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3243857"/>
            <a:ext cx="49434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Cost of Goods Sold (COGS)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3807618"/>
            <a:ext cx="49434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Operating Expenses &amp; Salaries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4371379"/>
            <a:ext cx="49434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Interest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(paying the banks)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4935140"/>
            <a:ext cx="4943475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Taxes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(paying the government)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Bottom Line: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Net Profit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3262907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3826668"/>
            <a:ext cx="19050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4390429"/>
            <a:ext cx="19050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4954190"/>
            <a:ext cx="190500" cy="200025"/>
          </a:xfrm>
          <a:prstGeom prst="rect">
            <a:avLst/>
          </a:prstGeom>
        </p:spPr>
      </p:pic>
      <p:pic>
        <p:nvPicPr>
          <p:cNvPr id="1026" name="Picture 2" descr="Gross Profit vs. Net Profit: Formula &amp; Analysis - Invoice Fly">
            <a:extLst>
              <a:ext uri="{FF2B5EF4-FFF2-40B4-BE49-F238E27FC236}">
                <a16:creationId xmlns:a16="http://schemas.microsoft.com/office/drawing/2014/main" id="{F9799DE9-1CA2-11DB-8CD1-C925D06CA6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98"/>
          <a:stretch>
            <a:fillRect/>
          </a:stretch>
        </p:blipFill>
        <p:spPr bwMode="auto">
          <a:xfrm>
            <a:off x="571500" y="2316711"/>
            <a:ext cx="4600346" cy="2524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52625"/>
            <a:ext cx="3492549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952625"/>
            <a:ext cx="3492549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52625"/>
            <a:ext cx="3492549" cy="3810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700" y="2343150"/>
            <a:ext cx="762000" cy="505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2593" y="3077170"/>
            <a:ext cx="171021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Gross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553420"/>
            <a:ext cx="2901999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Revenue minus the direct cost to make the product (COGS). Shows the raw markup power of a company's products.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2343150"/>
            <a:ext cx="762000" cy="5054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50856" y="3077170"/>
            <a:ext cx="229028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Operating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553420"/>
            <a:ext cx="2901999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EBIT divided by Revenue. Shows how efficiently management controls day-to-day business expenses like rent and salaries.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3299" y="2343150"/>
            <a:ext cx="762000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59210" y="2914650"/>
            <a:ext cx="143017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Net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4022824"/>
            <a:ext cx="2901999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For every ₹100 of sales, how many rupees does the company actually keep as final profit?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3387" y="2424410"/>
            <a:ext cx="4286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24550" y="2424410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45712" y="2343150"/>
            <a:ext cx="257175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55472" y="3486150"/>
            <a:ext cx="1237803" cy="34617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Efficiency Check: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Profit Margins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10B981"/>
                </a:solidFill>
                <a:latin typeface="Outfit"/>
              </a:rPr>
              <a:t>Great Job on Day 13!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4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0" i="0" u="none" dirty="0">
                <a:solidFill>
                  <a:srgbClr val="F8FAFC"/>
                </a:solidFill>
                <a:latin typeface="Inter"/>
              </a:rPr>
              <a:t>Tomorrow: </a:t>
            </a:r>
            <a:r>
              <a:rPr lang="en-IN" sz="2400" b="0" i="0" u="none" dirty="0">
                <a:solidFill>
                  <a:srgbClr val="F8FAFC"/>
                </a:solidFill>
                <a:latin typeface="Inter"/>
              </a:rPr>
              <a:t>Annual Reports</a:t>
            </a:r>
            <a:r>
              <a:rPr sz="2400" b="0" i="0" u="none" dirty="0">
                <a:solidFill>
                  <a:srgbClr val="F8FAFC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10B981"/>
                </a:solidFill>
                <a:latin typeface="Inter"/>
              </a:rPr>
              <a:t>Don't forget to Like, Share, and Subscribe!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8C31C3-0981-A929-D204-D6A3923C10D1}"/>
              </a:ext>
            </a:extLst>
          </p:cNvPr>
          <p:cNvSpPr txBox="1"/>
          <p:nvPr/>
        </p:nvSpPr>
        <p:spPr>
          <a:xfrm>
            <a:off x="5053012" y="3508771"/>
            <a:ext cx="208597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94A3B8"/>
                </a:solidFill>
                <a:latin typeface="Inter"/>
              </a:rPr>
              <a:t> /</a:t>
            </a:r>
            <a:r>
              <a:rPr lang="en-IN" sz="1500" dirty="0">
                <a:solidFill>
                  <a:srgbClr val="94A3B8"/>
                </a:solidFill>
                <a:latin typeface="Inter"/>
              </a:rPr>
              <a:t> @EarnJoyOfficial</a:t>
            </a:r>
            <a:endParaRPr sz="1500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167498E2-889E-BD94-1E91-259AB91FA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012" y="3527821"/>
            <a:ext cx="219075" cy="19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465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Inter</vt:lpstr>
      <vt:lpstr>Inter Medium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Somtirtha Das</cp:lastModifiedBy>
  <cp:revision>4</cp:revision>
  <dcterms:created xsi:type="dcterms:W3CDTF">2013-01-27T09:14:16Z</dcterms:created>
  <dcterms:modified xsi:type="dcterms:W3CDTF">2026-08-23T05:35:21Z</dcterms:modified>
  <cp:category/>
</cp:coreProperties>
</file>