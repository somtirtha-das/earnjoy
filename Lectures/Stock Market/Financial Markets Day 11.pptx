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592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150" y="1981348"/>
            <a:ext cx="2171700" cy="371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95400" y="2638573"/>
            <a:ext cx="9601200" cy="150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>
                <a:solidFill>
                  <a:srgbClr val="F8FAFC"/>
                </a:solidFill>
                <a:latin typeface="Outfit"/>
              </a:rPr>
              <a:t>Decoding </a:t>
            </a:r>
            <a:r>
              <a:rPr sz="5400" b="1" i="0" u="none">
                <a:solidFill>
                  <a:srgbClr val="10B981"/>
                </a:solidFill>
                <a:latin typeface="Outfit"/>
              </a:rPr>
              <a:t>Financial Statements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52675" y="3715425"/>
            <a:ext cx="748665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 dirty="0">
                <a:solidFill>
                  <a:srgbClr val="94A3B8"/>
                </a:solidFill>
                <a:latin typeface="Inter Medium"/>
              </a:rPr>
              <a:t>Reading the fundamental DNA of a company's financial health.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7805" y="2081361"/>
            <a:ext cx="1905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94650"/>
            <a:ext cx="4096345" cy="638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952625"/>
            <a:ext cx="5286375" cy="381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768375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The Balance Sheet provides a snapshot of a company's financial position at one specific, exact moment in time.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2832775"/>
            <a:ext cx="3601045" cy="238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457499"/>
            <a:ext cx="49434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>
                <a:solidFill>
                  <a:srgbClr val="CBD5E1"/>
                </a:solidFill>
                <a:latin typeface="Inter"/>
              </a:rPr>
              <a:t>Assets: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Everything the company owns (Cash, inventory, factories, patents).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56421"/>
            <a:ext cx="49434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Liabilities: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Everything the company owes to others (Bank loans, pending bills).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5343"/>
            <a:ext cx="49434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Equity: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The net worth belonging to the shareholders after all debts are paid off.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3175" y="1971675"/>
            <a:ext cx="5248275" cy="3771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Snapshot of Health: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Balance Sheet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504829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403751"/>
            <a:ext cx="19050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302673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50206"/>
            <a:ext cx="5334000" cy="44148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50206"/>
            <a:ext cx="5334000" cy="44148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2040731"/>
            <a:ext cx="478059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59E0B"/>
                </a:solidFill>
                <a:latin typeface="Outfit"/>
              </a:rPr>
              <a:t>The Top Line (Revenue)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516981"/>
            <a:ext cx="455295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While the Balance Sheet is a photograph, the P&amp;L (Income Statement) is a movie. It shows performance over a period of time (like a quarter or a year).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191000"/>
            <a:ext cx="455295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Revenue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sits at the very top. It represents the total amount of money brought in purely from sales, before a single expense is deducted. It proves market demand.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2040731"/>
            <a:ext cx="478059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Outfit"/>
              </a:rPr>
              <a:t>The Bottom Line (Net Profit)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516981"/>
            <a:ext cx="455295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This is what remains after you deduct the cost of goods, employee salaries, rent, marketing, taxes, and interest payments from the Revenue.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4191000"/>
            <a:ext cx="455295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It represents the true operational efficiency of the business. A company can have massive revenue but zero profit if costs are out of control.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The Business Movie: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Profit &amp; Loss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99739"/>
            <a:ext cx="5550693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The Reality Check:</a:t>
            </a:r>
            <a:r>
              <a:t>
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Cash Flow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728489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Profit is an opinion, but </a:t>
            </a:r>
            <a:r>
              <a:rPr sz="1650" b="1" i="0" u="none">
                <a:solidFill>
                  <a:srgbClr val="CBD5E1"/>
                </a:solidFill>
                <a:latin typeface="Inter"/>
              </a:rPr>
              <a:t>cash is a fact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. A company can show huge profits on the P&amp;L but still go bankrupt if cash isn't actually hitting the bank.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067347"/>
            <a:ext cx="52863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Operating Cash Flow: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Money generated directly from day-to-day core business operations.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071044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Investing Cash Flow: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Money spent or made from buying/selling physical assets, equipment, or other businesses.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5409902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Financing Cash Flow: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Money flowing between the company and its investors or lenders (taking loans, paying dividends).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52625"/>
            <a:ext cx="3492549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952625"/>
            <a:ext cx="3492549" cy="3810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952625"/>
            <a:ext cx="3492549" cy="3810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6700" y="2343150"/>
            <a:ext cx="762000" cy="505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07586" y="3077170"/>
            <a:ext cx="182022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Outfit"/>
              </a:rPr>
              <a:t>Balance Sheet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553420"/>
            <a:ext cx="2901999" cy="167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Evaluates the long-term wealth, leverage, and foundational stability of the company. Shows what you own vs. what you owe.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2343150"/>
            <a:ext cx="762000" cy="5054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95900" y="3077170"/>
            <a:ext cx="16002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Outfit"/>
              </a:rPr>
              <a:t>Profit &amp; Loss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3553420"/>
            <a:ext cx="2901999" cy="167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Tracks the operational performance and profitability over a specific timeframe. Tells you if the business model is actually working.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3299" y="2343150"/>
            <a:ext cx="762000" cy="5054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14217" y="3077170"/>
            <a:ext cx="132016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Outfit"/>
              </a:rPr>
              <a:t>Cash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3553420"/>
            <a:ext cx="2901999" cy="167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The ultimate lie detector. Proves whether the profits shown on the P&amp;L are translating into actual, usable cash in the bank.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3387" y="2424410"/>
            <a:ext cx="428625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24550" y="2424410"/>
            <a:ext cx="3429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79037" y="2424410"/>
            <a:ext cx="390525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The Holy Trinity of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Finance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13496"/>
            <a:ext cx="11049000" cy="523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571500"/>
            <a:ext cx="11601450" cy="962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10B981"/>
                </a:solidFill>
                <a:latin typeface="Outfit"/>
              </a:rPr>
              <a:t>Great Job on Day 11!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724025"/>
            <a:ext cx="11049000" cy="44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sz="2400" b="0" i="0" u="none" dirty="0">
                <a:solidFill>
                  <a:srgbClr val="F8FAFC"/>
                </a:solidFill>
                <a:latin typeface="Inter"/>
              </a:rPr>
              <a:t>Tomorrow: </a:t>
            </a:r>
            <a:r>
              <a:rPr lang="en-US" sz="2400" dirty="0">
                <a:solidFill>
                  <a:srgbClr val="F8FAFC"/>
                </a:solidFill>
                <a:latin typeface="Inter"/>
              </a:rPr>
              <a:t>Important Ratios</a:t>
            </a:r>
            <a:r>
              <a:rPr sz="2400" b="0" i="0" u="none" dirty="0">
                <a:solidFill>
                  <a:srgbClr val="F8FAFC"/>
                </a:solidFill>
                <a:latin typeface="Inter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02085"/>
            <a:ext cx="110490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10B981"/>
                </a:solidFill>
                <a:latin typeface="Inter"/>
              </a:rPr>
              <a:t>Don't forget to Like, Share, and Subscribe!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AE1339-018C-856C-F699-B7F700E2673A}"/>
              </a:ext>
            </a:extLst>
          </p:cNvPr>
          <p:cNvSpPr txBox="1"/>
          <p:nvPr/>
        </p:nvSpPr>
        <p:spPr>
          <a:xfrm>
            <a:off x="5053012" y="3508771"/>
            <a:ext cx="208597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94A3B8"/>
                </a:solidFill>
                <a:latin typeface="Inter"/>
              </a:rPr>
              <a:t> /</a:t>
            </a:r>
            <a:r>
              <a:rPr lang="en-IN" sz="1500" dirty="0">
                <a:solidFill>
                  <a:srgbClr val="94A3B8"/>
                </a:solidFill>
                <a:latin typeface="Inter"/>
              </a:rPr>
              <a:t> @EarnJoyOfficial</a:t>
            </a:r>
            <a:endParaRPr sz="1500" b="0" i="0" u="none" dirty="0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D3E628C3-6148-9EB4-F1A8-6E46B97D94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3012" y="3527821"/>
            <a:ext cx="21907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978497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39518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9518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2704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6875" y="3121372"/>
            <a:ext cx="995362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https://media.istockphoto.com/id/2236221040/video/tracking-shot-of-growing-price-chart-of-gold-with-increasing-stacks-of-gold-coins.jpg?s=640x640&amp;k=20&amp;c=fx2fKO7Qg9dAZ3SvJCKM2b_w2_hoPLiFkv07088dvfw=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3565177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www.istockphoto.com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110781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4104233"/>
            <a:ext cx="995362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https://media.easy-peasy.ai/2e70fc80-2b38-4551-b5d8-29d49610cf7a/2a2c37c5-87d5-430f-a5b3-95a80665329f.png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4349948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easy-peasy.ai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492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Inter</vt:lpstr>
      <vt:lpstr>Inter Medium</vt:lpstr>
      <vt:lpstr>Outfit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Somtirtha Das</cp:lastModifiedBy>
  <cp:revision>2</cp:revision>
  <dcterms:created xsi:type="dcterms:W3CDTF">2013-01-27T09:14:16Z</dcterms:created>
  <dcterms:modified xsi:type="dcterms:W3CDTF">2026-08-19T09:32:33Z</dcterms:modified>
  <cp:category/>
</cp:coreProperties>
</file>