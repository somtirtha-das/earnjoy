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862" y="2160389"/>
            <a:ext cx="2200275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00400" y="2817614"/>
            <a:ext cx="9591198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Mastering 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Company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62375"/>
            <a:ext cx="91440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4A3B8"/>
                </a:solidFill>
                <a:latin typeface="Inter Medium"/>
              </a:rPr>
              <a:t>Moving beyond the numbers: How to evaluate a company's core DNA, competitive moat, and strategic position.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517" y="226040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4303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Before investing a single rupee, you must be able to answer one simple question: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How does this company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67607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Revenue Streams: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Is it a B2B SaaS subscription, a direct retail product sale, or a high-margin advertising model?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01690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Pricing Power: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Can the business raise prices during inflation without losing customers to competitors?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5773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Unit Economics: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Does every individual transaction generate a healthy profit margin after accounting for acquisition costs?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3353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Blueprint: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Business Model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665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2074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54823"/>
            <a:ext cx="190500" cy="200025"/>
          </a:xfrm>
          <a:prstGeom prst="rect">
            <a:avLst/>
          </a:prstGeom>
        </p:spPr>
      </p:pic>
      <p:pic>
        <p:nvPicPr>
          <p:cNvPr id="1026" name="Picture 2" descr="Business Model: Definition and 13 Examples">
            <a:extLst>
              <a:ext uri="{FF2B5EF4-FFF2-40B4-BE49-F238E27FC236}">
                <a16:creationId xmlns:a16="http://schemas.microsoft.com/office/drawing/2014/main" id="{9444B5F8-D23B-1E6E-8AFC-B6C9768BE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25" y="2044303"/>
            <a:ext cx="5267325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17786"/>
            <a:ext cx="5334000" cy="40796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17786"/>
            <a:ext cx="5334000" cy="40796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208311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What is an Economic Moat?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84561"/>
            <a:ext cx="45529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Popularized by Warren Buffett, a moat is a structural feature that allows a company to protect its long-term profits from hungry competitors.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358580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Network Effects: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platform becomes more valuable the more users join (e.g., Visa, stock exchanges, social networks).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208311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Brand &amp; Switching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684561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Intangible Assets: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Strong patents, regulatory licenses, or iconic brand loyalty that commands premium pricing power.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023419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High Switching Costs: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pain, cost, or time required for a customer to switch to a rival software or service is simply too high.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Castle Wall: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Competitive Advantage (Moat)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Playing Field:</a:t>
            </a:r>
            <a:r>
              <a:t>
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97918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Even the greatest management team cannot succeed if they operate in a shrinking, sunset industry.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01615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Porter's Five Forces: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Analyze supplier power, buyer power, threat of new substitutes, rivalry among existing competitors, and barriers to entry.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40473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Secular Tailwinds: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Look for industries backed by massive structural growth trends—such as clean energy, digital transformation, or financial inclusion.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258876-F8F7-2F0D-6633-0635DDE68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052" y="2510570"/>
            <a:ext cx="5363770" cy="32182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42875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Internal vs. External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1905000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SWOT framework organizes a company's strategic position into four core quadrants: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5376862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great investor looks for companies that exploit strengths to capture opportunities while mitigating external threats.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2908696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Strengths &amp; Weaknesses: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Internal factors (management quality, cash reserves, operational efficiencies).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4142779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Opportunities &amp; Threats: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External market conditions (emerging consumer trends, regulatory changes, macroeconomic shocks).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Strategic Matrix: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SWOT Analysis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927746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4161829"/>
            <a:ext cx="190500" cy="200025"/>
          </a:xfrm>
          <a:prstGeom prst="rect">
            <a:avLst/>
          </a:prstGeom>
        </p:spPr>
      </p:pic>
      <p:pic>
        <p:nvPicPr>
          <p:cNvPr id="3074" name="Picture 2" descr="3 Easy Steps to Create a SWOT Analysis - BNI">
            <a:extLst>
              <a:ext uri="{FF2B5EF4-FFF2-40B4-BE49-F238E27FC236}">
                <a16:creationId xmlns:a16="http://schemas.microsoft.com/office/drawing/2014/main" id="{20DE7493-D4A5-73E3-823E-91EA569E3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56" y="2093538"/>
            <a:ext cx="4937213" cy="3706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0B981"/>
                </a:solidFill>
                <a:latin typeface="Outfit"/>
              </a:rPr>
              <a:t>Great Job on Day 15!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4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 dirty="0">
                <a:solidFill>
                  <a:srgbClr val="F8FAFC"/>
                </a:solidFill>
                <a:latin typeface="Inter"/>
              </a:rPr>
              <a:t>Tomorrow: Day 16 -</a:t>
            </a:r>
            <a:r>
              <a:rPr lang="en-IN" sz="2400" b="0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lang="en-US" sz="2400" b="0" i="0" u="none" dirty="0">
                <a:solidFill>
                  <a:srgbClr val="F8FAFC"/>
                </a:solidFill>
                <a:latin typeface="Inter"/>
              </a:rPr>
              <a:t>The Art of Value Investing</a:t>
            </a:r>
            <a:r>
              <a:rPr sz="2400" b="0" i="0" u="none" dirty="0">
                <a:solidFill>
                  <a:srgbClr val="F8FAFC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67192A-A231-5175-D538-29441E717166}"/>
              </a:ext>
            </a:extLst>
          </p:cNvPr>
          <p:cNvSpPr txBox="1"/>
          <p:nvPr/>
        </p:nvSpPr>
        <p:spPr>
          <a:xfrm>
            <a:off x="5053012" y="3508771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"/>
              </a:rPr>
              <a:t> /</a:t>
            </a:r>
            <a:r>
              <a:rPr lang="en-IN" sz="1500" dirty="0">
                <a:solidFill>
                  <a:srgbClr val="94A3B8"/>
                </a:solidFill>
                <a:latin typeface="Inter"/>
              </a:rPr>
              <a:t> @EarnJoyOfficial</a:t>
            </a: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D6B18696-51B3-CAAC-19E6-FFB373F1F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012" y="3527821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403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Inter Medium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Somtirtha Das</cp:lastModifiedBy>
  <cp:revision>2</cp:revision>
  <dcterms:created xsi:type="dcterms:W3CDTF">2013-01-27T09:14:16Z</dcterms:created>
  <dcterms:modified xsi:type="dcterms:W3CDTF">2026-09-17T16:11:24Z</dcterms:modified>
  <cp:category/>
</cp:coreProperties>
</file>