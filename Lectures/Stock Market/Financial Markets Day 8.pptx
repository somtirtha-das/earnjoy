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58479"/>
            <a:ext cx="213360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05526" y="3015704"/>
            <a:ext cx="7580947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Mastering 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Order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7025" y="3960465"/>
            <a:ext cx="645795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4A3B8"/>
                </a:solidFill>
                <a:latin typeface="Inter Medium"/>
              </a:rPr>
              <a:t>The essential tools you need to buy and sell like a pro.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855" y="245849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39813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Market Order is an instruction to buy or sell a stock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immediately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at the current best available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43510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Guaranteed Execution: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Your order will almost certainly go through instantly.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2432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No Price Guarantee: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You take whatever price the market offers at that exact second.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41353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Beware of Slippage: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In fast-moving or low-volume markets, the final price might be slightly worse than what you saw on the screen.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Need for Speed: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Market Order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19122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8044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1696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04652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Limit Order allows you to set the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exact maximum price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you are willing to pay, or the minimum you are willing to accept.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43510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Price Control: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You dictate the terms. If the stock trades at ₹105, you can place a limit order to buy only if it drops to ₹100.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77592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No Execution Guarantee: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If the stock never reaches your specified limit price, your order will remain unfilled and eventually expire.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11675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Best for Patience: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Ideal for investors who want a specific entry point and refuse to overpay.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46291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Bargain Hunter: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Limit Order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19122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53204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87287"/>
            <a:ext cx="190500" cy="200025"/>
          </a:xfrm>
          <a:prstGeom prst="rect">
            <a:avLst/>
          </a:prstGeom>
        </p:spPr>
      </p:pic>
      <p:pic>
        <p:nvPicPr>
          <p:cNvPr id="1026" name="Picture 2" descr="What is a Limit Order in Stocks? Beginner's Guide - StockApps">
            <a:extLst>
              <a:ext uri="{FF2B5EF4-FFF2-40B4-BE49-F238E27FC236}">
                <a16:creationId xmlns:a16="http://schemas.microsoft.com/office/drawing/2014/main" id="{B71570DA-734D-C091-7166-D122433DA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175" y="1952624"/>
            <a:ext cx="52673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Your Safety Net:</a:t>
            </a:r>
            <a:r>
              <a:t>
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Stop Loss (SL)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30338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Stop Loss order is an automatic trigger designed to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limit your potential losses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on a trade.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34035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How it works: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If you buy a stock at ₹100, you can place a Stop Loss at ₹95. If the price falls to ₹95, your order automatically converts into a Market Order to sell.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08053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Why it's crucial: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It takes the emotion out of trading. It acts as an insurance policy, ensuring a small loss never turns into a catastrophic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5367"/>
            <a:ext cx="5334000" cy="37445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85367"/>
            <a:ext cx="5334000" cy="37445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375892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1. The Trigger (Stop Price)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52142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This is the activation point. When the stock reaches this specific price, your order wakes up and becomes active.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91000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Unlike a regular Stop Loss, it does </a:t>
            </a:r>
            <a:r>
              <a:rPr sz="1650" b="0" i="1" u="none">
                <a:solidFill>
                  <a:srgbClr val="CBD5E1"/>
                </a:solidFill>
                <a:latin typeface="Inter"/>
              </a:rPr>
              <a:t>not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immediately sell at the market price. Instead, it triggers the next step.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375892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2. The Execution (Limit Price)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852142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Once triggered, your order is placed on the exchange as a strict Limit Order. It will only execute at this exact price or better.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191000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Use Case: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Prevents your stop loss from triggering a massive slippage sell-off during a sudden flash crash.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Precision Protection: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Stop Limit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874043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Good Till Triggered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350293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Most standard orders expire at the end of the trading day. If they aren't filled by 3:30 PM, they are canceled.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689151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The Solution: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GTT orders remain active in the system for up to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1 entire year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(or until triggered).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4692848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Perfect for: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Busy students and part-time investors who can't watch the screen all day but want to buy a stock if it ever crashes 20% in the future.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Set It &amp; Forget It: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GTT Orders</a:t>
            </a:r>
          </a:p>
        </p:txBody>
      </p:sp>
      <p:pic>
        <p:nvPicPr>
          <p:cNvPr id="2050" name="Picture 2" descr="GTT (EPA:GTT) | GTT's 2024 Financial Results: Record Growth Amid a ...">
            <a:extLst>
              <a:ext uri="{FF2B5EF4-FFF2-40B4-BE49-F238E27FC236}">
                <a16:creationId xmlns:a16="http://schemas.microsoft.com/office/drawing/2014/main" id="{F301A9C9-48A6-B6D4-0E34-48814A812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792485"/>
            <a:ext cx="4279267" cy="3793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43175"/>
            <a:ext cx="5286375" cy="2628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124200"/>
            <a:ext cx="450532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  <a:defRPr/>
            </a:pPr>
            <a:r>
              <a:rPr sz="8250" b="1" i="0" u="none">
                <a:solidFill>
                  <a:srgbClr val="3B82F6"/>
                </a:solidFill>
                <a:latin typeface="Outfit"/>
              </a:rPr>
              <a:t>IOC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267200"/>
            <a:ext cx="45053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Inter SemiBold"/>
              </a:rPr>
              <a:t>IMMEDIATE OR CANCEL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1706463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Zero Patience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182713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An IOC order dictates that the trade must be executed the very millisecond it reaches the exchange.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3521571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Partial Fills Allowed: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If you want to buy 1,000 shares but only 400 are available instantly, the system will buy the 400 and immediately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cancel the remaining 600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5195589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It never sits in the order book waiting. It's either filled right now, or thrown away.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Now or Never: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IOC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2625"/>
            <a:ext cx="3492549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52625"/>
            <a:ext cx="3492549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52625"/>
            <a:ext cx="3492549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343150"/>
            <a:ext cx="762000" cy="505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52617" y="3077170"/>
            <a:ext cx="133016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Activation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53420"/>
            <a:ext cx="290199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Day Order becomes active the moment it is placed during regular market hours, aiming for your limit or market target.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343150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25928" y="3333750"/>
            <a:ext cx="114014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810000"/>
            <a:ext cx="2901999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It remains patiently in the exchange's order book for the entirety of the trading session (until 3:30 PM IST).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299" y="2343150"/>
            <a:ext cx="762000" cy="5054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64198" y="3077170"/>
            <a:ext cx="162020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Cancellation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553420"/>
            <a:ext cx="290199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If the order is not filled by the closing bell, the system automatically deletes it. You must place a new order tomorrow.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6250" y="2424410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550" y="2552700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1899" y="2424410"/>
            <a:ext cx="3048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Default Standard: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Day Order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0B981"/>
                </a:solidFill>
                <a:latin typeface="Outfit"/>
              </a:rPr>
              <a:t>Great Job on Day 8!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4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 dirty="0">
                <a:solidFill>
                  <a:srgbClr val="F8FAFC"/>
                </a:solidFill>
                <a:latin typeface="Inter"/>
              </a:rPr>
              <a:t>Tomorrow: </a:t>
            </a:r>
            <a:r>
              <a:rPr lang="en-US" sz="2400" dirty="0">
                <a:solidFill>
                  <a:srgbClr val="F8FAFC"/>
                </a:solidFill>
                <a:latin typeface="Inter"/>
              </a:rPr>
              <a:t>Trading Sessions</a:t>
            </a:r>
            <a:r>
              <a:rPr sz="2400" b="0" i="0" u="none" dirty="0">
                <a:solidFill>
                  <a:srgbClr val="F8FAFC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AAD3C0-98E2-68BE-80BE-744B79A4F73A}"/>
              </a:ext>
            </a:extLst>
          </p:cNvPr>
          <p:cNvSpPr txBox="1"/>
          <p:nvPr/>
        </p:nvSpPr>
        <p:spPr>
          <a:xfrm>
            <a:off x="5053012" y="3508771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"/>
              </a:rPr>
              <a:t> /</a:t>
            </a:r>
            <a:r>
              <a:rPr lang="en-IN" sz="1500" dirty="0">
                <a:solidFill>
                  <a:srgbClr val="94A3B8"/>
                </a:solidFill>
                <a:latin typeface="Inter"/>
              </a:rPr>
              <a:t> @EarnJoyOfficial</a:t>
            </a: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0ECAE8C9-8E45-00D4-3103-3109DEF58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012" y="3527821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685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Inter</vt:lpstr>
      <vt:lpstr>Inter Medium</vt:lpstr>
      <vt:lpstr>Inter SemiBold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Somtirtha Das</cp:lastModifiedBy>
  <cp:revision>3</cp:revision>
  <dcterms:created xsi:type="dcterms:W3CDTF">2013-01-27T09:14:16Z</dcterms:created>
  <dcterms:modified xsi:type="dcterms:W3CDTF">2026-08-19T09:21:12Z</dcterms:modified>
  <cp:category/>
</cp:coreProperties>
</file>