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592"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033962" y="1981348"/>
            <a:ext cx="2124075" cy="371475"/>
          </a:xfrm>
          <a:prstGeom prst="rect">
            <a:avLst/>
          </a:prstGeom>
        </p:spPr>
      </p:pic>
      <p:sp>
        <p:nvSpPr>
          <p:cNvPr id="4" name="TextBox 3"/>
          <p:cNvSpPr txBox="1"/>
          <p:nvPr/>
        </p:nvSpPr>
        <p:spPr>
          <a:xfrm>
            <a:off x="3065621" y="2638573"/>
            <a:ext cx="6060757" cy="1508521"/>
          </a:xfrm>
          <a:prstGeom prst="rect">
            <a:avLst/>
          </a:prstGeom>
          <a:noFill/>
        </p:spPr>
        <p:txBody>
          <a:bodyPr wrap="square" lIns="0" tIns="0" rIns="0" bIns="0" anchor="t">
            <a:spAutoFit/>
          </a:bodyPr>
          <a:lstStyle/>
          <a:p>
            <a:pPr algn="ctr">
              <a:lnSpc>
                <a:spcPts val="5940"/>
              </a:lnSpc>
            </a:pPr>
            <a:r>
              <a:rPr sz="5400" b="1" i="0" u="none">
                <a:solidFill>
                  <a:srgbClr val="F8FAFC"/>
                </a:solidFill>
                <a:latin typeface="Outfit"/>
              </a:rPr>
              <a:t>Primary vs.</a:t>
            </a:r>
            <a:r>
              <a:t>
</a:t>
            </a:r>
            <a:r>
              <a:rPr sz="5400" b="1" i="0" u="none">
                <a:solidFill>
                  <a:srgbClr val="10B981"/>
                </a:solidFill>
                <a:latin typeface="Outfit"/>
              </a:rPr>
              <a:t>Secondary Market</a:t>
            </a:r>
          </a:p>
        </p:txBody>
      </p:sp>
      <p:sp>
        <p:nvSpPr>
          <p:cNvPr id="5" name="TextBox 4"/>
          <p:cNvSpPr txBox="1"/>
          <p:nvPr/>
        </p:nvSpPr>
        <p:spPr>
          <a:xfrm>
            <a:off x="3105150" y="4337595"/>
            <a:ext cx="5981700" cy="396180"/>
          </a:xfrm>
          <a:prstGeom prst="rect">
            <a:avLst/>
          </a:prstGeom>
          <a:noFill/>
        </p:spPr>
        <p:txBody>
          <a:bodyPr wrap="square" lIns="0" tIns="0" rIns="0" bIns="0" anchor="t">
            <a:spAutoFit/>
          </a:bodyPr>
          <a:lstStyle/>
          <a:p>
            <a:pPr algn="ctr">
              <a:lnSpc>
                <a:spcPts val="3120"/>
              </a:lnSpc>
            </a:pPr>
            <a:r>
              <a:rPr sz="1950" b="0" i="0" u="none">
                <a:solidFill>
                  <a:srgbClr val="94A3B8"/>
                </a:solidFill>
                <a:latin typeface="Inter Medium"/>
              </a:rPr>
              <a:t>How Companies Raise Capital &amp; How You Trade It.</a:t>
            </a:r>
          </a:p>
        </p:txBody>
      </p:sp>
      <p:pic>
        <p:nvPicPr>
          <p:cNvPr id="6" name="Picture 5" descr="image.png"/>
          <p:cNvPicPr>
            <a:picLocks noChangeAspect="1"/>
          </p:cNvPicPr>
          <p:nvPr/>
        </p:nvPicPr>
        <p:blipFill>
          <a:blip r:embed="rId4"/>
          <a:stretch>
            <a:fillRect/>
          </a:stretch>
        </p:blipFill>
        <p:spPr>
          <a:xfrm>
            <a:off x="5101617" y="2081361"/>
            <a:ext cx="190500"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50206"/>
            <a:ext cx="5334000" cy="4414837"/>
          </a:xfrm>
          <a:prstGeom prst="rect">
            <a:avLst/>
          </a:prstGeom>
        </p:spPr>
      </p:pic>
      <p:pic>
        <p:nvPicPr>
          <p:cNvPr id="4" name="Picture 3" descr="image.png"/>
          <p:cNvPicPr>
            <a:picLocks noChangeAspect="1"/>
          </p:cNvPicPr>
          <p:nvPr/>
        </p:nvPicPr>
        <p:blipFill>
          <a:blip r:embed="rId4"/>
          <a:stretch>
            <a:fillRect/>
          </a:stretch>
        </p:blipFill>
        <p:spPr>
          <a:xfrm>
            <a:off x="6286500" y="1650206"/>
            <a:ext cx="5334000" cy="4414837"/>
          </a:xfrm>
          <a:prstGeom prst="rect">
            <a:avLst/>
          </a:prstGeom>
        </p:spPr>
      </p:pic>
      <p:sp>
        <p:nvSpPr>
          <p:cNvPr id="6" name="TextBox 5"/>
          <p:cNvSpPr txBox="1"/>
          <p:nvPr/>
        </p:nvSpPr>
        <p:spPr>
          <a:xfrm>
            <a:off x="962025" y="2040731"/>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Primary Market</a:t>
            </a:r>
          </a:p>
        </p:txBody>
      </p:sp>
      <p:sp>
        <p:nvSpPr>
          <p:cNvPr id="7" name="TextBox 6"/>
          <p:cNvSpPr txBox="1"/>
          <p:nvPr/>
        </p:nvSpPr>
        <p:spPr>
          <a:xfrm>
            <a:off x="962025" y="2516981"/>
            <a:ext cx="455295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This is where the actual capital is raised. The transaction happens directly between the </a:t>
            </a:r>
            <a:r>
              <a:rPr sz="1650" b="1" i="0" u="none">
                <a:solidFill>
                  <a:srgbClr val="CBD5E1"/>
                </a:solidFill>
                <a:latin typeface="Inter"/>
              </a:rPr>
              <a:t>Company</a:t>
            </a:r>
            <a:r>
              <a:rPr sz="1650" b="0" i="0" u="none">
                <a:solidFill>
                  <a:srgbClr val="CBD5E1"/>
                </a:solidFill>
                <a:latin typeface="Inter"/>
              </a:rPr>
              <a:t> and the </a:t>
            </a:r>
            <a:r>
              <a:rPr sz="1650" b="1" i="0" u="none">
                <a:solidFill>
                  <a:srgbClr val="CBD5E1"/>
                </a:solidFill>
                <a:latin typeface="Inter"/>
              </a:rPr>
              <a:t>Investor</a:t>
            </a:r>
            <a:r>
              <a:rPr sz="1650" b="0" i="0" u="none">
                <a:solidFill>
                  <a:srgbClr val="CBD5E1"/>
                </a:solidFill>
                <a:latin typeface="Inter"/>
              </a:rPr>
              <a:t>.</a:t>
            </a:r>
          </a:p>
        </p:txBody>
      </p:sp>
      <p:sp>
        <p:nvSpPr>
          <p:cNvPr id="8" name="TextBox 7"/>
          <p:cNvSpPr txBox="1"/>
          <p:nvPr/>
        </p:nvSpPr>
        <p:spPr>
          <a:xfrm>
            <a:off x="962025" y="3855839"/>
            <a:ext cx="455295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Think of it as buying a brand new car straight from the manufacturer showroom. The money you pay goes directly to the company to fund their growth, factories, and operations.</a:t>
            </a:r>
          </a:p>
        </p:txBody>
      </p:sp>
      <p:sp>
        <p:nvSpPr>
          <p:cNvPr id="10" name="TextBox 9"/>
          <p:cNvSpPr txBox="1"/>
          <p:nvPr/>
        </p:nvSpPr>
        <p:spPr>
          <a:xfrm>
            <a:off x="6677025" y="2040731"/>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Secondary Market</a:t>
            </a:r>
          </a:p>
        </p:txBody>
      </p:sp>
      <p:sp>
        <p:nvSpPr>
          <p:cNvPr id="11" name="TextBox 10"/>
          <p:cNvSpPr txBox="1"/>
          <p:nvPr/>
        </p:nvSpPr>
        <p:spPr>
          <a:xfrm>
            <a:off x="6677025" y="2516981"/>
            <a:ext cx="455295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This is where liquidity is provided. The transaction happens between </a:t>
            </a:r>
            <a:r>
              <a:rPr sz="1650" b="1" i="0" u="none">
                <a:solidFill>
                  <a:srgbClr val="CBD5E1"/>
                </a:solidFill>
                <a:latin typeface="Inter"/>
              </a:rPr>
              <a:t>Investor</a:t>
            </a:r>
            <a:r>
              <a:rPr sz="1650" b="0" i="0" u="none">
                <a:solidFill>
                  <a:srgbClr val="CBD5E1"/>
                </a:solidFill>
                <a:latin typeface="Inter"/>
              </a:rPr>
              <a:t> and </a:t>
            </a:r>
            <a:r>
              <a:rPr sz="1650" b="1" i="0" u="none">
                <a:solidFill>
                  <a:srgbClr val="CBD5E1"/>
                </a:solidFill>
                <a:latin typeface="Inter"/>
              </a:rPr>
              <a:t>Investor</a:t>
            </a:r>
            <a:r>
              <a:rPr sz="1650" b="0" i="0" u="none">
                <a:solidFill>
                  <a:srgbClr val="CBD5E1"/>
                </a:solidFill>
                <a:latin typeface="Inter"/>
              </a:rPr>
              <a:t>.</a:t>
            </a:r>
          </a:p>
        </p:txBody>
      </p:sp>
      <p:sp>
        <p:nvSpPr>
          <p:cNvPr id="12" name="TextBox 11"/>
          <p:cNvSpPr txBox="1"/>
          <p:nvPr/>
        </p:nvSpPr>
        <p:spPr>
          <a:xfrm>
            <a:off x="6677025" y="3855839"/>
            <a:ext cx="4552950" cy="1675804"/>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Think of it like selling that car later on OLX to another person. The manufacturer (the company) is not involved, and the money just changes hands between the two of you. This is what you see flashing red and green on TV.</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a:t>
            </a:r>
            <a:r>
              <a:rPr sz="3600" b="1" i="0" u="none">
                <a:solidFill>
                  <a:srgbClr val="F59E0B"/>
                </a:solidFill>
                <a:latin typeface="Outfit"/>
              </a:rPr>
              <a:t>Big Picture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44303"/>
            <a:ext cx="5286375" cy="3810000"/>
          </a:xfrm>
          <a:prstGeom prst="rect">
            <a:avLst/>
          </a:prstGeom>
        </p:spPr>
      </p:pic>
      <p:sp>
        <p:nvSpPr>
          <p:cNvPr id="4" name="TextBox 3"/>
          <p:cNvSpPr txBox="1"/>
          <p:nvPr/>
        </p:nvSpPr>
        <p:spPr>
          <a:xfrm>
            <a:off x="571500" y="142875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An IPO is a monumental event in a company's lifecycle. It is the very first time a private company offers its shares to the general public.</a:t>
            </a:r>
          </a:p>
        </p:txBody>
      </p:sp>
      <p:sp>
        <p:nvSpPr>
          <p:cNvPr id="5" name="TextBox 4"/>
          <p:cNvSpPr txBox="1"/>
          <p:nvPr/>
        </p:nvSpPr>
        <p:spPr>
          <a:xfrm>
            <a:off x="914400" y="2767607"/>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Goal:</a:t>
            </a:r>
            <a:r>
              <a:rPr sz="1650" b="0" i="0" u="none">
                <a:solidFill>
                  <a:srgbClr val="CBD5E1"/>
                </a:solidFill>
                <a:latin typeface="Inter"/>
              </a:rPr>
              <a:t> To raise massive amounts of capital for expansion, paying off debts, or allowing early investors to exit.</a:t>
            </a:r>
          </a:p>
        </p:txBody>
      </p:sp>
      <p:sp>
        <p:nvSpPr>
          <p:cNvPr id="6" name="TextBox 5"/>
          <p:cNvSpPr txBox="1"/>
          <p:nvPr/>
        </p:nvSpPr>
        <p:spPr>
          <a:xfrm>
            <a:off x="914400" y="4001690"/>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Process:</a:t>
            </a:r>
            <a:r>
              <a:rPr sz="1650" b="0" i="0" u="none">
                <a:solidFill>
                  <a:srgbClr val="CBD5E1"/>
                </a:solidFill>
                <a:latin typeface="Inter"/>
              </a:rPr>
              <a:t> The company files a DRHP (Draft Red Herring Prospectus) with SEBI, detailing its financials, risks, and plans.</a:t>
            </a:r>
          </a:p>
        </p:txBody>
      </p:sp>
      <p:sp>
        <p:nvSpPr>
          <p:cNvPr id="7" name="TextBox 6"/>
          <p:cNvSpPr txBox="1"/>
          <p:nvPr/>
        </p:nvSpPr>
        <p:spPr>
          <a:xfrm>
            <a:off x="914400" y="5235773"/>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Result:</a:t>
            </a:r>
            <a:r>
              <a:rPr sz="1650" b="0" i="0" u="none">
                <a:solidFill>
                  <a:srgbClr val="CBD5E1"/>
                </a:solidFill>
                <a:latin typeface="Inter"/>
              </a:rPr>
              <a:t> After a successful IPO, the company transitions from 'Private' to 'Publicly Traded', and gets listed on the NSE and BSE.</a:t>
            </a:r>
          </a:p>
        </p:txBody>
      </p:sp>
      <p:pic>
        <p:nvPicPr>
          <p:cNvPr id="8" name="Picture 7" descr="image.png"/>
          <p:cNvPicPr>
            <a:picLocks noChangeAspect="1"/>
          </p:cNvPicPr>
          <p:nvPr/>
        </p:nvPicPr>
        <p:blipFill>
          <a:blip r:embed="rId4"/>
          <a:stretch>
            <a:fillRect/>
          </a:stretch>
        </p:blipFill>
        <p:spPr>
          <a:xfrm>
            <a:off x="6353175" y="2063353"/>
            <a:ext cx="5248275" cy="377190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IPO </a:t>
            </a:r>
            <a:r>
              <a:rPr sz="3600" b="1" i="0" u="none">
                <a:solidFill>
                  <a:srgbClr val="F59E0B"/>
                </a:solidFill>
                <a:latin typeface="Outfit"/>
              </a:rPr>
              <a:t>(Initial Public Offering)</a:t>
            </a:r>
          </a:p>
        </p:txBody>
      </p:sp>
      <p:pic>
        <p:nvPicPr>
          <p:cNvPr id="10" name="Picture 9" descr="image.png"/>
          <p:cNvPicPr>
            <a:picLocks noChangeAspect="1"/>
          </p:cNvPicPr>
          <p:nvPr/>
        </p:nvPicPr>
        <p:blipFill>
          <a:blip r:embed="rId5"/>
          <a:stretch>
            <a:fillRect/>
          </a:stretch>
        </p:blipFill>
        <p:spPr>
          <a:xfrm>
            <a:off x="571500" y="2786657"/>
            <a:ext cx="190500" cy="200025"/>
          </a:xfrm>
          <a:prstGeom prst="rect">
            <a:avLst/>
          </a:prstGeom>
        </p:spPr>
      </p:pic>
      <p:pic>
        <p:nvPicPr>
          <p:cNvPr id="11" name="Picture 10" descr="image.png"/>
          <p:cNvPicPr>
            <a:picLocks noChangeAspect="1"/>
          </p:cNvPicPr>
          <p:nvPr/>
        </p:nvPicPr>
        <p:blipFill>
          <a:blip r:embed="rId5"/>
          <a:stretch>
            <a:fillRect/>
          </a:stretch>
        </p:blipFill>
        <p:spPr>
          <a:xfrm>
            <a:off x="571500" y="4020740"/>
            <a:ext cx="190500" cy="200025"/>
          </a:xfrm>
          <a:prstGeom prst="rect">
            <a:avLst/>
          </a:prstGeom>
        </p:spPr>
      </p:pic>
      <p:pic>
        <p:nvPicPr>
          <p:cNvPr id="12" name="Picture 11" descr="image.png"/>
          <p:cNvPicPr>
            <a:picLocks noChangeAspect="1"/>
          </p:cNvPicPr>
          <p:nvPr/>
        </p:nvPicPr>
        <p:blipFill>
          <a:blip r:embed="rId5"/>
          <a:stretch>
            <a:fillRect/>
          </a:stretch>
        </p:blipFill>
        <p:spPr>
          <a:xfrm>
            <a:off x="571500" y="5254823"/>
            <a:ext cx="190500" cy="2000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17786"/>
            <a:ext cx="5334000" cy="4079676"/>
          </a:xfrm>
          <a:prstGeom prst="rect">
            <a:avLst/>
          </a:prstGeom>
        </p:spPr>
      </p:pic>
      <p:pic>
        <p:nvPicPr>
          <p:cNvPr id="4" name="Picture 3" descr="image.png"/>
          <p:cNvPicPr>
            <a:picLocks noChangeAspect="1"/>
          </p:cNvPicPr>
          <p:nvPr/>
        </p:nvPicPr>
        <p:blipFill>
          <a:blip r:embed="rId4"/>
          <a:stretch>
            <a:fillRect/>
          </a:stretch>
        </p:blipFill>
        <p:spPr>
          <a:xfrm>
            <a:off x="6286500" y="1817786"/>
            <a:ext cx="5334000" cy="4079676"/>
          </a:xfrm>
          <a:prstGeom prst="rect">
            <a:avLst/>
          </a:prstGeom>
        </p:spPr>
      </p:pic>
      <p:sp>
        <p:nvSpPr>
          <p:cNvPr id="6" name="TextBox 5"/>
          <p:cNvSpPr txBox="1"/>
          <p:nvPr/>
        </p:nvSpPr>
        <p:spPr>
          <a:xfrm>
            <a:off x="962025" y="2208311"/>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What is it?</a:t>
            </a:r>
          </a:p>
        </p:txBody>
      </p:sp>
      <p:sp>
        <p:nvSpPr>
          <p:cNvPr id="7" name="TextBox 6"/>
          <p:cNvSpPr txBox="1"/>
          <p:nvPr/>
        </p:nvSpPr>
        <p:spPr>
          <a:xfrm>
            <a:off x="962025" y="2684561"/>
            <a:ext cx="455295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An FPO happens when a company that is </a:t>
            </a:r>
            <a:r>
              <a:rPr sz="1650" b="1" i="0" u="none">
                <a:solidFill>
                  <a:srgbClr val="CBD5E1"/>
                </a:solidFill>
                <a:latin typeface="Inter"/>
              </a:rPr>
              <a:t>already listed</a:t>
            </a:r>
            <a:r>
              <a:rPr sz="1650" b="0" i="0" u="none">
                <a:solidFill>
                  <a:srgbClr val="CBD5E1"/>
                </a:solidFill>
                <a:latin typeface="Inter"/>
              </a:rPr>
              <a:t> on the stock exchange issues </a:t>
            </a:r>
            <a:r>
              <a:rPr sz="1650" b="0" i="1" u="none">
                <a:solidFill>
                  <a:srgbClr val="CBD5E1"/>
                </a:solidFill>
                <a:latin typeface="Inter"/>
              </a:rPr>
              <a:t>new</a:t>
            </a:r>
            <a:r>
              <a:rPr sz="1650" b="0" i="0" u="none">
                <a:solidFill>
                  <a:srgbClr val="CBD5E1"/>
                </a:solidFill>
                <a:latin typeface="Inter"/>
              </a:rPr>
              <a:t> shares to the public to raise even more money.</a:t>
            </a:r>
          </a:p>
        </p:txBody>
      </p:sp>
      <p:sp>
        <p:nvSpPr>
          <p:cNvPr id="8" name="TextBox 7"/>
          <p:cNvSpPr txBox="1"/>
          <p:nvPr/>
        </p:nvSpPr>
        <p:spPr>
          <a:xfrm>
            <a:off x="962025" y="4358580"/>
            <a:ext cx="455295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If an IPO is Chapter 1, an FPO is Chapter 2. The company is already public, but it needs another injection of fresh capital.</a:t>
            </a:r>
          </a:p>
        </p:txBody>
      </p:sp>
      <p:sp>
        <p:nvSpPr>
          <p:cNvPr id="10" name="TextBox 9"/>
          <p:cNvSpPr txBox="1"/>
          <p:nvPr/>
        </p:nvSpPr>
        <p:spPr>
          <a:xfrm>
            <a:off x="6677025" y="2208311"/>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Why do it?</a:t>
            </a:r>
          </a:p>
        </p:txBody>
      </p:sp>
      <p:sp>
        <p:nvSpPr>
          <p:cNvPr id="11" name="TextBox 10"/>
          <p:cNvSpPr txBox="1"/>
          <p:nvPr/>
        </p:nvSpPr>
        <p:spPr>
          <a:xfrm>
            <a:off x="6677025" y="2684561"/>
            <a:ext cx="455295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Usually, companies opt for an FPO to fund a massive new project, acquire another company, or pay off heavy bank loans without taking on new debt.</a:t>
            </a:r>
          </a:p>
        </p:txBody>
      </p:sp>
      <p:sp>
        <p:nvSpPr>
          <p:cNvPr id="12" name="TextBox 11"/>
          <p:cNvSpPr txBox="1"/>
          <p:nvPr/>
        </p:nvSpPr>
        <p:spPr>
          <a:xfrm>
            <a:off x="6677025" y="4358580"/>
            <a:ext cx="455295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Note: Because new shares are created, it dilutes the ownership percentage of existing shareholders.</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FPO </a:t>
            </a:r>
            <a:r>
              <a:rPr sz="3600" b="1" i="0" u="none">
                <a:solidFill>
                  <a:srgbClr val="F59E0B"/>
                </a:solidFill>
                <a:latin typeface="Outfit"/>
              </a:rPr>
              <a:t>(Follow-on Public Offer)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52625"/>
            <a:ext cx="3492549" cy="3810000"/>
          </a:xfrm>
          <a:prstGeom prst="rect">
            <a:avLst/>
          </a:prstGeom>
        </p:spPr>
      </p:pic>
      <p:pic>
        <p:nvPicPr>
          <p:cNvPr id="4" name="Picture 3" descr="image.png"/>
          <p:cNvPicPr>
            <a:picLocks noChangeAspect="1"/>
          </p:cNvPicPr>
          <p:nvPr/>
        </p:nvPicPr>
        <p:blipFill>
          <a:blip r:embed="rId4"/>
          <a:stretch>
            <a:fillRect/>
          </a:stretch>
        </p:blipFill>
        <p:spPr>
          <a:xfrm>
            <a:off x="4349799" y="1952625"/>
            <a:ext cx="3492549" cy="3810000"/>
          </a:xfrm>
          <a:prstGeom prst="rect">
            <a:avLst/>
          </a:prstGeom>
        </p:spPr>
      </p:pic>
      <p:pic>
        <p:nvPicPr>
          <p:cNvPr id="5" name="Picture 4" descr="image.png"/>
          <p:cNvPicPr>
            <a:picLocks noChangeAspect="1"/>
          </p:cNvPicPr>
          <p:nvPr/>
        </p:nvPicPr>
        <p:blipFill>
          <a:blip r:embed="rId5"/>
          <a:stretch>
            <a:fillRect/>
          </a:stretch>
        </p:blipFill>
        <p:spPr>
          <a:xfrm>
            <a:off x="8128099" y="1952625"/>
            <a:ext cx="3492549" cy="3810000"/>
          </a:xfrm>
          <a:prstGeom prst="rect">
            <a:avLst/>
          </a:prstGeom>
        </p:spPr>
      </p:pic>
      <p:pic>
        <p:nvPicPr>
          <p:cNvPr id="6" name="Picture 5" descr="image.png"/>
          <p:cNvPicPr>
            <a:picLocks noChangeAspect="1"/>
          </p:cNvPicPr>
          <p:nvPr/>
        </p:nvPicPr>
        <p:blipFill>
          <a:blip r:embed="rId6"/>
          <a:stretch>
            <a:fillRect/>
          </a:stretch>
        </p:blipFill>
        <p:spPr>
          <a:xfrm>
            <a:off x="1936700" y="2343150"/>
            <a:ext cx="762000" cy="342900"/>
          </a:xfrm>
          <a:prstGeom prst="rect">
            <a:avLst/>
          </a:prstGeom>
        </p:spPr>
      </p:pic>
      <p:sp>
        <p:nvSpPr>
          <p:cNvPr id="7" name="TextBox 6"/>
          <p:cNvSpPr txBox="1"/>
          <p:nvPr/>
        </p:nvSpPr>
        <p:spPr>
          <a:xfrm>
            <a:off x="1197560" y="2914650"/>
            <a:ext cx="2240280" cy="333375"/>
          </a:xfrm>
          <a:prstGeom prst="rect">
            <a:avLst/>
          </a:prstGeom>
          <a:noFill/>
        </p:spPr>
        <p:txBody>
          <a:bodyPr wrap="square" lIns="0" tIns="0" rIns="0" bIns="0" anchor="t">
            <a:spAutoFit/>
          </a:bodyPr>
          <a:lstStyle/>
          <a:p>
            <a:pPr algn="ctr"/>
            <a:r>
              <a:rPr sz="2100" b="1" i="0" u="none">
                <a:solidFill>
                  <a:srgbClr val="F59E0B"/>
                </a:solidFill>
                <a:latin typeface="Outfit"/>
              </a:rPr>
              <a:t>Promoters Selling</a:t>
            </a:r>
          </a:p>
        </p:txBody>
      </p:sp>
      <p:sp>
        <p:nvSpPr>
          <p:cNvPr id="8" name="TextBox 7"/>
          <p:cNvSpPr txBox="1"/>
          <p:nvPr/>
        </p:nvSpPr>
        <p:spPr>
          <a:xfrm>
            <a:off x="866775" y="3390900"/>
            <a:ext cx="2901999" cy="2010965"/>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Unlike an IPO or FPO, no new shares are created. Instead, the existing promoters or major shareholders are simply selling their own shares to the public.</a:t>
            </a:r>
          </a:p>
        </p:txBody>
      </p:sp>
      <p:pic>
        <p:nvPicPr>
          <p:cNvPr id="9" name="Picture 8" descr="image.png"/>
          <p:cNvPicPr>
            <a:picLocks noChangeAspect="1"/>
          </p:cNvPicPr>
          <p:nvPr/>
        </p:nvPicPr>
        <p:blipFill>
          <a:blip r:embed="rId6"/>
          <a:stretch>
            <a:fillRect/>
          </a:stretch>
        </p:blipFill>
        <p:spPr>
          <a:xfrm>
            <a:off x="5715000" y="2343150"/>
            <a:ext cx="762000" cy="342900"/>
          </a:xfrm>
          <a:prstGeom prst="rect">
            <a:avLst/>
          </a:prstGeom>
        </p:spPr>
      </p:pic>
      <p:sp>
        <p:nvSpPr>
          <p:cNvPr id="10" name="TextBox 9"/>
          <p:cNvSpPr txBox="1"/>
          <p:nvPr/>
        </p:nvSpPr>
        <p:spPr>
          <a:xfrm>
            <a:off x="5095875" y="2914650"/>
            <a:ext cx="2000250" cy="333375"/>
          </a:xfrm>
          <a:prstGeom prst="rect">
            <a:avLst/>
          </a:prstGeom>
          <a:noFill/>
        </p:spPr>
        <p:txBody>
          <a:bodyPr wrap="square" lIns="0" tIns="0" rIns="0" bIns="0" anchor="t">
            <a:spAutoFit/>
          </a:bodyPr>
          <a:lstStyle/>
          <a:p>
            <a:pPr algn="ctr"/>
            <a:r>
              <a:rPr sz="2100" b="1" i="0" u="none">
                <a:solidFill>
                  <a:srgbClr val="F59E0B"/>
                </a:solidFill>
                <a:latin typeface="Outfit"/>
              </a:rPr>
              <a:t>No New Capital</a:t>
            </a:r>
          </a:p>
        </p:txBody>
      </p:sp>
      <p:sp>
        <p:nvSpPr>
          <p:cNvPr id="11" name="TextBox 10"/>
          <p:cNvSpPr txBox="1"/>
          <p:nvPr/>
        </p:nvSpPr>
        <p:spPr>
          <a:xfrm>
            <a:off x="4645074" y="3390900"/>
            <a:ext cx="2901999" cy="2010965"/>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Because the promoters are selling their personal stakes, the money raised goes directly into their pockets, NOT into the company's bank account.</a:t>
            </a:r>
          </a:p>
        </p:txBody>
      </p:sp>
      <p:sp>
        <p:nvSpPr>
          <p:cNvPr id="12" name="TextBox 11"/>
          <p:cNvSpPr txBox="1"/>
          <p:nvPr/>
        </p:nvSpPr>
        <p:spPr>
          <a:xfrm>
            <a:off x="8944183" y="2914650"/>
            <a:ext cx="1860232" cy="333375"/>
          </a:xfrm>
          <a:prstGeom prst="rect">
            <a:avLst/>
          </a:prstGeom>
          <a:noFill/>
        </p:spPr>
        <p:txBody>
          <a:bodyPr wrap="square" lIns="0" tIns="0" rIns="0" bIns="0" anchor="t">
            <a:spAutoFit/>
          </a:bodyPr>
          <a:lstStyle/>
          <a:p>
            <a:pPr algn="ctr"/>
            <a:r>
              <a:rPr sz="2100" b="1" i="0" u="none">
                <a:solidFill>
                  <a:srgbClr val="F59E0B"/>
                </a:solidFill>
                <a:latin typeface="Outfit"/>
              </a:rPr>
              <a:t>Easier Process</a:t>
            </a:r>
          </a:p>
        </p:txBody>
      </p:sp>
      <p:sp>
        <p:nvSpPr>
          <p:cNvPr id="13" name="TextBox 12"/>
          <p:cNvSpPr txBox="1"/>
          <p:nvPr/>
        </p:nvSpPr>
        <p:spPr>
          <a:xfrm>
            <a:off x="8423374" y="3390900"/>
            <a:ext cx="2901999" cy="2346126"/>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It is a much faster and simpler mechanism introduced by SEBI, conducted entirely on the exchange platform, often used to meet minimum public shareholding norms.</a:t>
            </a:r>
          </a:p>
        </p:txBody>
      </p:sp>
      <p:pic>
        <p:nvPicPr>
          <p:cNvPr id="14" name="Picture 13" descr="image.png"/>
          <p:cNvPicPr>
            <a:picLocks noChangeAspect="1"/>
          </p:cNvPicPr>
          <p:nvPr/>
        </p:nvPicPr>
        <p:blipFill>
          <a:blip r:embed="rId7"/>
          <a:stretch>
            <a:fillRect/>
          </a:stretch>
        </p:blipFill>
        <p:spPr>
          <a:xfrm>
            <a:off x="2103387" y="2343150"/>
            <a:ext cx="428625" cy="342900"/>
          </a:xfrm>
          <a:prstGeom prst="rect">
            <a:avLst/>
          </a:prstGeom>
        </p:spPr>
      </p:pic>
      <p:pic>
        <p:nvPicPr>
          <p:cNvPr id="15" name="Picture 14" descr="image.png"/>
          <p:cNvPicPr>
            <a:picLocks noChangeAspect="1"/>
          </p:cNvPicPr>
          <p:nvPr/>
        </p:nvPicPr>
        <p:blipFill>
          <a:blip r:embed="rId8"/>
          <a:stretch>
            <a:fillRect/>
          </a:stretch>
        </p:blipFill>
        <p:spPr>
          <a:xfrm>
            <a:off x="5881687" y="2343150"/>
            <a:ext cx="428625" cy="342900"/>
          </a:xfrm>
          <a:prstGeom prst="rect">
            <a:avLst/>
          </a:prstGeom>
        </p:spPr>
      </p:pic>
      <p:pic>
        <p:nvPicPr>
          <p:cNvPr id="16" name="Picture 15" descr="image.png"/>
          <p:cNvPicPr>
            <a:picLocks noChangeAspect="1"/>
          </p:cNvPicPr>
          <p:nvPr/>
        </p:nvPicPr>
        <p:blipFill>
          <a:blip r:embed="rId9"/>
          <a:stretch>
            <a:fillRect/>
          </a:stretch>
        </p:blipFill>
        <p:spPr>
          <a:xfrm>
            <a:off x="9721899" y="2343150"/>
            <a:ext cx="304800" cy="342900"/>
          </a:xfrm>
          <a:prstGeom prst="rect">
            <a:avLst/>
          </a:prstGeom>
        </p:spPr>
      </p:pic>
      <p:sp>
        <p:nvSpPr>
          <p:cNvPr id="17" name="TextBox 16"/>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OFS </a:t>
            </a:r>
            <a:r>
              <a:rPr sz="3600" b="1" i="0" u="none">
                <a:solidFill>
                  <a:srgbClr val="F59E0B"/>
                </a:solidFill>
                <a:latin typeface="Outfit"/>
              </a:rPr>
              <a:t>(Offer For Sale)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71500"/>
          </a:xfrm>
          <a:prstGeom prst="rect">
            <a:avLst/>
          </a:prstGeom>
          <a:noFill/>
        </p:spPr>
        <p:txBody>
          <a:bodyPr wrap="square" lIns="0" tIns="0" rIns="0" bIns="0" anchor="t">
            <a:spAutoFit/>
          </a:bodyPr>
          <a:lstStyle/>
          <a:p>
            <a:pPr algn="l"/>
            <a:r>
              <a:rPr sz="3600" b="1" i="0" u="none">
                <a:solidFill>
                  <a:srgbClr val="F8FAFC"/>
                </a:solidFill>
                <a:latin typeface="Outfit"/>
              </a:rPr>
              <a:t>The </a:t>
            </a:r>
            <a:r>
              <a:rPr sz="3600" b="1" i="0" u="none">
                <a:solidFill>
                  <a:srgbClr val="F59E0B"/>
                </a:solidFill>
                <a:latin typeface="Outfit"/>
              </a:rPr>
              <a:t>Rights Issue</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sp>
        <p:nvSpPr>
          <p:cNvPr id="5" name="TextBox 4"/>
          <p:cNvSpPr txBox="1"/>
          <p:nvPr/>
        </p:nvSpPr>
        <p:spPr>
          <a:xfrm>
            <a:off x="571500" y="1944588"/>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Think of this as an exclusive VIP sale, but only for the loyal customers.</a:t>
            </a:r>
          </a:p>
        </p:txBody>
      </p:sp>
      <p:sp>
        <p:nvSpPr>
          <p:cNvPr id="6" name="TextBox 5"/>
          <p:cNvSpPr txBox="1"/>
          <p:nvPr/>
        </p:nvSpPr>
        <p:spPr>
          <a:xfrm>
            <a:off x="571500" y="2948285"/>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When a company needs more money, instead of going to the general public, it offers new shares exclusively to its </a:t>
            </a:r>
            <a:r>
              <a:rPr sz="1650" b="1" i="0" u="none">
                <a:solidFill>
                  <a:srgbClr val="CBD5E1"/>
                </a:solidFill>
                <a:latin typeface="Inter"/>
              </a:rPr>
              <a:t>existing shareholders</a:t>
            </a:r>
            <a:r>
              <a:rPr sz="1650" b="0" i="0" u="none">
                <a:solidFill>
                  <a:srgbClr val="CBD5E1"/>
                </a:solidFill>
                <a:latin typeface="Inter"/>
              </a:rPr>
              <a:t>.</a:t>
            </a:r>
          </a:p>
        </p:txBody>
      </p:sp>
      <p:sp>
        <p:nvSpPr>
          <p:cNvPr id="7" name="TextBox 6"/>
          <p:cNvSpPr txBox="1"/>
          <p:nvPr/>
        </p:nvSpPr>
        <p:spPr>
          <a:xfrm>
            <a:off x="571500" y="4287142"/>
            <a:ext cx="52863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Incentive:</a:t>
            </a:r>
            <a:r>
              <a:rPr sz="1650" b="0" i="0" u="none">
                <a:solidFill>
                  <a:srgbClr val="CBD5E1"/>
                </a:solidFill>
                <a:latin typeface="Inter"/>
              </a:rPr>
              <a:t> These shares are almost always offered at a discounted price compared to the current market price. This protects existing investors from ownership dilution and rewards them for their loyalty.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47925"/>
            <a:ext cx="5286375" cy="2819400"/>
          </a:xfrm>
          <a:prstGeom prst="rect">
            <a:avLst/>
          </a:prstGeom>
        </p:spPr>
      </p:pic>
      <p:sp>
        <p:nvSpPr>
          <p:cNvPr id="4" name="TextBox 3"/>
          <p:cNvSpPr txBox="1"/>
          <p:nvPr/>
        </p:nvSpPr>
        <p:spPr>
          <a:xfrm>
            <a:off x="962025" y="3028950"/>
            <a:ext cx="4505325" cy="1238250"/>
          </a:xfrm>
          <a:prstGeom prst="rect">
            <a:avLst/>
          </a:prstGeom>
          <a:noFill/>
        </p:spPr>
        <p:txBody>
          <a:bodyPr wrap="square" lIns="0" tIns="0" rIns="0" bIns="0" anchor="t">
            <a:spAutoFit/>
          </a:bodyPr>
          <a:lstStyle/>
          <a:p>
            <a:pPr algn="ctr">
              <a:lnSpc>
                <a:spcPts val="9750"/>
              </a:lnSpc>
              <a:defRPr/>
            </a:pPr>
            <a:r>
              <a:rPr sz="9750" b="1" i="0" u="none">
                <a:solidFill>
                  <a:srgbClr val="10B981"/>
                </a:solidFill>
                <a:latin typeface="Outfit"/>
              </a:rPr>
              <a:t>FREE</a:t>
            </a:r>
          </a:p>
        </p:txBody>
      </p:sp>
      <p:sp>
        <p:nvSpPr>
          <p:cNvPr id="5" name="TextBox 4"/>
          <p:cNvSpPr txBox="1"/>
          <p:nvPr/>
        </p:nvSpPr>
        <p:spPr>
          <a:xfrm>
            <a:off x="962025" y="4362450"/>
            <a:ext cx="4505325" cy="323850"/>
          </a:xfrm>
          <a:prstGeom prst="rect">
            <a:avLst/>
          </a:prstGeom>
          <a:noFill/>
        </p:spPr>
        <p:txBody>
          <a:bodyPr wrap="square" lIns="0" tIns="0" rIns="0" bIns="0" anchor="t">
            <a:spAutoFit/>
          </a:bodyPr>
          <a:lstStyle/>
          <a:p>
            <a:pPr algn="ctr"/>
            <a:r>
              <a:rPr sz="2100" b="0" i="0" u="none">
                <a:solidFill>
                  <a:srgbClr val="F8FAFC"/>
                </a:solidFill>
                <a:latin typeface="Inter SemiBold"/>
              </a:rPr>
              <a:t>ADDITIONAL SHARES</a:t>
            </a:r>
          </a:p>
        </p:txBody>
      </p:sp>
      <p:sp>
        <p:nvSpPr>
          <p:cNvPr id="6" name="TextBox 5"/>
          <p:cNvSpPr txBox="1"/>
          <p:nvPr/>
        </p:nvSpPr>
        <p:spPr>
          <a:xfrm>
            <a:off x="6334125" y="1538882"/>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The Illusion of Wealth</a:t>
            </a:r>
          </a:p>
        </p:txBody>
      </p:sp>
      <p:sp>
        <p:nvSpPr>
          <p:cNvPr id="7" name="TextBox 6"/>
          <p:cNvSpPr txBox="1"/>
          <p:nvPr/>
        </p:nvSpPr>
        <p:spPr>
          <a:xfrm>
            <a:off x="6334125" y="2015132"/>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A company gives fully paid additional shares to existing shareholders for free, usually out of its accumulated profits or reserves.</a:t>
            </a:r>
          </a:p>
        </p:txBody>
      </p:sp>
      <p:sp>
        <p:nvSpPr>
          <p:cNvPr id="8" name="TextBox 7"/>
          <p:cNvSpPr txBox="1"/>
          <p:nvPr/>
        </p:nvSpPr>
        <p:spPr>
          <a:xfrm>
            <a:off x="6334125" y="3353990"/>
            <a:ext cx="52863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Example:</a:t>
            </a:r>
            <a:r>
              <a:rPr sz="1650" b="0" i="0" u="none">
                <a:solidFill>
                  <a:srgbClr val="CBD5E1"/>
                </a:solidFill>
                <a:latin typeface="Inter"/>
              </a:rPr>
              <a:t> A 1:1 bonus means you get 1 free share for every 1 you hold. If you had 100 shares at ₹1,000, you now have 200 shares.</a:t>
            </a:r>
          </a:p>
        </p:txBody>
      </p:sp>
      <p:sp>
        <p:nvSpPr>
          <p:cNvPr id="9" name="TextBox 8"/>
          <p:cNvSpPr txBox="1"/>
          <p:nvPr/>
        </p:nvSpPr>
        <p:spPr>
          <a:xfrm>
            <a:off x="6334125" y="4692848"/>
            <a:ext cx="52863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Catch:</a:t>
            </a:r>
            <a:r>
              <a:rPr sz="1650" b="0" i="0" u="none">
                <a:solidFill>
                  <a:srgbClr val="CBD5E1"/>
                </a:solidFill>
                <a:latin typeface="Inter"/>
              </a:rPr>
              <a:t> Your total wealth doesn't double! The share price automatically halves to ₹500. It simply divides the pie into smaller, more affordable pieces to attract retail investors.</a:t>
            </a:r>
          </a:p>
        </p:txBody>
      </p:sp>
      <p:sp>
        <p:nvSpPr>
          <p:cNvPr id="10" name="TextBox 9"/>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Understanding </a:t>
            </a:r>
            <a:r>
              <a:rPr sz="3600" b="1" i="0" u="none">
                <a:solidFill>
                  <a:srgbClr val="F59E0B"/>
                </a:solidFill>
                <a:latin typeface="Outfit"/>
              </a:rPr>
              <a:t>Bonus Shares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428750"/>
            <a:ext cx="11049000" cy="5222527"/>
          </a:xfrm>
          <a:prstGeom prst="rect">
            <a:avLst/>
          </a:prstGeom>
        </p:spPr>
      </p:pic>
      <p:pic>
        <p:nvPicPr>
          <p:cNvPr id="4" name="Picture 3" descr="image.png"/>
          <p:cNvPicPr>
            <a:picLocks noChangeAspect="1"/>
          </p:cNvPicPr>
          <p:nvPr/>
        </p:nvPicPr>
        <p:blipFill>
          <a:blip r:embed="rId4"/>
          <a:stretch>
            <a:fillRect/>
          </a:stretch>
        </p:blipFill>
        <p:spPr>
          <a:xfrm>
            <a:off x="1151545" y="1994605"/>
            <a:ext cx="285750" cy="295275"/>
          </a:xfrm>
          <a:prstGeom prst="rect">
            <a:avLst/>
          </a:prstGeom>
        </p:spPr>
      </p:pic>
      <p:sp>
        <p:nvSpPr>
          <p:cNvPr id="5" name="TextBox 4"/>
          <p:cNvSpPr txBox="1"/>
          <p:nvPr/>
        </p:nvSpPr>
        <p:spPr>
          <a:xfrm>
            <a:off x="1724025" y="1914525"/>
            <a:ext cx="9410700" cy="365670"/>
          </a:xfrm>
          <a:prstGeom prst="rect">
            <a:avLst/>
          </a:prstGeom>
          <a:noFill/>
        </p:spPr>
        <p:txBody>
          <a:bodyPr wrap="square" lIns="0" tIns="0" rIns="0" bIns="0" anchor="t">
            <a:spAutoFit/>
          </a:bodyPr>
          <a:lstStyle/>
          <a:p>
            <a:pPr algn="l">
              <a:lnSpc>
                <a:spcPts val="2879"/>
              </a:lnSpc>
            </a:pPr>
            <a:r>
              <a:rPr sz="1800" b="1" i="0" u="none">
                <a:solidFill>
                  <a:srgbClr val="F8FAFC"/>
                </a:solidFill>
                <a:latin typeface="Outfit"/>
              </a:rPr>
              <a:t>What is it?</a:t>
            </a:r>
          </a:p>
        </p:txBody>
      </p:sp>
      <p:sp>
        <p:nvSpPr>
          <p:cNvPr id="6" name="TextBox 5"/>
          <p:cNvSpPr txBox="1"/>
          <p:nvPr/>
        </p:nvSpPr>
        <p:spPr>
          <a:xfrm>
            <a:off x="1724025" y="2327820"/>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exact opposite of issuing shares. The company uses its excess cash to buy its own shares back from the open market or directly from shareholders, usually at a premium price.</a:t>
            </a:r>
          </a:p>
        </p:txBody>
      </p:sp>
      <p:pic>
        <p:nvPicPr>
          <p:cNvPr id="7" name="Picture 6" descr="image.png"/>
          <p:cNvPicPr>
            <a:picLocks noChangeAspect="1"/>
          </p:cNvPicPr>
          <p:nvPr/>
        </p:nvPicPr>
        <p:blipFill>
          <a:blip r:embed="rId5"/>
          <a:stretch>
            <a:fillRect/>
          </a:stretch>
        </p:blipFill>
        <p:spPr>
          <a:xfrm>
            <a:off x="1151545" y="3506848"/>
            <a:ext cx="323850" cy="295275"/>
          </a:xfrm>
          <a:prstGeom prst="rect">
            <a:avLst/>
          </a:prstGeom>
        </p:spPr>
      </p:pic>
      <p:sp>
        <p:nvSpPr>
          <p:cNvPr id="8" name="TextBox 7"/>
          <p:cNvSpPr txBox="1"/>
          <p:nvPr/>
        </p:nvSpPr>
        <p:spPr>
          <a:xfrm>
            <a:off x="1724025" y="3426767"/>
            <a:ext cx="9410700" cy="365670"/>
          </a:xfrm>
          <a:prstGeom prst="rect">
            <a:avLst/>
          </a:prstGeom>
          <a:noFill/>
        </p:spPr>
        <p:txBody>
          <a:bodyPr wrap="square" lIns="0" tIns="0" rIns="0" bIns="0" anchor="t">
            <a:spAutoFit/>
          </a:bodyPr>
          <a:lstStyle/>
          <a:p>
            <a:pPr algn="l">
              <a:lnSpc>
                <a:spcPts val="2879"/>
              </a:lnSpc>
            </a:pPr>
            <a:r>
              <a:rPr sz="1800" b="1" i="0" u="none">
                <a:solidFill>
                  <a:srgbClr val="F8FAFC"/>
                </a:solidFill>
                <a:latin typeface="Outfit"/>
              </a:rPr>
              <a:t>Boosts Financial Ratios</a:t>
            </a:r>
          </a:p>
        </p:txBody>
      </p:sp>
      <p:sp>
        <p:nvSpPr>
          <p:cNvPr id="9" name="TextBox 8"/>
          <p:cNvSpPr txBox="1"/>
          <p:nvPr/>
        </p:nvSpPr>
        <p:spPr>
          <a:xfrm>
            <a:off x="1724025" y="3840063"/>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By absorbing and extinguishing these shares, the total supply of shares decreases. This automatically increases the Earnings Per Share (EPS), often driving the stock price up.</a:t>
            </a:r>
          </a:p>
        </p:txBody>
      </p:sp>
      <p:pic>
        <p:nvPicPr>
          <p:cNvPr id="10" name="Picture 9" descr="image.png"/>
          <p:cNvPicPr>
            <a:picLocks noChangeAspect="1"/>
          </p:cNvPicPr>
          <p:nvPr/>
        </p:nvPicPr>
        <p:blipFill>
          <a:blip r:embed="rId6"/>
          <a:stretch>
            <a:fillRect/>
          </a:stretch>
        </p:blipFill>
        <p:spPr>
          <a:xfrm>
            <a:off x="1151545" y="5019090"/>
            <a:ext cx="285750" cy="295275"/>
          </a:xfrm>
          <a:prstGeom prst="rect">
            <a:avLst/>
          </a:prstGeom>
        </p:spPr>
      </p:pic>
      <p:sp>
        <p:nvSpPr>
          <p:cNvPr id="11" name="TextBox 10"/>
          <p:cNvSpPr txBox="1"/>
          <p:nvPr/>
        </p:nvSpPr>
        <p:spPr>
          <a:xfrm>
            <a:off x="1724025" y="4939010"/>
            <a:ext cx="9410700" cy="365670"/>
          </a:xfrm>
          <a:prstGeom prst="rect">
            <a:avLst/>
          </a:prstGeom>
          <a:noFill/>
        </p:spPr>
        <p:txBody>
          <a:bodyPr wrap="square" lIns="0" tIns="0" rIns="0" bIns="0" anchor="t">
            <a:spAutoFit/>
          </a:bodyPr>
          <a:lstStyle/>
          <a:p>
            <a:pPr algn="l">
              <a:lnSpc>
                <a:spcPts val="2879"/>
              </a:lnSpc>
            </a:pPr>
            <a:r>
              <a:rPr sz="1800" b="1" i="0" u="none">
                <a:solidFill>
                  <a:srgbClr val="F8FAFC"/>
                </a:solidFill>
                <a:latin typeface="Outfit"/>
              </a:rPr>
              <a:t>Signals Confidence</a:t>
            </a:r>
          </a:p>
        </p:txBody>
      </p:sp>
      <p:sp>
        <p:nvSpPr>
          <p:cNvPr id="12" name="TextBox 11"/>
          <p:cNvSpPr txBox="1"/>
          <p:nvPr/>
        </p:nvSpPr>
        <p:spPr>
          <a:xfrm>
            <a:off x="1724025" y="5352305"/>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 is one of the strongest signals management can send. It tells the market: "We believe our stock is undervalued, and we are betting our own cash on our future."</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Share </a:t>
            </a:r>
            <a:r>
              <a:rPr sz="3600" b="1" i="0" u="none">
                <a:solidFill>
                  <a:srgbClr val="F59E0B"/>
                </a:solidFill>
                <a:latin typeface="Outfit"/>
              </a:rPr>
              <a:t>Buyback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44303"/>
            <a:ext cx="5286375" cy="3810000"/>
          </a:xfrm>
          <a:prstGeom prst="rect">
            <a:avLst/>
          </a:prstGeom>
        </p:spPr>
      </p:pic>
      <p:sp>
        <p:nvSpPr>
          <p:cNvPr id="4" name="TextBox 3"/>
          <p:cNvSpPr txBox="1"/>
          <p:nvPr/>
        </p:nvSpPr>
        <p:spPr>
          <a:xfrm>
            <a:off x="571500" y="142875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Going public (IPO) is expensive, time-consuming, and involves heavy regulatory scrutiny from SEBI. Sometimes, a company just wants a faster route.</a:t>
            </a:r>
          </a:p>
        </p:txBody>
      </p:sp>
      <p:sp>
        <p:nvSpPr>
          <p:cNvPr id="5" name="TextBox 4"/>
          <p:cNvSpPr txBox="1"/>
          <p:nvPr/>
        </p:nvSpPr>
        <p:spPr>
          <a:xfrm>
            <a:off x="914400" y="2767607"/>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Concept:</a:t>
            </a:r>
            <a:r>
              <a:rPr sz="1650" b="0" i="0" u="none">
                <a:solidFill>
                  <a:srgbClr val="CBD5E1"/>
                </a:solidFill>
                <a:latin typeface="Inter"/>
              </a:rPr>
              <a:t> Selling shares to a small, select group of major investors instead of the general public.</a:t>
            </a:r>
          </a:p>
        </p:txBody>
      </p:sp>
      <p:sp>
        <p:nvSpPr>
          <p:cNvPr id="6" name="TextBox 5"/>
          <p:cNvSpPr txBox="1"/>
          <p:nvPr/>
        </p:nvSpPr>
        <p:spPr>
          <a:xfrm>
            <a:off x="914400" y="4001690"/>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Players:</a:t>
            </a:r>
            <a:r>
              <a:rPr sz="1650" b="0" i="0" u="none">
                <a:solidFill>
                  <a:srgbClr val="CBD5E1"/>
                </a:solidFill>
                <a:latin typeface="Inter"/>
              </a:rPr>
              <a:t> These are typically wealthy individuals (HNIs), Mutual Funds, Pension Funds, or Foreign Institutional Investors (FIIs).</a:t>
            </a:r>
          </a:p>
        </p:txBody>
      </p:sp>
      <p:sp>
        <p:nvSpPr>
          <p:cNvPr id="7" name="TextBox 6"/>
          <p:cNvSpPr txBox="1"/>
          <p:nvPr/>
        </p:nvSpPr>
        <p:spPr>
          <a:xfrm>
            <a:off x="914400" y="5235773"/>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Advantage:</a:t>
            </a:r>
            <a:r>
              <a:rPr sz="1650" b="0" i="0" u="none">
                <a:solidFill>
                  <a:srgbClr val="CBD5E1"/>
                </a:solidFill>
                <a:latin typeface="Inter"/>
              </a:rPr>
              <a:t> It saves the company massive underwriting fees, marketing costs, and months of waiting time.</a:t>
            </a:r>
          </a:p>
        </p:txBody>
      </p:sp>
      <p:pic>
        <p:nvPicPr>
          <p:cNvPr id="8" name="Picture 7" descr="image.png"/>
          <p:cNvPicPr>
            <a:picLocks noChangeAspect="1"/>
          </p:cNvPicPr>
          <p:nvPr/>
        </p:nvPicPr>
        <p:blipFill>
          <a:blip r:embed="rId4"/>
          <a:stretch>
            <a:fillRect/>
          </a:stretch>
        </p:blipFill>
        <p:spPr>
          <a:xfrm>
            <a:off x="6353175" y="2063353"/>
            <a:ext cx="5248275" cy="377190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Private </a:t>
            </a:r>
            <a:r>
              <a:rPr sz="3600" b="1" i="0" u="none">
                <a:solidFill>
                  <a:srgbClr val="F59E0B"/>
                </a:solidFill>
                <a:latin typeface="Outfit"/>
              </a:rPr>
              <a:t>Placement</a:t>
            </a:r>
          </a:p>
        </p:txBody>
      </p:sp>
      <p:pic>
        <p:nvPicPr>
          <p:cNvPr id="10" name="Picture 9" descr="image.png"/>
          <p:cNvPicPr>
            <a:picLocks noChangeAspect="1"/>
          </p:cNvPicPr>
          <p:nvPr/>
        </p:nvPicPr>
        <p:blipFill>
          <a:blip r:embed="rId5"/>
          <a:stretch>
            <a:fillRect/>
          </a:stretch>
        </p:blipFill>
        <p:spPr>
          <a:xfrm>
            <a:off x="571500" y="2786657"/>
            <a:ext cx="190500" cy="200025"/>
          </a:xfrm>
          <a:prstGeom prst="rect">
            <a:avLst/>
          </a:prstGeom>
        </p:spPr>
      </p:pic>
      <p:pic>
        <p:nvPicPr>
          <p:cNvPr id="11" name="Picture 10" descr="image.png"/>
          <p:cNvPicPr>
            <a:picLocks noChangeAspect="1"/>
          </p:cNvPicPr>
          <p:nvPr/>
        </p:nvPicPr>
        <p:blipFill>
          <a:blip r:embed="rId5"/>
          <a:stretch>
            <a:fillRect/>
          </a:stretch>
        </p:blipFill>
        <p:spPr>
          <a:xfrm>
            <a:off x="571500" y="4020740"/>
            <a:ext cx="190500" cy="200025"/>
          </a:xfrm>
          <a:prstGeom prst="rect">
            <a:avLst/>
          </a:prstGeom>
        </p:spPr>
      </p:pic>
      <p:pic>
        <p:nvPicPr>
          <p:cNvPr id="12" name="Picture 11" descr="image.png"/>
          <p:cNvPicPr>
            <a:picLocks noChangeAspect="1"/>
          </p:cNvPicPr>
          <p:nvPr/>
        </p:nvPicPr>
        <p:blipFill>
          <a:blip r:embed="rId5"/>
          <a:stretch>
            <a:fillRect/>
          </a:stretch>
        </p:blipFill>
        <p:spPr>
          <a:xfrm>
            <a:off x="571500" y="5254823"/>
            <a:ext cx="190500" cy="2000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071562" y="1771947"/>
            <a:ext cx="4286250" cy="4286250"/>
          </a:xfrm>
          <a:prstGeom prst="rect">
            <a:avLst/>
          </a:prstGeom>
        </p:spPr>
      </p:pic>
      <p:sp>
        <p:nvSpPr>
          <p:cNvPr id="4" name="TextBox 3"/>
          <p:cNvSpPr txBox="1"/>
          <p:nvPr/>
        </p:nvSpPr>
        <p:spPr>
          <a:xfrm>
            <a:off x="6334125" y="1428750"/>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Small &amp; Medium Enterprises</a:t>
            </a:r>
          </a:p>
        </p:txBody>
      </p:sp>
      <p:sp>
        <p:nvSpPr>
          <p:cNvPr id="5" name="TextBox 4"/>
          <p:cNvSpPr txBox="1"/>
          <p:nvPr/>
        </p:nvSpPr>
        <p:spPr>
          <a:xfrm>
            <a:off x="6334125" y="190500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main boards of NSE and BSE are for giant corporations. But what about a promising startup or a medium-sized manufacturing unit that needs capital?</a:t>
            </a:r>
          </a:p>
        </p:txBody>
      </p:sp>
      <p:sp>
        <p:nvSpPr>
          <p:cNvPr id="6" name="TextBox 5"/>
          <p:cNvSpPr txBox="1"/>
          <p:nvPr/>
        </p:nvSpPr>
        <p:spPr>
          <a:xfrm>
            <a:off x="6334125" y="3243857"/>
            <a:ext cx="52863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Solution:</a:t>
            </a:r>
            <a:r>
              <a:rPr sz="1650" b="0" i="0" u="none">
                <a:solidFill>
                  <a:srgbClr val="CBD5E1"/>
                </a:solidFill>
                <a:latin typeface="Inter"/>
              </a:rPr>
              <a:t> SME IPOs allow smaller companies to raise funds and list on dedicated SME platforms (like BSE SME or NSE Emerge).</a:t>
            </a:r>
          </a:p>
        </p:txBody>
      </p:sp>
      <p:sp>
        <p:nvSpPr>
          <p:cNvPr id="7" name="TextBox 6"/>
          <p:cNvSpPr txBox="1"/>
          <p:nvPr/>
        </p:nvSpPr>
        <p:spPr>
          <a:xfrm>
            <a:off x="6334125" y="4582715"/>
            <a:ext cx="5286375" cy="1675804"/>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They have much lower compliance requirements and smaller issue sizes. However, for retail investors, the minimum investment amount (lot size) is typically much higher, usually over ₹1 Lakh, to ensure only risk-tolerant investors participate.</a:t>
            </a:r>
          </a:p>
        </p:txBody>
      </p:sp>
      <p:pic>
        <p:nvPicPr>
          <p:cNvPr id="8" name="Picture 7" descr="image.png"/>
          <p:cNvPicPr>
            <a:picLocks noChangeAspect="1"/>
          </p:cNvPicPr>
          <p:nvPr/>
        </p:nvPicPr>
        <p:blipFill>
          <a:blip r:embed="rId4"/>
          <a:stretch>
            <a:fillRect/>
          </a:stretch>
        </p:blipFill>
        <p:spPr>
          <a:xfrm>
            <a:off x="1185862" y="1886247"/>
            <a:ext cx="4057650" cy="405765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SME </a:t>
            </a:r>
            <a:r>
              <a:rPr sz="3600" b="1" i="0" u="none">
                <a:solidFill>
                  <a:srgbClr val="F59E0B"/>
                </a:solidFill>
                <a:latin typeface="Outfit"/>
              </a:rPr>
              <a:t>IPO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213496"/>
            <a:ext cx="11049000" cy="523875"/>
          </a:xfrm>
          <a:prstGeom prst="rect">
            <a:avLst/>
          </a:prstGeom>
        </p:spPr>
      </p:pic>
      <p:sp>
        <p:nvSpPr>
          <p:cNvPr id="4" name="TextBox 3"/>
          <p:cNvSpPr txBox="1"/>
          <p:nvPr/>
        </p:nvSpPr>
        <p:spPr>
          <a:xfrm>
            <a:off x="295275" y="571500"/>
            <a:ext cx="11601450" cy="962025"/>
          </a:xfrm>
          <a:prstGeom prst="rect">
            <a:avLst/>
          </a:prstGeom>
          <a:noFill/>
        </p:spPr>
        <p:txBody>
          <a:bodyPr wrap="square" lIns="0" tIns="0" rIns="0" bIns="0" anchor="t">
            <a:spAutoFit/>
          </a:bodyPr>
          <a:lstStyle/>
          <a:p>
            <a:pPr algn="ctr"/>
            <a:r>
              <a:rPr sz="6000" b="1" i="0" u="none">
                <a:solidFill>
                  <a:srgbClr val="10B981"/>
                </a:solidFill>
                <a:latin typeface="Outfit"/>
              </a:rPr>
              <a:t>Great Job on Day 3!</a:t>
            </a:r>
          </a:p>
        </p:txBody>
      </p:sp>
      <p:sp>
        <p:nvSpPr>
          <p:cNvPr id="5" name="TextBox 4"/>
          <p:cNvSpPr txBox="1"/>
          <p:nvPr/>
        </p:nvSpPr>
        <p:spPr>
          <a:xfrm>
            <a:off x="571500" y="1724025"/>
            <a:ext cx="11049000" cy="446725"/>
          </a:xfrm>
          <a:prstGeom prst="rect">
            <a:avLst/>
          </a:prstGeom>
          <a:noFill/>
        </p:spPr>
        <p:txBody>
          <a:bodyPr wrap="square" lIns="0" tIns="0" rIns="0" bIns="0" anchor="t">
            <a:spAutoFit/>
          </a:bodyPr>
          <a:lstStyle/>
          <a:p>
            <a:pPr algn="ctr">
              <a:lnSpc>
                <a:spcPts val="3840"/>
              </a:lnSpc>
            </a:pPr>
            <a:r>
              <a:rPr sz="2400" b="0" i="0" u="none" dirty="0">
                <a:solidFill>
                  <a:srgbClr val="F8FAFC"/>
                </a:solidFill>
                <a:latin typeface="Inter"/>
              </a:rPr>
              <a:t>Tomorrow: </a:t>
            </a:r>
            <a:r>
              <a:rPr lang="en-IN" sz="2400" dirty="0">
                <a:solidFill>
                  <a:srgbClr val="F8FAFC"/>
                </a:solidFill>
                <a:latin typeface="Inter"/>
              </a:rPr>
              <a:t>Understanding Shares</a:t>
            </a:r>
            <a:r>
              <a:rPr sz="2400" b="0" i="0" u="none" dirty="0">
                <a:solidFill>
                  <a:srgbClr val="F8FAFC"/>
                </a:solidFill>
                <a:latin typeface="Inter"/>
              </a:rPr>
              <a:t>.</a:t>
            </a:r>
          </a:p>
        </p:txBody>
      </p:sp>
      <p:sp>
        <p:nvSpPr>
          <p:cNvPr id="6" name="TextBox 5"/>
          <p:cNvSpPr txBox="1"/>
          <p:nvPr/>
        </p:nvSpPr>
        <p:spPr>
          <a:xfrm>
            <a:off x="571500" y="2402085"/>
            <a:ext cx="11049000" cy="335160"/>
          </a:xfrm>
          <a:prstGeom prst="rect">
            <a:avLst/>
          </a:prstGeom>
          <a:noFill/>
        </p:spPr>
        <p:txBody>
          <a:bodyPr wrap="square" lIns="0" tIns="0" rIns="0" bIns="0" anchor="t">
            <a:spAutoFit/>
          </a:bodyPr>
          <a:lstStyle/>
          <a:p>
            <a:pPr algn="ctr">
              <a:lnSpc>
                <a:spcPts val="2640"/>
              </a:lnSpc>
            </a:pPr>
            <a:r>
              <a:rPr sz="1650" b="0" i="0" u="none">
                <a:solidFill>
                  <a:srgbClr val="10B981"/>
                </a:solidFill>
                <a:latin typeface="Inter"/>
              </a:rPr>
              <a:t>Don't forget to Like, Share, and Subscribe!</a:t>
            </a:r>
          </a:p>
        </p:txBody>
      </p:sp>
      <p:sp>
        <p:nvSpPr>
          <p:cNvPr id="7" name="TextBox 6"/>
          <p:cNvSpPr txBox="1"/>
          <p:nvPr/>
        </p:nvSpPr>
        <p:spPr>
          <a:xfrm>
            <a:off x="5053012" y="3508771"/>
            <a:ext cx="2085975" cy="228600"/>
          </a:xfrm>
          <a:prstGeom prst="rect">
            <a:avLst/>
          </a:prstGeom>
          <a:noFill/>
        </p:spPr>
        <p:txBody>
          <a:bodyPr wrap="square" lIns="0" tIns="0" rIns="0" bIns="0" anchor="ctr">
            <a:spAutoFit/>
          </a:bodyPr>
          <a:lstStyle/>
          <a:p>
            <a:pPr algn="ctr"/>
            <a:r>
              <a:rPr sz="1500" b="0" i="0" u="none" dirty="0">
                <a:solidFill>
                  <a:srgbClr val="94A3B8"/>
                </a:solidFill>
                <a:latin typeface="Inter"/>
              </a:rPr>
              <a:t> /</a:t>
            </a:r>
            <a:r>
              <a:rPr lang="en-IN" sz="1500" dirty="0">
                <a:solidFill>
                  <a:srgbClr val="94A3B8"/>
                </a:solidFill>
                <a:latin typeface="Inter"/>
              </a:rPr>
              <a:t> @EarnJoyOfficial</a:t>
            </a:r>
            <a:endParaRPr sz="1500" b="0" i="0" u="none" dirty="0">
              <a:solidFill>
                <a:srgbClr val="94A3B8"/>
              </a:solidFill>
              <a:latin typeface="Inter"/>
            </a:endParaRPr>
          </a:p>
        </p:txBody>
      </p:sp>
      <p:pic>
        <p:nvPicPr>
          <p:cNvPr id="9" name="Picture 8" descr="image.png"/>
          <p:cNvPicPr>
            <a:picLocks noChangeAspect="1"/>
          </p:cNvPicPr>
          <p:nvPr/>
        </p:nvPicPr>
        <p:blipFill>
          <a:blip r:embed="rId4"/>
          <a:stretch>
            <a:fillRect/>
          </a:stretch>
        </p:blipFill>
        <p:spPr>
          <a:xfrm>
            <a:off x="5053012" y="3527821"/>
            <a:ext cx="219075" cy="190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968</Words>
  <Application>Microsoft Office PowerPoint</Application>
  <PresentationFormat>Widescreen</PresentationFormat>
  <Paragraphs>60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Inter</vt:lpstr>
      <vt:lpstr>Inter Medium</vt:lpstr>
      <vt:lpstr>Inter SemiBold</vt:lpstr>
      <vt:lpstr>Outfit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Somtirtha Das</cp:lastModifiedBy>
  <cp:revision>3</cp:revision>
  <dcterms:created xsi:type="dcterms:W3CDTF">2013-01-27T09:14:16Z</dcterms:created>
  <dcterms:modified xsi:type="dcterms:W3CDTF">2026-07-25T10:13:18Z</dcterms:modified>
  <cp:category/>
</cp:coreProperties>
</file>