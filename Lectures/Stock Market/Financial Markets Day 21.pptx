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5862" y="2160389"/>
            <a:ext cx="2200275" cy="371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5523" y="2817614"/>
            <a:ext cx="7620952" cy="754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8FAFC"/>
                </a:solidFill>
                <a:latin typeface="Outfit"/>
              </a:rPr>
              <a:t>Introduction to </a:t>
            </a:r>
            <a:r>
              <a:rPr b="1" sz="5400" i="0" u="none">
                <a:solidFill>
                  <a:srgbClr val="10B981"/>
                </a:solidFill>
                <a:latin typeface="Outfit"/>
              </a:rPr>
              <a:t>Trading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0" y="3762375"/>
            <a:ext cx="9144000" cy="792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94A3B8"/>
                </a:solidFill>
                <a:latin typeface="Inter Medium"/>
              </a:rPr>
              <a:t>Transitioning from long-term compounding to high-octane market action: Exploring core trading styles.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787" y="2260401"/>
            <a:ext cx="1905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85367"/>
            <a:ext cx="5334000" cy="374451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85367"/>
            <a:ext cx="5334000" cy="374451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81025" y="3829050"/>
            <a:ext cx="531495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2025" y="2375892"/>
            <a:ext cx="478059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59E0B"/>
                </a:solidFill>
                <a:latin typeface="Outfit"/>
              </a:rPr>
              <a:t>Investing (The Marathon)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852142"/>
            <a:ext cx="4552950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Buying assets to hold for years or decades, relying heavily on </a:t>
            </a:r>
            <a:r>
              <a:rPr b="1" sz="1650" i="0" u="none">
                <a:solidFill>
                  <a:srgbClr val="CBD5E1"/>
                </a:solidFill>
                <a:latin typeface="Inter"/>
              </a:rPr>
              <a:t>fundamental analysis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(company financials, management, and economic moats).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526160"/>
            <a:ext cx="45529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Goal: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Wealth compounding, beating inflation, and building sustainable passive income.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6025" y="3829050"/>
            <a:ext cx="5314950" cy="571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7025" y="2375892"/>
            <a:ext cx="478059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0B981"/>
                </a:solidFill>
                <a:latin typeface="Outfit"/>
              </a:rPr>
              <a:t>Trading (The Sprint)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852142"/>
            <a:ext cx="4552950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Buying and selling assets over short timeframes (minutes to months), relying primarily on </a:t>
            </a:r>
            <a:r>
              <a:rPr b="1" sz="1650" i="0" u="none">
                <a:solidFill>
                  <a:srgbClr val="CBD5E1"/>
                </a:solidFill>
                <a:latin typeface="Inter"/>
              </a:rPr>
              <a:t>technical analysis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(price action, volume, and chart patterns).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4526160"/>
            <a:ext cx="45529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Goal: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Capitalizing on short-term market volatility and generating active cash flow.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Core Philosophy: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Investing vs. Trading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Fast Lane:</a:t>
            </a:r>
            <a:r>
              <a:t>
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Intraday Trading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397918"/>
            <a:ext cx="52863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Intraday trading (or Day Trading) means entering and exiting positions </a:t>
            </a:r>
            <a:r>
              <a:rPr b="1" sz="1650" i="0" u="none">
                <a:solidFill>
                  <a:srgbClr val="CBD5E1"/>
                </a:solidFill>
                <a:latin typeface="Inter"/>
              </a:rPr>
              <a:t>within the exact same trading day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401615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Zero Overnight Risk: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All trades are squared off before the closing bell at 3:30 PM, protecting you against unexpected overnight global news.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740473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High Leverage &amp; Intensity: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Brokers provide margin to multiply buying power, requiring intense screen focus, strict discipline, and lightning-fast execution.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62" y="1714500"/>
            <a:ext cx="4286250" cy="428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34125" y="1715988"/>
            <a:ext cx="555069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59E0B"/>
                </a:solidFill>
                <a:latin typeface="Outfit"/>
              </a:rPr>
              <a:t>Catching the Medium-Term Move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2192238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Swing traders hold positions from a few days to several weeks, attempting to capture the "swing" or momentum in stock prices.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862" y="1828800"/>
            <a:ext cx="4057650" cy="405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7025" y="3531096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Part-Time Friendly: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Perfect for college students or working professionals because you only need to check charts once or twice a 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4765178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Risk-Reward Balance: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Offers wider profit targets compared to intraday while avoiding the immense stress of second-by-second price 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Riding the Waves: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Swing Trading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3550146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4784228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44303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428750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Positional trading is a trend-following strategy where positions are held for </a:t>
            </a:r>
            <a:r>
              <a:rPr b="1" sz="1650" i="0" u="none">
                <a:solidFill>
                  <a:srgbClr val="CBD5E1"/>
                </a:solidFill>
                <a:latin typeface="Inter"/>
              </a:rPr>
              <a:t>several weeks to several months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67607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Best of Both Worlds: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Combines elements of both fundamental and technical analysis to ride major macroeconomic trends.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01690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Low Screen Time: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Requires minimal daily monitoring, allowing traders to focus on their careers or studies.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35773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Patience Required: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You must endure minor market pullbacks and corrections while trusting the larger trend.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2063353"/>
            <a:ext cx="5248275" cy="3771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Macro Trend: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Positional Trading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86657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20740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254823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52625"/>
            <a:ext cx="3492549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1952625"/>
            <a:ext cx="3492549" cy="3810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952625"/>
            <a:ext cx="3492549" cy="3810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6700" y="2343150"/>
            <a:ext cx="762000" cy="342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2547" y="2914650"/>
            <a:ext cx="2450306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F59E0B"/>
                </a:solidFill>
                <a:latin typeface="Outfit"/>
              </a:rPr>
              <a:t>Seconds to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390900"/>
            <a:ext cx="2901999" cy="20109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Scalpers execute dozens or even hundreds of trades every single day, holding positions for mere fractions of a minute to capture tiny price ticks.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0" y="2343150"/>
            <a:ext cx="762000" cy="5054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00838" y="3077170"/>
            <a:ext cx="259032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10B981"/>
                </a:solidFill>
                <a:latin typeface="Outfit"/>
              </a:rPr>
              <a:t>Order Book Mastery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3553420"/>
            <a:ext cx="2901999" cy="1675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Rely exclusively on Level 2 market depth, tape reading, and high-frequency momentum rather than long-term chart analysis.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3299" y="2343150"/>
            <a:ext cx="762000" cy="342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14179" y="2914650"/>
            <a:ext cx="192024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F59E0B"/>
                </a:solidFill>
                <a:latin typeface="Outfit"/>
              </a:rPr>
              <a:t>Extreme Stress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3390900"/>
            <a:ext cx="2901999" cy="20109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Demands lightning-fast reflexes and ironclad emotional control. Transaction brokerage costs can quickly eat up profits if not managed.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65300" y="2343150"/>
            <a:ext cx="3048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0737" y="2424410"/>
            <a:ext cx="390525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02849" y="2343150"/>
            <a:ext cx="342900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Microscopic Edge: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Scalping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13496"/>
            <a:ext cx="11049000" cy="523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571500"/>
            <a:ext cx="11601450" cy="962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10B981"/>
                </a:solidFill>
                <a:latin typeface="Outfit"/>
              </a:rPr>
              <a:t>Great Job on Day 21!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724025"/>
            <a:ext cx="110490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b="0" sz="2400" i="0" u="none">
                <a:solidFill>
                  <a:srgbClr val="F8FAFC"/>
                </a:solidFill>
                <a:latin typeface="Inter"/>
              </a:rPr>
              <a:t>Tomorrow: Day 22 - Technical Analysis &amp; Candlestick 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02085"/>
            <a:ext cx="110490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10B981"/>
                </a:solidFill>
                <a:latin typeface="Inter"/>
              </a:rPr>
              <a:t>Don't forget to Like, Share, and Subscribe!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0487" y="3508771"/>
            <a:ext cx="20859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 /YourFinanceProfessor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4162" y="3508771"/>
            <a:ext cx="19716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 @FinanceProf_Official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6162" y="3527821"/>
            <a:ext cx="2190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7462" y="3527821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3077616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8528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8528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2704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6875" y="3220491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http://googleusercontent.com/image_collection/image_retrieval/10227351682965166504_0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346620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Google Image Retrieval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11810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4005262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http://googleusercontent.com/image_collection/image_retrieval/4960282899851864445_0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425097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Google Image Retrieval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Image Sources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2879526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8528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8528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128069"/>
            <a:ext cx="857250" cy="47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66875" y="3022401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https://static.vecteezy.com/system/resources/thumbnails/075/873/264/small_2x/abstract-cryptocurrency-market-dashboard-with-red-and-green-price-charts-falling-and-rising-trend-lines-candlestick-indicators-volume-bars-and-digital-percentage-values-symbolizing-bitcoin-video.jpg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6875" y="346620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www.vecteezy.com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10930"/>
            <a:ext cx="857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6875" y="4005262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https://thumbs.dreamstime.com/b/high-energy-sound-frequency-glowing-red-audio-waveform-dark-digital-void-experience-vibrant-pulse-digital-sound-455951884.jpg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444906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es.dreamstime.com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