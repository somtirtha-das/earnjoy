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58479"/>
            <a:ext cx="21336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80435" y="3015704"/>
            <a:ext cx="9031128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Trading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862" y="3960465"/>
            <a:ext cx="82962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When and how the stock market actually operates behind the scenes.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855" y="245849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79464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market doesn't just magically open at 9:15 AM. The Pre-Open session happens from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9:00 AM to 9:15 AM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to absorb overnight news and settle initial panic.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2768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Order Entry (9:00 - 9:08 AM):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can place, modify, or cancel orders. This establishes demand and supply.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36851"/>
            <a:ext cx="49434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Order Matching (9:08 - 9:12 AM):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exchange stops accepting new orders. It calculates the equilibrium price where maximum trades can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06095"/>
            <a:ext cx="4943475" cy="951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Buffer Period (9:12 - 9:15 AM):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 cooling-off period to ensure a smooth transition into normal trading.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398514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Waking Up the Market: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Pre-Open Session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1818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5590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2514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Continuous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Running strictly from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9:15 AM to 3:30 PM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, this is the core of the trading day where retail and institutional investors actively buy and sell.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9100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Orders are matched on a bilateral continuous basis—price-time priority dictates exactly who gets their orders filled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Volume &amp; Volatility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first 30 minutes (9:15 to 9:45 AM) and the last 30 minutes (3:00 to 3:30 PM) typically see the highest volatility and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19100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Pro Tip: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Beginners are often advised to avoid the very first 15 minutes to let the opening erratic swings settle 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Main Event: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Normal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71947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Post-Market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Trading ends at 3:30 PM, but the market officially closes later. The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3:30 PM to 4:00 PM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window has two specific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243857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Closing Price Calculation (3:30 - 3:40 PM):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exchange calculates the official closing price by taking the weighted average of prices from the last 30 minutes of 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4917876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Post-Closing Trades (3:40 - 4:00 PM):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You can still place buy/sell orders, but they will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only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execute at the calculated official closing price, provided there are buyers/sellers available.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86247"/>
            <a:ext cx="4057650" cy="405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Wrapping Up: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Closing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5286375" cy="2733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071812"/>
            <a:ext cx="4505325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  <a:defRPr/>
            </a:pPr>
            <a:r>
              <a:rPr sz="8250" b="1" i="0" u="none">
                <a:solidFill>
                  <a:srgbClr val="10B981"/>
                </a:solidFill>
                <a:latin typeface="Outfit"/>
              </a:rPr>
              <a:t>₹10 Cr+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319587"/>
            <a:ext cx="45053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MINIMUM TRADE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70646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Exclusive Trading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182713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Block Deal is a massive, single trade involving at least 5 Lakh shares or a minimum value of ₹10 Crores.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3186410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Why it matters: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To prevent extreme price manipulation for retail traders, these deals happen in a separate, dedicated trading window (typically 8:45 AM to 9:00 AM, and an afternoon slot).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860428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Because they happen off the main screen, Block Deals don't immediately distort the regular market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Institutional Moves: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Block Deal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Following the Whales: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Bulk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30338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Unlike Block Deals, a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Bulk Deal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happens directly in the normal trading session, visible to everyone on the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9196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The Definition: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It qualifies as a bulk deal when a single transaction accounts for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more than 0.5%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of the total listed shares of that company.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Market Impact: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Because these are executed in the open market, they can create massive volatility and swing retail sentiment heavily in one direction.</a:t>
            </a:r>
          </a:p>
        </p:txBody>
      </p:sp>
      <p:pic>
        <p:nvPicPr>
          <p:cNvPr id="1026" name="Picture 2" descr="When Large Capital Moves Markets: Liquidity, Inventory and Execution ...">
            <a:extLst>
              <a:ext uri="{FF2B5EF4-FFF2-40B4-BE49-F238E27FC236}">
                <a16:creationId xmlns:a16="http://schemas.microsoft.com/office/drawing/2014/main" id="{E35F4C7B-62E3-4702-01F1-02EA0588A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355522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7594" y="2914650"/>
            <a:ext cx="17002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Upper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90900"/>
            <a:ext cx="290199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maximum allowed percentage a stock can rise in a single day. If hit, trading halts upwards because there are only buyers and zero sellers.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43150"/>
            <a:ext cx="762000" cy="505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45893" y="3077170"/>
            <a:ext cx="17002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Lower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maximum allowed drop in a day. If hit, trading halts downwards because there is extreme panic, with only sellers and zero buyers.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343150"/>
            <a:ext cx="7620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79200" y="2914650"/>
            <a:ext cx="15901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390900"/>
            <a:ext cx="290199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Set by the exchange (usually 5%, 10%, or 20%), these act as shock absorbers to protect retail investors from irrational euphoria or market crashes.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2437" y="2343150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0737" y="242441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849" y="2343150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Market Brakes: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Circuit Filters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9!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F8FAFC"/>
                </a:solidFill>
                <a:latin typeface="Inter"/>
              </a:rPr>
              <a:t>Tomorrow: The Settlement Process - T+1 Explained.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03D82-26AD-51A1-AAF4-7751D20214E5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DCFE44A-A51D-EEA8-FD64-3924184E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633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Medium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4</cp:revision>
  <dcterms:created xsi:type="dcterms:W3CDTF">2013-01-27T09:14:16Z</dcterms:created>
  <dcterms:modified xsi:type="dcterms:W3CDTF">2026-08-19T09:25:10Z</dcterms:modified>
  <cp:category/>
</cp:coreProperties>
</file>