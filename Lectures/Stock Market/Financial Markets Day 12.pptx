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862" y="2358479"/>
            <a:ext cx="2200275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35442" y="3015704"/>
            <a:ext cx="8921115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Decoding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Important Ratios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4037" y="3960465"/>
            <a:ext cx="8543925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 Medium"/>
              </a:rPr>
              <a:t>The mathematical cheat codes to evaluating any company's true worth.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944" y="245849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8858"/>
            <a:ext cx="3724423" cy="638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952625"/>
            <a:ext cx="5286375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1001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Earnings Per Share (EPS)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tells you exactly how much net profit is allocated to every single outstanding share of common stock.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658367"/>
            <a:ext cx="3229123" cy="514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361852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is the most direct indicator of a company's profitability.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60774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consistently rising EPS indicates that the company is growing its profits effectively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94856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Without EPS, you cannot calculate the most famous valuation metric: The PE Ratio.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175" y="1971675"/>
            <a:ext cx="45624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Your Slice of the Pie: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EPS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41860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317529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51611"/>
            <a:ext cx="190500" cy="200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1B5FEF-EB46-0205-2E66-0F0BA6FFE4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1971674"/>
            <a:ext cx="5248275" cy="37799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32036"/>
            <a:ext cx="5334000" cy="46511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32036"/>
            <a:ext cx="5334000" cy="4651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192256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Price to Earnings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398811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PE Ratio tells you how much the market is willing to pay today for ₹1 of the company's current earnings.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64433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If a stock trades at ₹100 and its EPS is ₹5, the PE ratio is 20. You are paying ₹20 for every ₹1 of profit.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192256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10B981"/>
                </a:solidFill>
                <a:latin typeface="Outfit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398811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High PE: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Investors expect high future growth. The stock might be overvalued, or it might be a massive disruptor.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3737669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Low PE: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stock is cheap. It could be an undervalued gem (Value Investing), or it could be a dying business (Value Trap).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1161" y="3842444"/>
            <a:ext cx="2174676" cy="411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Valuing Earnings: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PE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Asset Reality Check:</a:t>
            </a:r>
            <a:r>
              <a:t>
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PB Ratio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22885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Price to Book (P/B) Ratio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compares a company's market valuation to its actual accounting value (the assets it owns minus its liabilities).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066104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When to use it: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It is exceptionally useful for evaluating heavy-asset companies, manufacturing firms, and especially Banks and Financial Institutions.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404962"/>
            <a:ext cx="52863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P/B ratio under 1 suggests the stock is trading for less than the total value of its sellable assets.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3377207"/>
            <a:ext cx="2565796" cy="5286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562" y="1714500"/>
            <a:ext cx="42862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2083593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Return on Equity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55984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ROE measures how effectively management is using the investors' money (shareholder equity) to generate profit.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4280115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Inter"/>
              </a:rPr>
              <a:t>The Benchmark: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A consistent ROE of over 15% is generally considered excellent. It shows that the company is highly efficient at turning your investment into solid cash profits without needing external funds.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862" y="1828800"/>
            <a:ext cx="405765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708201"/>
            <a:ext cx="3157537" cy="4399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8FAFC"/>
                </a:solidFill>
                <a:latin typeface="Outfit"/>
              </a:rPr>
              <a:t>Rewarding Investors: </a:t>
            </a:r>
            <a:r>
              <a:rPr sz="3600" b="1" i="0" u="none" dirty="0">
                <a:solidFill>
                  <a:srgbClr val="F59E0B"/>
                </a:solidFill>
                <a:latin typeface="Outfit"/>
              </a:rPr>
              <a:t>ROE</a:t>
            </a:r>
          </a:p>
        </p:txBody>
      </p:sp>
      <p:sp>
        <p:nvSpPr>
          <p:cNvPr id="10" name="AutoShape 2" descr="Image result for return on equity colorful digital image">
            <a:extLst>
              <a:ext uri="{FF2B5EF4-FFF2-40B4-BE49-F238E27FC236}">
                <a16:creationId xmlns:a16="http://schemas.microsoft.com/office/drawing/2014/main" id="{4CFCC885-02F0-5D9D-87E6-49B98B6184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82555D-7D4F-FF8A-612A-2165773573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814" t="8034" r="11411" b="18511"/>
          <a:stretch>
            <a:fillRect/>
          </a:stretch>
        </p:blipFill>
        <p:spPr>
          <a:xfrm>
            <a:off x="1071562" y="1714499"/>
            <a:ext cx="4286249" cy="4286249"/>
          </a:xfrm>
          <a:custGeom>
            <a:avLst/>
            <a:gdLst>
              <a:gd name="connsiteX0" fmla="*/ 1806338 w 3612676"/>
              <a:gd name="connsiteY0" fmla="*/ 0 h 3473050"/>
              <a:gd name="connsiteX1" fmla="*/ 3612676 w 3612676"/>
              <a:gd name="connsiteY1" fmla="*/ 1736525 h 3473050"/>
              <a:gd name="connsiteX2" fmla="*/ 1806338 w 3612676"/>
              <a:gd name="connsiteY2" fmla="*/ 3473050 h 3473050"/>
              <a:gd name="connsiteX3" fmla="*/ 0 w 3612676"/>
              <a:gd name="connsiteY3" fmla="*/ 1736525 h 3473050"/>
              <a:gd name="connsiteX4" fmla="*/ 1806338 w 3612676"/>
              <a:gd name="connsiteY4" fmla="*/ 0 h 3473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2676" h="3473050">
                <a:moveTo>
                  <a:pt x="1806338" y="0"/>
                </a:moveTo>
                <a:cubicBezTo>
                  <a:pt x="2803951" y="0"/>
                  <a:pt x="3612676" y="777469"/>
                  <a:pt x="3612676" y="1736525"/>
                </a:cubicBezTo>
                <a:cubicBezTo>
                  <a:pt x="3612676" y="2695581"/>
                  <a:pt x="2803951" y="3473050"/>
                  <a:pt x="1806338" y="3473050"/>
                </a:cubicBezTo>
                <a:cubicBezTo>
                  <a:pt x="808725" y="3473050"/>
                  <a:pt x="0" y="2695581"/>
                  <a:pt x="0" y="1736525"/>
                </a:cubicBezTo>
                <a:cubicBezTo>
                  <a:pt x="0" y="777469"/>
                  <a:pt x="808725" y="0"/>
                  <a:pt x="1806338" y="0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8862"/>
            <a:ext cx="5286375" cy="3057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2909887"/>
            <a:ext cx="4505325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  <a:defRPr/>
            </a:pPr>
            <a:r>
              <a:rPr sz="8250" b="1" i="0" u="none">
                <a:solidFill>
                  <a:srgbClr val="10B981"/>
                </a:solidFill>
                <a:latin typeface="Outfit"/>
              </a:rPr>
              <a:t>ROCE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157662"/>
            <a:ext cx="4505325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8FAFC"/>
                </a:solidFill>
                <a:latin typeface="Inter SemiBold"/>
              </a:rPr>
              <a:t>RETURN ON CAPITAL EMPLOYED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1820763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Why it beats ROE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2297013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ROE only looks at equity. But what if a company is generating massive profits solely because it took on dangerous amounts of bank debt?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4125" y="4226639"/>
            <a:ext cx="5286375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ROCE factors in 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both debt and equity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. It reveals the true profitability of all capital used in the business operations. If ROCE is consistently higher than the cost of borrowing, the company is creating immense value.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635871"/>
            <a:ext cx="2735758" cy="4399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Ultimate Efficiency: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ROCE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75176"/>
            <a:ext cx="3492549" cy="3810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075176"/>
            <a:ext cx="3492549" cy="3810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075176"/>
            <a:ext cx="3492549" cy="3810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343150"/>
            <a:ext cx="762000" cy="342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12599" y="2914650"/>
            <a:ext cx="1610201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The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108549"/>
            <a:ext cx="2901999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Measures how much the company is financing its operations through debt versus wholly-owned funds.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343150"/>
            <a:ext cx="762000" cy="342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0905" y="2914650"/>
            <a:ext cx="1510188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The Danger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390900"/>
            <a:ext cx="2901999" cy="2346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 highly leveraged company (Ratio &gt; 2) is risky. A heavy debt burden means high interest payments, increasing the risk of bankruptcy during a recession.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99" y="2343150"/>
            <a:ext cx="762000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84175" y="2914650"/>
            <a:ext cx="198024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Outfit"/>
              </a:rPr>
              <a:t>The Sweet Spot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390900"/>
            <a:ext cx="2901999" cy="20109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Ideally, look for a ratio of &lt; 1. This means the company is primarily funded by its owners rather than its creditors, ensuring long-term financial stability.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03387" y="2343150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4319" y="3391981"/>
            <a:ext cx="766911" cy="365224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4550" y="2343150"/>
            <a:ext cx="342900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2849" y="2343150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Risk Metric: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Debt to Equity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12!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 </a:t>
            </a:r>
            <a:r>
              <a:rPr lang="en-US" sz="2400" dirty="0">
                <a:solidFill>
                  <a:srgbClr val="F8FAFC"/>
                </a:solidFill>
                <a:latin typeface="Inter"/>
              </a:rPr>
              <a:t>Revenue &amp; Profit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3D7D2C-BBD4-5DEC-502B-6CCB578244E7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B6893875-FCB4-2053-D98C-7B4ACB034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545</Words>
  <Application>Microsoft Office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Inter</vt:lpstr>
      <vt:lpstr>Inter Medium</vt:lpstr>
      <vt:lpstr>Inter SemiBold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2</cp:revision>
  <dcterms:created xsi:type="dcterms:W3CDTF">2013-01-27T09:14:16Z</dcterms:created>
  <dcterms:modified xsi:type="dcterms:W3CDTF">2026-08-19T09:42:45Z</dcterms:modified>
  <cp:category/>
</cp:coreProperties>
</file>