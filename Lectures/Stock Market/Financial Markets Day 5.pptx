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7" d="100"/>
          <a:sy n="67" d="100"/>
        </p:scale>
        <p:origin x="62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33962" y="1981348"/>
            <a:ext cx="2124075" cy="371475"/>
          </a:xfrm>
          <a:prstGeom prst="rect">
            <a:avLst/>
          </a:prstGeom>
        </p:spPr>
      </p:pic>
      <p:sp>
        <p:nvSpPr>
          <p:cNvPr id="4" name="TextBox 3"/>
          <p:cNvSpPr txBox="1"/>
          <p:nvPr/>
        </p:nvSpPr>
        <p:spPr>
          <a:xfrm>
            <a:off x="3895725" y="2638573"/>
            <a:ext cx="4400550" cy="1508521"/>
          </a:xfrm>
          <a:prstGeom prst="rect">
            <a:avLst/>
          </a:prstGeom>
          <a:noFill/>
        </p:spPr>
        <p:txBody>
          <a:bodyPr wrap="square" lIns="0" tIns="0" rIns="0" bIns="0" anchor="t">
            <a:spAutoFit/>
          </a:bodyPr>
          <a:lstStyle/>
          <a:p>
            <a:pPr algn="ctr">
              <a:lnSpc>
                <a:spcPts val="5940"/>
              </a:lnSpc>
            </a:pPr>
            <a:r>
              <a:rPr sz="5400" b="1" i="0" u="none">
                <a:solidFill>
                  <a:srgbClr val="F8FAFC"/>
                </a:solidFill>
                <a:latin typeface="Outfit"/>
              </a:rPr>
              <a:t>Stock Market</a:t>
            </a:r>
            <a:r>
              <a:t>
</a:t>
            </a:r>
            <a:r>
              <a:rPr sz="5400" b="1" i="0" u="none">
                <a:solidFill>
                  <a:srgbClr val="10B981"/>
                </a:solidFill>
                <a:latin typeface="Outfit"/>
              </a:rPr>
              <a:t>Ecosystem</a:t>
            </a:r>
          </a:p>
        </p:txBody>
      </p:sp>
      <p:sp>
        <p:nvSpPr>
          <p:cNvPr id="5" name="TextBox 4"/>
          <p:cNvSpPr txBox="1"/>
          <p:nvPr/>
        </p:nvSpPr>
        <p:spPr>
          <a:xfrm>
            <a:off x="2219325" y="4337595"/>
            <a:ext cx="7753350" cy="396180"/>
          </a:xfrm>
          <a:prstGeom prst="rect">
            <a:avLst/>
          </a:prstGeom>
          <a:noFill/>
        </p:spPr>
        <p:txBody>
          <a:bodyPr wrap="square" lIns="0" tIns="0" rIns="0" bIns="0" anchor="t">
            <a:spAutoFit/>
          </a:bodyPr>
          <a:lstStyle/>
          <a:p>
            <a:pPr algn="ctr">
              <a:lnSpc>
                <a:spcPts val="3120"/>
              </a:lnSpc>
            </a:pPr>
            <a:r>
              <a:rPr sz="1950" b="0" i="0" u="none">
                <a:solidFill>
                  <a:srgbClr val="94A3B8"/>
                </a:solidFill>
                <a:latin typeface="Inter Medium"/>
              </a:rPr>
              <a:t>Understanding the invisible machinery behind every single trade.</a:t>
            </a:r>
          </a:p>
        </p:txBody>
      </p:sp>
      <p:pic>
        <p:nvPicPr>
          <p:cNvPr id="6" name="Picture 5" descr="image.png"/>
          <p:cNvPicPr>
            <a:picLocks noChangeAspect="1"/>
          </p:cNvPicPr>
          <p:nvPr/>
        </p:nvPicPr>
        <p:blipFill>
          <a:blip r:embed="rId4"/>
          <a:stretch>
            <a:fillRect/>
          </a:stretch>
        </p:blipFill>
        <p:spPr>
          <a:xfrm>
            <a:off x="5101617" y="2081361"/>
            <a:ext cx="19050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44303"/>
            <a:ext cx="5286375" cy="3810000"/>
          </a:xfrm>
          <a:prstGeom prst="rect">
            <a:avLst/>
          </a:prstGeom>
        </p:spPr>
      </p:pic>
      <p:sp>
        <p:nvSpPr>
          <p:cNvPr id="4" name="TextBox 3"/>
          <p:cNvSpPr txBox="1"/>
          <p:nvPr/>
        </p:nvSpPr>
        <p:spPr>
          <a:xfrm>
            <a:off x="571500" y="142875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SEBI stands for the </a:t>
            </a:r>
            <a:r>
              <a:rPr sz="1650" b="1" i="0" u="none">
                <a:solidFill>
                  <a:srgbClr val="CBD5E1"/>
                </a:solidFill>
                <a:latin typeface="Inter"/>
              </a:rPr>
              <a:t>Securities and Exchange Board of India</a:t>
            </a:r>
            <a:r>
              <a:rPr sz="1650" b="0" i="0" u="none">
                <a:solidFill>
                  <a:srgbClr val="CBD5E1"/>
                </a:solidFill>
                <a:latin typeface="Inter"/>
              </a:rPr>
              <a:t>. Think of them as the Supreme Court and the Police of the stock market rolled into one.</a:t>
            </a:r>
          </a:p>
        </p:txBody>
      </p:sp>
      <p:sp>
        <p:nvSpPr>
          <p:cNvPr id="5" name="TextBox 4"/>
          <p:cNvSpPr txBox="1"/>
          <p:nvPr/>
        </p:nvSpPr>
        <p:spPr>
          <a:xfrm>
            <a:off x="914400" y="2767607"/>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Protecting Investors:</a:t>
            </a:r>
            <a:r>
              <a:rPr sz="1650" b="0" i="0" u="none">
                <a:solidFill>
                  <a:srgbClr val="CBD5E1"/>
                </a:solidFill>
                <a:latin typeface="Inter"/>
              </a:rPr>
              <a:t> Their primary job is to ensure you, the retail investor, don't get scammed by fraudulent companies.</a:t>
            </a:r>
          </a:p>
        </p:txBody>
      </p:sp>
      <p:sp>
        <p:nvSpPr>
          <p:cNvPr id="6" name="TextBox 5"/>
          <p:cNvSpPr txBox="1"/>
          <p:nvPr/>
        </p:nvSpPr>
        <p:spPr>
          <a:xfrm>
            <a:off x="914400" y="4001690"/>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Regulating Exchanges:</a:t>
            </a:r>
            <a:r>
              <a:rPr sz="1650" b="0" i="0" u="none">
                <a:solidFill>
                  <a:srgbClr val="CBD5E1"/>
                </a:solidFill>
                <a:latin typeface="Inter"/>
              </a:rPr>
              <a:t> They set the strict rules that NSE, BSE, and all brokers must follow every single day.</a:t>
            </a:r>
          </a:p>
        </p:txBody>
      </p:sp>
      <p:sp>
        <p:nvSpPr>
          <p:cNvPr id="7" name="TextBox 6"/>
          <p:cNvSpPr txBox="1"/>
          <p:nvPr/>
        </p:nvSpPr>
        <p:spPr>
          <a:xfrm>
            <a:off x="914400" y="5235773"/>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Market Development:</a:t>
            </a:r>
            <a:r>
              <a:rPr sz="1650" b="0" i="0" u="none">
                <a:solidFill>
                  <a:srgbClr val="CBD5E1"/>
                </a:solidFill>
                <a:latin typeface="Inter"/>
              </a:rPr>
              <a:t> They constantly upgrade the technology and policies to make Indian markets the safest in the world.</a:t>
            </a:r>
          </a:p>
        </p:txBody>
      </p:sp>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SEBI </a:t>
            </a:r>
            <a:r>
              <a:rPr sz="3600" b="1" i="0" u="none">
                <a:solidFill>
                  <a:srgbClr val="F59E0B"/>
                </a:solidFill>
                <a:latin typeface="Outfit"/>
              </a:rPr>
              <a:t>(The Watchdog)</a:t>
            </a:r>
          </a:p>
        </p:txBody>
      </p:sp>
      <p:pic>
        <p:nvPicPr>
          <p:cNvPr id="10" name="Picture 9" descr="image.png"/>
          <p:cNvPicPr>
            <a:picLocks noChangeAspect="1"/>
          </p:cNvPicPr>
          <p:nvPr/>
        </p:nvPicPr>
        <p:blipFill>
          <a:blip r:embed="rId4"/>
          <a:stretch>
            <a:fillRect/>
          </a:stretch>
        </p:blipFill>
        <p:spPr>
          <a:xfrm>
            <a:off x="571500" y="2786657"/>
            <a:ext cx="190500" cy="200025"/>
          </a:xfrm>
          <a:prstGeom prst="rect">
            <a:avLst/>
          </a:prstGeom>
        </p:spPr>
      </p:pic>
      <p:pic>
        <p:nvPicPr>
          <p:cNvPr id="11" name="Picture 10" descr="image.png"/>
          <p:cNvPicPr>
            <a:picLocks noChangeAspect="1"/>
          </p:cNvPicPr>
          <p:nvPr/>
        </p:nvPicPr>
        <p:blipFill>
          <a:blip r:embed="rId4"/>
          <a:stretch>
            <a:fillRect/>
          </a:stretch>
        </p:blipFill>
        <p:spPr>
          <a:xfrm>
            <a:off x="571500" y="4020740"/>
            <a:ext cx="190500" cy="200025"/>
          </a:xfrm>
          <a:prstGeom prst="rect">
            <a:avLst/>
          </a:prstGeom>
        </p:spPr>
      </p:pic>
      <p:pic>
        <p:nvPicPr>
          <p:cNvPr id="12" name="Picture 11" descr="image.png"/>
          <p:cNvPicPr>
            <a:picLocks noChangeAspect="1"/>
          </p:cNvPicPr>
          <p:nvPr/>
        </p:nvPicPr>
        <p:blipFill>
          <a:blip r:embed="rId4"/>
          <a:stretch>
            <a:fillRect/>
          </a:stretch>
        </p:blipFill>
        <p:spPr>
          <a:xfrm>
            <a:off x="571500" y="5254823"/>
            <a:ext cx="190500" cy="200025"/>
          </a:xfrm>
          <a:prstGeom prst="rect">
            <a:avLst/>
          </a:prstGeom>
        </p:spPr>
      </p:pic>
      <p:pic>
        <p:nvPicPr>
          <p:cNvPr id="14" name="Picture 13" descr="Sebi reform haul: Norms eased for doing business">
            <a:extLst>
              <a:ext uri="{FF2B5EF4-FFF2-40B4-BE49-F238E27FC236}">
                <a16:creationId xmlns:a16="http://schemas.microsoft.com/office/drawing/2014/main" id="{D8F6BFB0-7F33-355F-1193-89B7FB7C47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1250" r="2031"/>
          <a:stretch>
            <a:fillRect/>
          </a:stretch>
        </p:blipFill>
        <p:spPr bwMode="auto">
          <a:xfrm>
            <a:off x="6334126" y="2050454"/>
            <a:ext cx="5286375" cy="3786581"/>
          </a:xfrm>
          <a:custGeom>
            <a:avLst/>
            <a:gdLst>
              <a:gd name="connsiteX0" fmla="*/ 175861 w 5286375"/>
              <a:gd name="connsiteY0" fmla="*/ 0 h 3786581"/>
              <a:gd name="connsiteX1" fmla="*/ 5110514 w 5286375"/>
              <a:gd name="connsiteY1" fmla="*/ 0 h 3786581"/>
              <a:gd name="connsiteX2" fmla="*/ 5286375 w 5286375"/>
              <a:gd name="connsiteY2" fmla="*/ 175861 h 3786581"/>
              <a:gd name="connsiteX3" fmla="*/ 5286375 w 5286375"/>
              <a:gd name="connsiteY3" fmla="*/ 3622430 h 3786581"/>
              <a:gd name="connsiteX4" fmla="*/ 5178967 w 5286375"/>
              <a:gd name="connsiteY4" fmla="*/ 3784471 h 3786581"/>
              <a:gd name="connsiteX5" fmla="*/ 5168515 w 5286375"/>
              <a:gd name="connsiteY5" fmla="*/ 3786581 h 3786581"/>
              <a:gd name="connsiteX6" fmla="*/ 117860 w 5286375"/>
              <a:gd name="connsiteY6" fmla="*/ 3786581 h 3786581"/>
              <a:gd name="connsiteX7" fmla="*/ 107408 w 5286375"/>
              <a:gd name="connsiteY7" fmla="*/ 3784471 h 3786581"/>
              <a:gd name="connsiteX8" fmla="*/ 0 w 5286375"/>
              <a:gd name="connsiteY8" fmla="*/ 3622430 h 3786581"/>
              <a:gd name="connsiteX9" fmla="*/ 0 w 5286375"/>
              <a:gd name="connsiteY9" fmla="*/ 175861 h 3786581"/>
              <a:gd name="connsiteX10" fmla="*/ 175861 w 5286375"/>
              <a:gd name="connsiteY10" fmla="*/ 0 h 378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6375" h="3786581">
                <a:moveTo>
                  <a:pt x="175861" y="0"/>
                </a:moveTo>
                <a:lnTo>
                  <a:pt x="5110514" y="0"/>
                </a:lnTo>
                <a:cubicBezTo>
                  <a:pt x="5207639" y="0"/>
                  <a:pt x="5286375" y="78736"/>
                  <a:pt x="5286375" y="175861"/>
                </a:cubicBezTo>
                <a:lnTo>
                  <a:pt x="5286375" y="3622430"/>
                </a:lnTo>
                <a:cubicBezTo>
                  <a:pt x="5286375" y="3695274"/>
                  <a:pt x="5242086" y="3757774"/>
                  <a:pt x="5178967" y="3784471"/>
                </a:cubicBezTo>
                <a:lnTo>
                  <a:pt x="5168515" y="3786581"/>
                </a:lnTo>
                <a:lnTo>
                  <a:pt x="117860" y="3786581"/>
                </a:lnTo>
                <a:lnTo>
                  <a:pt x="107408" y="3784471"/>
                </a:lnTo>
                <a:cubicBezTo>
                  <a:pt x="44289" y="3757774"/>
                  <a:pt x="0" y="3695274"/>
                  <a:pt x="0" y="3622430"/>
                </a:cubicBezTo>
                <a:lnTo>
                  <a:pt x="0" y="175861"/>
                </a:lnTo>
                <a:cubicBezTo>
                  <a:pt x="0" y="78736"/>
                  <a:pt x="78736" y="0"/>
                  <a:pt x="175861" y="0"/>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50206"/>
            <a:ext cx="5334000" cy="4414837"/>
          </a:xfrm>
          <a:prstGeom prst="rect">
            <a:avLst/>
          </a:prstGeom>
        </p:spPr>
      </p:pic>
      <p:pic>
        <p:nvPicPr>
          <p:cNvPr id="4" name="Picture 3" descr="image.png"/>
          <p:cNvPicPr>
            <a:picLocks noChangeAspect="1"/>
          </p:cNvPicPr>
          <p:nvPr/>
        </p:nvPicPr>
        <p:blipFill>
          <a:blip r:embed="rId4"/>
          <a:stretch>
            <a:fillRect/>
          </a:stretch>
        </p:blipFill>
        <p:spPr>
          <a:xfrm>
            <a:off x="6286500" y="1650206"/>
            <a:ext cx="5334000" cy="4414837"/>
          </a:xfrm>
          <a:prstGeom prst="rect">
            <a:avLst/>
          </a:prstGeom>
        </p:spPr>
      </p:pic>
      <p:sp>
        <p:nvSpPr>
          <p:cNvPr id="6" name="TextBox 5"/>
          <p:cNvSpPr txBox="1"/>
          <p:nvPr/>
        </p:nvSpPr>
        <p:spPr>
          <a:xfrm>
            <a:off x="962025" y="204073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The Modern Behemoth</a:t>
            </a:r>
          </a:p>
        </p:txBody>
      </p:sp>
      <p:sp>
        <p:nvSpPr>
          <p:cNvPr id="7" name="TextBox 6"/>
          <p:cNvSpPr txBox="1"/>
          <p:nvPr/>
        </p:nvSpPr>
        <p:spPr>
          <a:xfrm>
            <a:off x="962025" y="2516981"/>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Incorporated in 1992, the NSE was built to bring transparency. It was the first exchange in India to provide a fully automated, screen-based trading system.</a:t>
            </a:r>
          </a:p>
        </p:txBody>
      </p:sp>
      <p:sp>
        <p:nvSpPr>
          <p:cNvPr id="8" name="TextBox 7"/>
          <p:cNvSpPr txBox="1"/>
          <p:nvPr/>
        </p:nvSpPr>
        <p:spPr>
          <a:xfrm>
            <a:off x="962025" y="4191000"/>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Before this, trading was a chaotic, physical process happening inside a crowded ring. NSE took it digital, connecting investors across the entire country instantly.</a:t>
            </a:r>
          </a:p>
        </p:txBody>
      </p:sp>
      <p:sp>
        <p:nvSpPr>
          <p:cNvPr id="10" name="TextBox 9"/>
          <p:cNvSpPr txBox="1"/>
          <p:nvPr/>
        </p:nvSpPr>
        <p:spPr>
          <a:xfrm>
            <a:off x="6677025" y="204073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The Volume King</a:t>
            </a:r>
          </a:p>
        </p:txBody>
      </p:sp>
      <p:sp>
        <p:nvSpPr>
          <p:cNvPr id="11" name="TextBox 10"/>
          <p:cNvSpPr txBox="1"/>
          <p:nvPr/>
        </p:nvSpPr>
        <p:spPr>
          <a:xfrm>
            <a:off x="6677025" y="2516981"/>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While the BSE is older, the NSE dominates the market when it comes to daily trading volume and liquidity, especially in Futures &amp; Options (F&amp;O).</a:t>
            </a:r>
          </a:p>
        </p:txBody>
      </p:sp>
      <p:sp>
        <p:nvSpPr>
          <p:cNvPr id="12" name="TextBox 11"/>
          <p:cNvSpPr txBox="1"/>
          <p:nvPr/>
        </p:nvSpPr>
        <p:spPr>
          <a:xfrm>
            <a:off x="6677025" y="4191000"/>
            <a:ext cx="455295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Its flagship benchmark index is the </a:t>
            </a:r>
            <a:r>
              <a:rPr sz="1650" b="1" i="0" u="none">
                <a:solidFill>
                  <a:srgbClr val="CBD5E1"/>
                </a:solidFill>
                <a:latin typeface="Inter"/>
              </a:rPr>
              <a:t>NIFTY 50</a:t>
            </a:r>
            <a:r>
              <a:rPr sz="1650" b="0" i="0" u="none">
                <a:solidFill>
                  <a:srgbClr val="CBD5E1"/>
                </a:solidFill>
                <a:latin typeface="Inter"/>
              </a:rPr>
              <a:t>, tracking the 50 largest Indian companies.</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National Stock Exchange </a:t>
            </a:r>
            <a:r>
              <a:rPr sz="3600" b="1" i="0" u="none">
                <a:solidFill>
                  <a:srgbClr val="F59E0B"/>
                </a:solidFill>
                <a:latin typeface="Outfit"/>
              </a:rPr>
              <a:t>(NSE)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071562" y="1714500"/>
            <a:ext cx="4286250" cy="4286250"/>
          </a:xfrm>
          <a:prstGeom prst="rect">
            <a:avLst/>
          </a:prstGeom>
        </p:spPr>
      </p:pic>
      <p:sp>
        <p:nvSpPr>
          <p:cNvPr id="4" name="TextBox 3"/>
          <p:cNvSpPr txBox="1"/>
          <p:nvPr/>
        </p:nvSpPr>
        <p:spPr>
          <a:xfrm>
            <a:off x="6334125" y="1874043"/>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Historic Pioneer</a:t>
            </a:r>
          </a:p>
        </p:txBody>
      </p:sp>
      <p:sp>
        <p:nvSpPr>
          <p:cNvPr id="5" name="TextBox 4"/>
          <p:cNvSpPr txBox="1"/>
          <p:nvPr/>
        </p:nvSpPr>
        <p:spPr>
          <a:xfrm>
            <a:off x="6334125" y="2350293"/>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Established in 1875 under a banyan tree, the BSE is officially the oldest stock exchange in all of Asia. It laid the foundation for wealth creation in India.</a:t>
            </a:r>
          </a:p>
        </p:txBody>
      </p:sp>
      <p:sp>
        <p:nvSpPr>
          <p:cNvPr id="6" name="TextBox 5"/>
          <p:cNvSpPr txBox="1"/>
          <p:nvPr/>
        </p:nvSpPr>
        <p:spPr>
          <a:xfrm>
            <a:off x="6334125" y="3689151"/>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Massive Scale:</a:t>
            </a:r>
            <a:r>
              <a:rPr sz="1650" b="0" i="0" u="none">
                <a:solidFill>
                  <a:srgbClr val="CBD5E1"/>
                </a:solidFill>
                <a:latin typeface="Inter"/>
              </a:rPr>
              <a:t> Even though NSE leads in volume, BSE has the highest number of listed companies in India (over 5,000).</a:t>
            </a:r>
          </a:p>
        </p:txBody>
      </p:sp>
      <p:sp>
        <p:nvSpPr>
          <p:cNvPr id="7" name="TextBox 6"/>
          <p:cNvSpPr txBox="1"/>
          <p:nvPr/>
        </p:nvSpPr>
        <p:spPr>
          <a:xfrm>
            <a:off x="6334125" y="5028009"/>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Its flagship index is the </a:t>
            </a:r>
            <a:r>
              <a:rPr sz="1650" b="1" i="0" u="none">
                <a:solidFill>
                  <a:srgbClr val="CBD5E1"/>
                </a:solidFill>
                <a:latin typeface="Inter"/>
              </a:rPr>
              <a:t>SENSEX</a:t>
            </a:r>
            <a:r>
              <a:rPr sz="1650" b="0" i="0" u="none">
                <a:solidFill>
                  <a:srgbClr val="CBD5E1"/>
                </a:solidFill>
                <a:latin typeface="Inter"/>
              </a:rPr>
              <a:t>, tracking the top 30 most financially sound companies.</a:t>
            </a:r>
          </a:p>
        </p:txBody>
      </p:sp>
      <p:pic>
        <p:nvPicPr>
          <p:cNvPr id="8" name="Picture 7" descr="image.png"/>
          <p:cNvPicPr>
            <a:picLocks noChangeAspect="1"/>
          </p:cNvPicPr>
          <p:nvPr/>
        </p:nvPicPr>
        <p:blipFill>
          <a:blip r:embed="rId4"/>
          <a:stretch>
            <a:fillRect/>
          </a:stretch>
        </p:blipFill>
        <p:spPr>
          <a:xfrm>
            <a:off x="1185862" y="1828800"/>
            <a:ext cx="4057650" cy="405765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Bombay Stock Exchange </a:t>
            </a:r>
            <a:r>
              <a:rPr sz="3600" b="1" i="0" u="none">
                <a:solidFill>
                  <a:srgbClr val="F59E0B"/>
                </a:solidFill>
                <a:latin typeface="Outfit"/>
              </a:rPr>
              <a:t>(BSE)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Depository</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1944588"/>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 the old days, when you bought shares, you received a physical paper certificate. Imagine keeping track of a piece of paper for 20 years!</a:t>
            </a:r>
          </a:p>
        </p:txBody>
      </p:sp>
      <p:sp>
        <p:nvSpPr>
          <p:cNvPr id="6" name="TextBox 5"/>
          <p:cNvSpPr txBox="1"/>
          <p:nvPr/>
        </p:nvSpPr>
        <p:spPr>
          <a:xfrm>
            <a:off x="571500" y="3283446"/>
            <a:ext cx="5286375"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 Depository acts like a massive digital bank vault. Instead of holding your cash, it holds your shares, bonds, and mutual funds in </a:t>
            </a:r>
            <a:r>
              <a:rPr sz="1650" b="1" i="0" u="none">
                <a:solidFill>
                  <a:srgbClr val="CBD5E1"/>
                </a:solidFill>
                <a:latin typeface="Inter"/>
              </a:rPr>
              <a:t>Dematerialized (Demat)</a:t>
            </a:r>
            <a:r>
              <a:rPr sz="1650" b="0" i="0" u="none">
                <a:solidFill>
                  <a:srgbClr val="CBD5E1"/>
                </a:solidFill>
                <a:latin typeface="Inter"/>
              </a:rPr>
              <a:t> form.</a:t>
            </a:r>
          </a:p>
        </p:txBody>
      </p:sp>
      <p:sp>
        <p:nvSpPr>
          <p:cNvPr id="7" name="TextBox 6"/>
          <p:cNvSpPr txBox="1"/>
          <p:nvPr/>
        </p:nvSpPr>
        <p:spPr>
          <a:xfrm>
            <a:off x="571500" y="4957464"/>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completely eliminated the risks of theft, forgery, or losing your paper certificates in a flood or fire.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47925"/>
            <a:ext cx="5286375" cy="2819400"/>
          </a:xfrm>
          <a:prstGeom prst="rect">
            <a:avLst/>
          </a:prstGeom>
        </p:spPr>
      </p:pic>
      <p:sp>
        <p:nvSpPr>
          <p:cNvPr id="4" name="TextBox 3"/>
          <p:cNvSpPr txBox="1"/>
          <p:nvPr/>
        </p:nvSpPr>
        <p:spPr>
          <a:xfrm>
            <a:off x="962025" y="3028950"/>
            <a:ext cx="4505325" cy="1238250"/>
          </a:xfrm>
          <a:prstGeom prst="rect">
            <a:avLst/>
          </a:prstGeom>
          <a:noFill/>
        </p:spPr>
        <p:txBody>
          <a:bodyPr wrap="square" lIns="0" tIns="0" rIns="0" bIns="0" anchor="t">
            <a:spAutoFit/>
          </a:bodyPr>
          <a:lstStyle/>
          <a:p>
            <a:pPr algn="ctr">
              <a:lnSpc>
                <a:spcPts val="9750"/>
              </a:lnSpc>
              <a:defRPr/>
            </a:pPr>
            <a:r>
              <a:rPr sz="9750" b="1" i="0" u="none">
                <a:solidFill>
                  <a:srgbClr val="10B981"/>
                </a:solidFill>
                <a:latin typeface="Outfit"/>
              </a:rPr>
              <a:t>1996</a:t>
            </a:r>
          </a:p>
        </p:txBody>
      </p:sp>
      <p:sp>
        <p:nvSpPr>
          <p:cNvPr id="5" name="TextBox 4"/>
          <p:cNvSpPr txBox="1"/>
          <p:nvPr/>
        </p:nvSpPr>
        <p:spPr>
          <a:xfrm>
            <a:off x="962025" y="4362450"/>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YEAR ESTABLISHED</a:t>
            </a:r>
          </a:p>
        </p:txBody>
      </p:sp>
      <p:sp>
        <p:nvSpPr>
          <p:cNvPr id="6" name="TextBox 5"/>
          <p:cNvSpPr txBox="1"/>
          <p:nvPr/>
        </p:nvSpPr>
        <p:spPr>
          <a:xfrm>
            <a:off x="6334125" y="2375892"/>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National Securities Depository Limited</a:t>
            </a:r>
          </a:p>
        </p:txBody>
      </p:sp>
      <p:sp>
        <p:nvSpPr>
          <p:cNvPr id="7" name="TextBox 6"/>
          <p:cNvSpPr txBox="1"/>
          <p:nvPr/>
        </p:nvSpPr>
        <p:spPr>
          <a:xfrm>
            <a:off x="6334125" y="2852142"/>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Promoted by the National Stock Exchange (NSE) and major institutions like IDBI and UTI.</a:t>
            </a:r>
          </a:p>
        </p:txBody>
      </p:sp>
      <p:sp>
        <p:nvSpPr>
          <p:cNvPr id="8" name="TextBox 7"/>
          <p:cNvSpPr txBox="1"/>
          <p:nvPr/>
        </p:nvSpPr>
        <p:spPr>
          <a:xfrm>
            <a:off x="6334125" y="3855839"/>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First Mover:</a:t>
            </a:r>
            <a:r>
              <a:rPr sz="1650" b="0" i="0" u="none">
                <a:solidFill>
                  <a:srgbClr val="CBD5E1"/>
                </a:solidFill>
                <a:latin typeface="Inter"/>
              </a:rPr>
              <a:t> NSDL was the very first depository to be established in India, successfully transitioning the country from a physical paper market to a modern, digital ecosystem.</a:t>
            </a:r>
          </a:p>
        </p:txBody>
      </p:sp>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Meet </a:t>
            </a:r>
            <a:r>
              <a:rPr sz="3600" b="1" i="0" u="none">
                <a:solidFill>
                  <a:srgbClr val="F59E0B"/>
                </a:solidFill>
                <a:latin typeface="Outfit"/>
              </a:rPr>
              <a:t>NSDL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47925"/>
            <a:ext cx="5286375" cy="2819400"/>
          </a:xfrm>
          <a:prstGeom prst="rect">
            <a:avLst/>
          </a:prstGeom>
        </p:spPr>
      </p:pic>
      <p:sp>
        <p:nvSpPr>
          <p:cNvPr id="4" name="TextBox 3"/>
          <p:cNvSpPr txBox="1"/>
          <p:nvPr/>
        </p:nvSpPr>
        <p:spPr>
          <a:xfrm>
            <a:off x="962025" y="3028950"/>
            <a:ext cx="4505325" cy="1238250"/>
          </a:xfrm>
          <a:prstGeom prst="rect">
            <a:avLst/>
          </a:prstGeom>
          <a:noFill/>
        </p:spPr>
        <p:txBody>
          <a:bodyPr wrap="square" lIns="0" tIns="0" rIns="0" bIns="0" anchor="t">
            <a:spAutoFit/>
          </a:bodyPr>
          <a:lstStyle/>
          <a:p>
            <a:pPr algn="ctr">
              <a:lnSpc>
                <a:spcPts val="9750"/>
              </a:lnSpc>
              <a:defRPr/>
            </a:pPr>
            <a:r>
              <a:rPr sz="9750" b="1" i="0" u="none">
                <a:solidFill>
                  <a:srgbClr val="10B981"/>
                </a:solidFill>
                <a:latin typeface="Outfit"/>
              </a:rPr>
              <a:t>1999</a:t>
            </a:r>
          </a:p>
        </p:txBody>
      </p:sp>
      <p:sp>
        <p:nvSpPr>
          <p:cNvPr id="5" name="TextBox 4"/>
          <p:cNvSpPr txBox="1"/>
          <p:nvPr/>
        </p:nvSpPr>
        <p:spPr>
          <a:xfrm>
            <a:off x="962025" y="4362450"/>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YEAR ESTABLISHED</a:t>
            </a:r>
          </a:p>
        </p:txBody>
      </p:sp>
      <p:sp>
        <p:nvSpPr>
          <p:cNvPr id="6" name="TextBox 5"/>
          <p:cNvSpPr txBox="1"/>
          <p:nvPr/>
        </p:nvSpPr>
        <p:spPr>
          <a:xfrm>
            <a:off x="6334125" y="2208311"/>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Central Depository Services Limited</a:t>
            </a:r>
          </a:p>
        </p:txBody>
      </p:sp>
      <p:sp>
        <p:nvSpPr>
          <p:cNvPr id="7" name="TextBox 6"/>
          <p:cNvSpPr txBox="1"/>
          <p:nvPr/>
        </p:nvSpPr>
        <p:spPr>
          <a:xfrm>
            <a:off x="6334125" y="2684561"/>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Promoted by the Bombay Stock Exchange (BSE) alongside major public sector banks.</a:t>
            </a:r>
          </a:p>
        </p:txBody>
      </p:sp>
      <p:sp>
        <p:nvSpPr>
          <p:cNvPr id="8" name="TextBox 7"/>
          <p:cNvSpPr txBox="1"/>
          <p:nvPr/>
        </p:nvSpPr>
        <p:spPr>
          <a:xfrm>
            <a:off x="6334125" y="3688258"/>
            <a:ext cx="5286375" cy="1675804"/>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Retail Favorite:</a:t>
            </a:r>
            <a:r>
              <a:rPr sz="1650" b="0" i="0" u="none">
                <a:solidFill>
                  <a:srgbClr val="CBD5E1"/>
                </a:solidFill>
                <a:latin typeface="Inter"/>
              </a:rPr>
              <a:t> While NSDL was the first, CDSL has grown massively over the last few years and currently holds the record for the highest number of active demat accounts in India, largely driven by discount brokers.</a:t>
            </a:r>
          </a:p>
        </p:txBody>
      </p:sp>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Meet </a:t>
            </a:r>
            <a:r>
              <a:rPr sz="3600" b="1" i="0" u="none">
                <a:solidFill>
                  <a:srgbClr val="F59E0B"/>
                </a:solidFill>
                <a:latin typeface="Outfit"/>
              </a:rPr>
              <a:t>CDSL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52625"/>
            <a:ext cx="3492549" cy="3810000"/>
          </a:xfrm>
          <a:prstGeom prst="rect">
            <a:avLst/>
          </a:prstGeom>
        </p:spPr>
      </p:pic>
      <p:pic>
        <p:nvPicPr>
          <p:cNvPr id="4" name="Picture 3" descr="image.png"/>
          <p:cNvPicPr>
            <a:picLocks noChangeAspect="1"/>
          </p:cNvPicPr>
          <p:nvPr/>
        </p:nvPicPr>
        <p:blipFill>
          <a:blip r:embed="rId4"/>
          <a:stretch>
            <a:fillRect/>
          </a:stretch>
        </p:blipFill>
        <p:spPr>
          <a:xfrm>
            <a:off x="4349799" y="1952625"/>
            <a:ext cx="3492549" cy="3810000"/>
          </a:xfrm>
          <a:prstGeom prst="rect">
            <a:avLst/>
          </a:prstGeom>
        </p:spPr>
      </p:pic>
      <p:pic>
        <p:nvPicPr>
          <p:cNvPr id="5" name="Picture 4" descr="image.png"/>
          <p:cNvPicPr>
            <a:picLocks noChangeAspect="1"/>
          </p:cNvPicPr>
          <p:nvPr/>
        </p:nvPicPr>
        <p:blipFill>
          <a:blip r:embed="rId5"/>
          <a:stretch>
            <a:fillRect/>
          </a:stretch>
        </p:blipFill>
        <p:spPr>
          <a:xfrm>
            <a:off x="8128099" y="1952625"/>
            <a:ext cx="3492549" cy="3810000"/>
          </a:xfrm>
          <a:prstGeom prst="rect">
            <a:avLst/>
          </a:prstGeom>
        </p:spPr>
      </p:pic>
      <p:pic>
        <p:nvPicPr>
          <p:cNvPr id="6" name="Picture 5" descr="image.png"/>
          <p:cNvPicPr>
            <a:picLocks noChangeAspect="1"/>
          </p:cNvPicPr>
          <p:nvPr/>
        </p:nvPicPr>
        <p:blipFill>
          <a:blip r:embed="rId6"/>
          <a:stretch>
            <a:fillRect/>
          </a:stretch>
        </p:blipFill>
        <p:spPr>
          <a:xfrm>
            <a:off x="1936700" y="2343150"/>
            <a:ext cx="762000" cy="342900"/>
          </a:xfrm>
          <a:prstGeom prst="rect">
            <a:avLst/>
          </a:prstGeom>
        </p:spPr>
      </p:pic>
      <p:sp>
        <p:nvSpPr>
          <p:cNvPr id="7" name="TextBox 6"/>
          <p:cNvSpPr txBox="1"/>
          <p:nvPr/>
        </p:nvSpPr>
        <p:spPr>
          <a:xfrm>
            <a:off x="812512" y="2914650"/>
            <a:ext cx="3010376" cy="333375"/>
          </a:xfrm>
          <a:prstGeom prst="rect">
            <a:avLst/>
          </a:prstGeom>
          <a:noFill/>
        </p:spPr>
        <p:txBody>
          <a:bodyPr wrap="square" lIns="0" tIns="0" rIns="0" bIns="0" anchor="t">
            <a:spAutoFit/>
          </a:bodyPr>
          <a:lstStyle/>
          <a:p>
            <a:pPr algn="ctr"/>
            <a:r>
              <a:rPr sz="2100" b="1" i="0" u="none">
                <a:solidFill>
                  <a:srgbClr val="F59E0B"/>
                </a:solidFill>
                <a:latin typeface="Outfit"/>
              </a:rPr>
              <a:t>The Middleman of Trust</a:t>
            </a:r>
          </a:p>
        </p:txBody>
      </p:sp>
      <p:sp>
        <p:nvSpPr>
          <p:cNvPr id="8" name="TextBox 7"/>
          <p:cNvSpPr txBox="1"/>
          <p:nvPr/>
        </p:nvSpPr>
        <p:spPr>
          <a:xfrm>
            <a:off x="866775"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When you buy a share, how do you know the seller will actually deliver it? The Clearing Corporation sits in between every single trade to guarantee it.</a:t>
            </a:r>
          </a:p>
        </p:txBody>
      </p:sp>
      <p:pic>
        <p:nvPicPr>
          <p:cNvPr id="9" name="Picture 8" descr="image.png"/>
          <p:cNvPicPr>
            <a:picLocks noChangeAspect="1"/>
          </p:cNvPicPr>
          <p:nvPr/>
        </p:nvPicPr>
        <p:blipFill>
          <a:blip r:embed="rId6"/>
          <a:stretch>
            <a:fillRect/>
          </a:stretch>
        </p:blipFill>
        <p:spPr>
          <a:xfrm>
            <a:off x="5715000" y="2343150"/>
            <a:ext cx="762000" cy="342900"/>
          </a:xfrm>
          <a:prstGeom prst="rect">
            <a:avLst/>
          </a:prstGeom>
        </p:spPr>
      </p:pic>
      <p:sp>
        <p:nvSpPr>
          <p:cNvPr id="10" name="TextBox 9"/>
          <p:cNvSpPr txBox="1"/>
          <p:nvPr/>
        </p:nvSpPr>
        <p:spPr>
          <a:xfrm>
            <a:off x="4615815" y="2914650"/>
            <a:ext cx="2960370" cy="333375"/>
          </a:xfrm>
          <a:prstGeom prst="rect">
            <a:avLst/>
          </a:prstGeom>
          <a:noFill/>
        </p:spPr>
        <p:txBody>
          <a:bodyPr wrap="square" lIns="0" tIns="0" rIns="0" bIns="0" anchor="t">
            <a:spAutoFit/>
          </a:bodyPr>
          <a:lstStyle/>
          <a:p>
            <a:pPr algn="ctr"/>
            <a:r>
              <a:rPr sz="2100" b="1" i="0" u="none">
                <a:solidFill>
                  <a:srgbClr val="F59E0B"/>
                </a:solidFill>
                <a:latin typeface="Outfit"/>
              </a:rPr>
              <a:t>Zero Counterparty Risk</a:t>
            </a:r>
          </a:p>
        </p:txBody>
      </p:sp>
      <p:sp>
        <p:nvSpPr>
          <p:cNvPr id="11" name="TextBox 10"/>
          <p:cNvSpPr txBox="1"/>
          <p:nvPr/>
        </p:nvSpPr>
        <p:spPr>
          <a:xfrm>
            <a:off x="4645074"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It acts as a buyer to every seller, and a seller to every buyer. Even if the person on the other end defaults, the Clearing Corp ensures your trade goes through.</a:t>
            </a:r>
          </a:p>
        </p:txBody>
      </p:sp>
      <p:pic>
        <p:nvPicPr>
          <p:cNvPr id="12" name="Picture 11" descr="image.png"/>
          <p:cNvPicPr>
            <a:picLocks noChangeAspect="1"/>
          </p:cNvPicPr>
          <p:nvPr/>
        </p:nvPicPr>
        <p:blipFill>
          <a:blip r:embed="rId7"/>
          <a:stretch>
            <a:fillRect/>
          </a:stretch>
        </p:blipFill>
        <p:spPr>
          <a:xfrm>
            <a:off x="9493299" y="2343150"/>
            <a:ext cx="762000" cy="342900"/>
          </a:xfrm>
          <a:prstGeom prst="rect">
            <a:avLst/>
          </a:prstGeom>
        </p:spPr>
      </p:pic>
      <p:sp>
        <p:nvSpPr>
          <p:cNvPr id="13" name="TextBox 12"/>
          <p:cNvSpPr txBox="1"/>
          <p:nvPr/>
        </p:nvSpPr>
        <p:spPr>
          <a:xfrm>
            <a:off x="8474124" y="2914650"/>
            <a:ext cx="2800350" cy="333375"/>
          </a:xfrm>
          <a:prstGeom prst="rect">
            <a:avLst/>
          </a:prstGeom>
          <a:noFill/>
        </p:spPr>
        <p:txBody>
          <a:bodyPr wrap="square" lIns="0" tIns="0" rIns="0" bIns="0" anchor="t">
            <a:spAutoFit/>
          </a:bodyPr>
          <a:lstStyle/>
          <a:p>
            <a:pPr algn="ctr"/>
            <a:r>
              <a:rPr sz="2100" b="1" i="0" u="none">
                <a:solidFill>
                  <a:srgbClr val="F59E0B"/>
                </a:solidFill>
                <a:latin typeface="Outfit"/>
              </a:rPr>
              <a:t>Settlement Mechanics</a:t>
            </a:r>
          </a:p>
        </p:txBody>
      </p:sp>
      <p:sp>
        <p:nvSpPr>
          <p:cNvPr id="14" name="TextBox 13"/>
          <p:cNvSpPr txBox="1"/>
          <p:nvPr/>
        </p:nvSpPr>
        <p:spPr>
          <a:xfrm>
            <a:off x="8423374"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They handle the complex background math: deducting funds from the buyer's account and moving the digital shares from the seller's demat account.</a:t>
            </a:r>
          </a:p>
        </p:txBody>
      </p:sp>
      <p:pic>
        <p:nvPicPr>
          <p:cNvPr id="15" name="Picture 14" descr="image.png"/>
          <p:cNvPicPr>
            <a:picLocks noChangeAspect="1"/>
          </p:cNvPicPr>
          <p:nvPr/>
        </p:nvPicPr>
        <p:blipFill>
          <a:blip r:embed="rId8"/>
          <a:stretch>
            <a:fillRect/>
          </a:stretch>
        </p:blipFill>
        <p:spPr>
          <a:xfrm>
            <a:off x="2103387" y="2343150"/>
            <a:ext cx="428625" cy="342900"/>
          </a:xfrm>
          <a:prstGeom prst="rect">
            <a:avLst/>
          </a:prstGeom>
        </p:spPr>
      </p:pic>
      <p:pic>
        <p:nvPicPr>
          <p:cNvPr id="16" name="Picture 15" descr="image.png"/>
          <p:cNvPicPr>
            <a:picLocks noChangeAspect="1"/>
          </p:cNvPicPr>
          <p:nvPr/>
        </p:nvPicPr>
        <p:blipFill>
          <a:blip r:embed="rId9"/>
          <a:stretch>
            <a:fillRect/>
          </a:stretch>
        </p:blipFill>
        <p:spPr>
          <a:xfrm>
            <a:off x="5924550" y="2343150"/>
            <a:ext cx="342900" cy="342900"/>
          </a:xfrm>
          <a:prstGeom prst="rect">
            <a:avLst/>
          </a:prstGeom>
        </p:spPr>
      </p:pic>
      <p:pic>
        <p:nvPicPr>
          <p:cNvPr id="17" name="Picture 16" descr="image.png"/>
          <p:cNvPicPr>
            <a:picLocks noChangeAspect="1"/>
          </p:cNvPicPr>
          <p:nvPr/>
        </p:nvPicPr>
        <p:blipFill>
          <a:blip r:embed="rId10"/>
          <a:stretch>
            <a:fillRect/>
          </a:stretch>
        </p:blipFill>
        <p:spPr>
          <a:xfrm>
            <a:off x="9659987" y="2343150"/>
            <a:ext cx="428625" cy="342900"/>
          </a:xfrm>
          <a:prstGeom prst="rect">
            <a:avLst/>
          </a:prstGeom>
        </p:spPr>
      </p:pic>
      <p:sp>
        <p:nvSpPr>
          <p:cNvPr id="18" name="TextBox 17"/>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Clearing Corporation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952625"/>
            <a:ext cx="5286375" cy="3810000"/>
          </a:xfrm>
          <a:prstGeom prst="rect">
            <a:avLst/>
          </a:prstGeom>
        </p:spPr>
      </p:pic>
      <p:sp>
        <p:nvSpPr>
          <p:cNvPr id="4" name="TextBox 3"/>
          <p:cNvSpPr txBox="1"/>
          <p:nvPr/>
        </p:nvSpPr>
        <p:spPr>
          <a:xfrm>
            <a:off x="571500" y="1618952"/>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You cannot walk into the NSE or BSE to buy a share. You need a registered intermediary. That is your Stock Broker.</a:t>
            </a:r>
          </a:p>
        </p:txBody>
      </p:sp>
      <p:sp>
        <p:nvSpPr>
          <p:cNvPr id="5" name="TextBox 4"/>
          <p:cNvSpPr txBox="1"/>
          <p:nvPr/>
        </p:nvSpPr>
        <p:spPr>
          <a:xfrm>
            <a:off x="914400" y="2957810"/>
            <a:ext cx="49434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Full-Service Brokers:</a:t>
            </a:r>
            <a:r>
              <a:rPr sz="1650" b="0" i="0" u="none">
                <a:solidFill>
                  <a:srgbClr val="CBD5E1"/>
                </a:solidFill>
                <a:latin typeface="Inter"/>
              </a:rPr>
              <a:t> Traditional brokers (like HDFC Sec or ICICI Direct) who offer dedicated relationship managers, research reports, and advisory, but charge high commissions.</a:t>
            </a:r>
          </a:p>
        </p:txBody>
      </p:sp>
      <p:sp>
        <p:nvSpPr>
          <p:cNvPr id="6" name="TextBox 5"/>
          <p:cNvSpPr txBox="1"/>
          <p:nvPr/>
        </p:nvSpPr>
        <p:spPr>
          <a:xfrm>
            <a:off x="914400" y="4527053"/>
            <a:ext cx="49434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Discount Brokers:</a:t>
            </a:r>
            <a:r>
              <a:rPr sz="1650" b="0" i="0" u="none">
                <a:solidFill>
                  <a:srgbClr val="CBD5E1"/>
                </a:solidFill>
                <a:latin typeface="Inter"/>
              </a:rPr>
              <a:t> Modern tech platforms (like Zerodha, Groww, or Upstox) offering a seamless DIY mobile app with zero or flat-fee brokerage. Perfect for beginners.</a:t>
            </a:r>
          </a:p>
        </p:txBody>
      </p:sp>
      <p:sp>
        <p:nvSpPr>
          <p:cNvPr id="8" name="TextBox 7"/>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Stock </a:t>
            </a:r>
            <a:r>
              <a:rPr sz="3600" b="1" i="0" u="none">
                <a:solidFill>
                  <a:srgbClr val="F59E0B"/>
                </a:solidFill>
                <a:latin typeface="Outfit"/>
              </a:rPr>
              <a:t>Brokers</a:t>
            </a:r>
          </a:p>
        </p:txBody>
      </p:sp>
      <p:pic>
        <p:nvPicPr>
          <p:cNvPr id="9" name="Picture 8" descr="image.png"/>
          <p:cNvPicPr>
            <a:picLocks noChangeAspect="1"/>
          </p:cNvPicPr>
          <p:nvPr/>
        </p:nvPicPr>
        <p:blipFill>
          <a:blip r:embed="rId4"/>
          <a:stretch>
            <a:fillRect/>
          </a:stretch>
        </p:blipFill>
        <p:spPr>
          <a:xfrm>
            <a:off x="571500" y="2976860"/>
            <a:ext cx="190500" cy="200025"/>
          </a:xfrm>
          <a:prstGeom prst="rect">
            <a:avLst/>
          </a:prstGeom>
        </p:spPr>
      </p:pic>
      <p:pic>
        <p:nvPicPr>
          <p:cNvPr id="10" name="Picture 9" descr="image.png"/>
          <p:cNvPicPr>
            <a:picLocks noChangeAspect="1"/>
          </p:cNvPicPr>
          <p:nvPr/>
        </p:nvPicPr>
        <p:blipFill>
          <a:blip r:embed="rId4"/>
          <a:stretch>
            <a:fillRect/>
          </a:stretch>
        </p:blipFill>
        <p:spPr>
          <a:xfrm>
            <a:off x="571500" y="4546103"/>
            <a:ext cx="190500" cy="200025"/>
          </a:xfrm>
          <a:prstGeom prst="rect">
            <a:avLst/>
          </a:prstGeom>
        </p:spPr>
      </p:pic>
      <p:pic>
        <p:nvPicPr>
          <p:cNvPr id="12" name="Picture 11" descr="Tips For Choosing Best Stock Broker - Share India">
            <a:extLst>
              <a:ext uri="{FF2B5EF4-FFF2-40B4-BE49-F238E27FC236}">
                <a16:creationId xmlns:a16="http://schemas.microsoft.com/office/drawing/2014/main" id="{B8775748-8A44-BCC7-0C66-4CBDA7ABA8A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249" r="12961" b="2684"/>
          <a:stretch>
            <a:fillRect/>
          </a:stretch>
        </p:blipFill>
        <p:spPr bwMode="auto">
          <a:xfrm>
            <a:off x="6334126" y="1952625"/>
            <a:ext cx="5271279" cy="3809998"/>
          </a:xfrm>
          <a:custGeom>
            <a:avLst/>
            <a:gdLst>
              <a:gd name="connsiteX0" fmla="*/ 168288 w 5271279"/>
              <a:gd name="connsiteY0" fmla="*/ 0 h 3809998"/>
              <a:gd name="connsiteX1" fmla="*/ 5102991 w 5271279"/>
              <a:gd name="connsiteY1" fmla="*/ 0 h 3809998"/>
              <a:gd name="connsiteX2" fmla="*/ 5271279 w 5271279"/>
              <a:gd name="connsiteY2" fmla="*/ 168288 h 3809998"/>
              <a:gd name="connsiteX3" fmla="*/ 5271279 w 5271279"/>
              <a:gd name="connsiteY3" fmla="*/ 3641710 h 3809998"/>
              <a:gd name="connsiteX4" fmla="*/ 5102991 w 5271279"/>
              <a:gd name="connsiteY4" fmla="*/ 3809998 h 3809998"/>
              <a:gd name="connsiteX5" fmla="*/ 168288 w 5271279"/>
              <a:gd name="connsiteY5" fmla="*/ 3809998 h 3809998"/>
              <a:gd name="connsiteX6" fmla="*/ 0 w 5271279"/>
              <a:gd name="connsiteY6" fmla="*/ 3641710 h 3809998"/>
              <a:gd name="connsiteX7" fmla="*/ 0 w 5271279"/>
              <a:gd name="connsiteY7" fmla="*/ 168288 h 3809998"/>
              <a:gd name="connsiteX8" fmla="*/ 168288 w 5271279"/>
              <a:gd name="connsiteY8" fmla="*/ 0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1279" h="3809998">
                <a:moveTo>
                  <a:pt x="168288" y="0"/>
                </a:moveTo>
                <a:lnTo>
                  <a:pt x="5102991" y="0"/>
                </a:lnTo>
                <a:cubicBezTo>
                  <a:pt x="5195934" y="0"/>
                  <a:pt x="5271279" y="75345"/>
                  <a:pt x="5271279" y="168288"/>
                </a:cubicBezTo>
                <a:lnTo>
                  <a:pt x="5271279" y="3641710"/>
                </a:lnTo>
                <a:cubicBezTo>
                  <a:pt x="5271279" y="3734653"/>
                  <a:pt x="5195934" y="3809998"/>
                  <a:pt x="5102991" y="3809998"/>
                </a:cubicBezTo>
                <a:lnTo>
                  <a:pt x="168288" y="3809998"/>
                </a:lnTo>
                <a:cubicBezTo>
                  <a:pt x="75345" y="3809998"/>
                  <a:pt x="0" y="3734653"/>
                  <a:pt x="0" y="3641710"/>
                </a:cubicBezTo>
                <a:lnTo>
                  <a:pt x="0" y="168288"/>
                </a:lnTo>
                <a:cubicBezTo>
                  <a:pt x="0" y="75345"/>
                  <a:pt x="75345" y="0"/>
                  <a:pt x="168288" y="0"/>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28751"/>
            <a:ext cx="11049000" cy="5264198"/>
          </a:xfrm>
          <a:prstGeom prst="rect">
            <a:avLst/>
          </a:prstGeom>
        </p:spPr>
      </p:pic>
      <p:pic>
        <p:nvPicPr>
          <p:cNvPr id="4" name="Picture 3" descr="image.png"/>
          <p:cNvPicPr>
            <a:picLocks noChangeAspect="1"/>
          </p:cNvPicPr>
          <p:nvPr/>
        </p:nvPicPr>
        <p:blipFill>
          <a:blip r:embed="rId4"/>
          <a:stretch>
            <a:fillRect/>
          </a:stretch>
        </p:blipFill>
        <p:spPr>
          <a:xfrm>
            <a:off x="1123950" y="1919287"/>
            <a:ext cx="361950" cy="295275"/>
          </a:xfrm>
          <a:prstGeom prst="rect">
            <a:avLst/>
          </a:prstGeom>
        </p:spPr>
      </p:pic>
      <p:sp>
        <p:nvSpPr>
          <p:cNvPr id="5" name="TextBox 4"/>
          <p:cNvSpPr txBox="1"/>
          <p:nvPr/>
        </p:nvSpPr>
        <p:spPr>
          <a:xfrm>
            <a:off x="1724025" y="1866900"/>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The Agent of the Depository</a:t>
            </a:r>
          </a:p>
        </p:txBody>
      </p:sp>
      <p:sp>
        <p:nvSpPr>
          <p:cNvPr id="6" name="TextBox 5"/>
          <p:cNvSpPr txBox="1"/>
          <p:nvPr/>
        </p:nvSpPr>
        <p:spPr>
          <a:xfrm>
            <a:off x="1724025" y="2280195"/>
            <a:ext cx="941070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Just like you can't open an account directly with the RBI (you go to a local bank branch), you cannot open a Demat account directly with NSDL or CDSL. You need a Depository Participant (DP).</a:t>
            </a:r>
          </a:p>
        </p:txBody>
      </p:sp>
      <p:pic>
        <p:nvPicPr>
          <p:cNvPr id="7" name="Picture 6" descr="image.png"/>
          <p:cNvPicPr>
            <a:picLocks noChangeAspect="1"/>
          </p:cNvPicPr>
          <p:nvPr/>
        </p:nvPicPr>
        <p:blipFill>
          <a:blip r:embed="rId5"/>
          <a:stretch>
            <a:fillRect/>
          </a:stretch>
        </p:blipFill>
        <p:spPr>
          <a:xfrm>
            <a:off x="1114425" y="3585716"/>
            <a:ext cx="361950" cy="295275"/>
          </a:xfrm>
          <a:prstGeom prst="rect">
            <a:avLst/>
          </a:prstGeom>
        </p:spPr>
      </p:pic>
      <p:sp>
        <p:nvSpPr>
          <p:cNvPr id="8" name="TextBox 7"/>
          <p:cNvSpPr txBox="1"/>
          <p:nvPr/>
        </p:nvSpPr>
        <p:spPr>
          <a:xfrm>
            <a:off x="1724025" y="3523803"/>
            <a:ext cx="9410700" cy="365670"/>
          </a:xfrm>
          <a:prstGeom prst="rect">
            <a:avLst/>
          </a:prstGeom>
          <a:noFill/>
        </p:spPr>
        <p:txBody>
          <a:bodyPr wrap="square" lIns="0" tIns="0" rIns="0" bIns="0" anchor="t">
            <a:spAutoFit/>
          </a:bodyPr>
          <a:lstStyle/>
          <a:p>
            <a:pPr algn="l">
              <a:lnSpc>
                <a:spcPts val="2879"/>
              </a:lnSpc>
            </a:pPr>
            <a:r>
              <a:rPr sz="1800" b="1" i="0" u="none" dirty="0">
                <a:solidFill>
                  <a:srgbClr val="F8FAFC"/>
                </a:solidFill>
                <a:latin typeface="Outfit"/>
              </a:rPr>
              <a:t>Broker = DP</a:t>
            </a:r>
          </a:p>
        </p:txBody>
      </p:sp>
      <p:sp>
        <p:nvSpPr>
          <p:cNvPr id="9" name="TextBox 8"/>
          <p:cNvSpPr txBox="1"/>
          <p:nvPr/>
        </p:nvSpPr>
        <p:spPr>
          <a:xfrm>
            <a:off x="1724025" y="3937099"/>
            <a:ext cx="941070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 most modern setups, your stock broker is ALSO registered as a Depository Participant. When you open a trading account with Zerodha, they seamlessly open your Demat account with CDSL on your behalf.</a:t>
            </a:r>
          </a:p>
        </p:txBody>
      </p:sp>
      <p:pic>
        <p:nvPicPr>
          <p:cNvPr id="10" name="Picture 9" descr="image.png"/>
          <p:cNvPicPr>
            <a:picLocks noChangeAspect="1"/>
          </p:cNvPicPr>
          <p:nvPr/>
        </p:nvPicPr>
        <p:blipFill>
          <a:blip r:embed="rId6"/>
          <a:stretch>
            <a:fillRect/>
          </a:stretch>
        </p:blipFill>
        <p:spPr>
          <a:xfrm>
            <a:off x="1181100" y="5223569"/>
            <a:ext cx="219075" cy="295275"/>
          </a:xfrm>
          <a:prstGeom prst="rect">
            <a:avLst/>
          </a:prstGeom>
        </p:spPr>
      </p:pic>
      <p:sp>
        <p:nvSpPr>
          <p:cNvPr id="11" name="TextBox 10"/>
          <p:cNvSpPr txBox="1"/>
          <p:nvPr/>
        </p:nvSpPr>
        <p:spPr>
          <a:xfrm>
            <a:off x="1724025" y="5190232"/>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Holding Your Assets</a:t>
            </a:r>
          </a:p>
        </p:txBody>
      </p:sp>
      <p:sp>
        <p:nvSpPr>
          <p:cNvPr id="12" name="TextBox 11"/>
          <p:cNvSpPr txBox="1"/>
          <p:nvPr/>
        </p:nvSpPr>
        <p:spPr>
          <a:xfrm>
            <a:off x="1724025" y="5603527"/>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While your broker provides the software to place the 'Buy' button, the actual shares you bought are safely held by the Depository, facilitated through your DP.</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Depository </a:t>
            </a:r>
            <a:r>
              <a:rPr sz="3600" b="1" i="0" u="none">
                <a:solidFill>
                  <a:srgbClr val="F59E0B"/>
                </a:solidFill>
                <a:latin typeface="Outfit"/>
              </a:rPr>
              <a:t>Participant (DP)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213496"/>
            <a:ext cx="11049000" cy="523875"/>
          </a:xfrm>
          <a:prstGeom prst="rect">
            <a:avLst/>
          </a:prstGeom>
        </p:spPr>
      </p:pic>
      <p:sp>
        <p:nvSpPr>
          <p:cNvPr id="4" name="TextBox 3"/>
          <p:cNvSpPr txBox="1"/>
          <p:nvPr/>
        </p:nvSpPr>
        <p:spPr>
          <a:xfrm>
            <a:off x="295275" y="571500"/>
            <a:ext cx="11601450" cy="962025"/>
          </a:xfrm>
          <a:prstGeom prst="rect">
            <a:avLst/>
          </a:prstGeom>
          <a:noFill/>
        </p:spPr>
        <p:txBody>
          <a:bodyPr wrap="square" lIns="0" tIns="0" rIns="0" bIns="0" anchor="t">
            <a:spAutoFit/>
          </a:bodyPr>
          <a:lstStyle/>
          <a:p>
            <a:pPr algn="ctr"/>
            <a:r>
              <a:rPr sz="6000" b="1" i="0" u="none">
                <a:solidFill>
                  <a:srgbClr val="10B981"/>
                </a:solidFill>
                <a:latin typeface="Outfit"/>
              </a:rPr>
              <a:t>Great Job on Day 5!</a:t>
            </a:r>
          </a:p>
        </p:txBody>
      </p:sp>
      <p:sp>
        <p:nvSpPr>
          <p:cNvPr id="5" name="TextBox 4"/>
          <p:cNvSpPr txBox="1"/>
          <p:nvPr/>
        </p:nvSpPr>
        <p:spPr>
          <a:xfrm>
            <a:off x="571500" y="1724025"/>
            <a:ext cx="11049000" cy="446725"/>
          </a:xfrm>
          <a:prstGeom prst="rect">
            <a:avLst/>
          </a:prstGeom>
          <a:noFill/>
        </p:spPr>
        <p:txBody>
          <a:bodyPr wrap="square" lIns="0" tIns="0" rIns="0" bIns="0" anchor="t">
            <a:spAutoFit/>
          </a:bodyPr>
          <a:lstStyle/>
          <a:p>
            <a:pPr algn="ctr">
              <a:lnSpc>
                <a:spcPts val="3840"/>
              </a:lnSpc>
            </a:pPr>
            <a:r>
              <a:rPr sz="2400" b="0" i="0" u="none" dirty="0">
                <a:solidFill>
                  <a:srgbClr val="F8FAFC"/>
                </a:solidFill>
                <a:latin typeface="Inter"/>
              </a:rPr>
              <a:t>Tomorrow: </a:t>
            </a:r>
            <a:r>
              <a:rPr lang="en-IN" sz="2400" b="0" i="0" u="none" dirty="0">
                <a:solidFill>
                  <a:srgbClr val="F8FAFC"/>
                </a:solidFill>
                <a:latin typeface="Inter"/>
              </a:rPr>
              <a:t>Demat &amp; Trading Account</a:t>
            </a:r>
            <a:r>
              <a:rPr sz="2400" b="0" i="0" u="none" dirty="0">
                <a:solidFill>
                  <a:srgbClr val="F8FAFC"/>
                </a:solidFill>
                <a:latin typeface="Inter"/>
              </a:rPr>
              <a:t>.</a:t>
            </a:r>
          </a:p>
        </p:txBody>
      </p:sp>
      <p:sp>
        <p:nvSpPr>
          <p:cNvPr id="6" name="TextBox 5"/>
          <p:cNvSpPr txBox="1"/>
          <p:nvPr/>
        </p:nvSpPr>
        <p:spPr>
          <a:xfrm>
            <a:off x="571500" y="2402085"/>
            <a:ext cx="11049000" cy="335160"/>
          </a:xfrm>
          <a:prstGeom prst="rect">
            <a:avLst/>
          </a:prstGeom>
          <a:noFill/>
        </p:spPr>
        <p:txBody>
          <a:bodyPr wrap="square" lIns="0" tIns="0" rIns="0" bIns="0" anchor="t">
            <a:spAutoFit/>
          </a:bodyPr>
          <a:lstStyle/>
          <a:p>
            <a:pPr algn="ctr">
              <a:lnSpc>
                <a:spcPts val="2640"/>
              </a:lnSpc>
            </a:pPr>
            <a:r>
              <a:rPr sz="1650" b="0" i="0" u="none">
                <a:solidFill>
                  <a:srgbClr val="10B981"/>
                </a:solidFill>
                <a:latin typeface="Inter"/>
              </a:rPr>
              <a:t>Don't forget to Like, Share, and Subscribe!</a:t>
            </a:r>
          </a:p>
        </p:txBody>
      </p:sp>
      <p:sp>
        <p:nvSpPr>
          <p:cNvPr id="7" name="TextBox 6"/>
          <p:cNvSpPr txBox="1"/>
          <p:nvPr/>
        </p:nvSpPr>
        <p:spPr>
          <a:xfrm>
            <a:off x="5053012" y="3508771"/>
            <a:ext cx="2085975" cy="228600"/>
          </a:xfrm>
          <a:prstGeom prst="rect">
            <a:avLst/>
          </a:prstGeom>
          <a:noFill/>
        </p:spPr>
        <p:txBody>
          <a:bodyPr wrap="square" lIns="0" tIns="0" rIns="0" bIns="0" anchor="ctr">
            <a:spAutoFit/>
          </a:bodyPr>
          <a:lstStyle/>
          <a:p>
            <a:pPr algn="ctr"/>
            <a:r>
              <a:rPr sz="1500" b="0" i="0" u="none" dirty="0">
                <a:solidFill>
                  <a:srgbClr val="94A3B8"/>
                </a:solidFill>
                <a:latin typeface="Inter"/>
              </a:rPr>
              <a:t> /</a:t>
            </a:r>
            <a:r>
              <a:rPr lang="en-IN" sz="1500" dirty="0">
                <a:solidFill>
                  <a:srgbClr val="94A3B8"/>
                </a:solidFill>
                <a:latin typeface="Inter"/>
              </a:rPr>
              <a:t> @EarnJoyOfficial</a:t>
            </a:r>
            <a:endParaRPr sz="1500" b="0" i="0" u="none" dirty="0">
              <a:solidFill>
                <a:srgbClr val="94A3B8"/>
              </a:solidFill>
              <a:latin typeface="Inter"/>
            </a:endParaRPr>
          </a:p>
        </p:txBody>
      </p:sp>
      <p:pic>
        <p:nvPicPr>
          <p:cNvPr id="9" name="Picture 8" descr="image.png"/>
          <p:cNvPicPr>
            <a:picLocks noChangeAspect="1"/>
          </p:cNvPicPr>
          <p:nvPr/>
        </p:nvPicPr>
        <p:blipFill>
          <a:blip r:embed="rId4"/>
          <a:stretch>
            <a:fillRect/>
          </a:stretch>
        </p:blipFill>
        <p:spPr>
          <a:xfrm>
            <a:off x="5053012" y="3527821"/>
            <a:ext cx="2190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855</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Inter</vt:lpstr>
      <vt:lpstr>Inter Medium</vt:lpstr>
      <vt:lpstr>Inter SemiBold</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Somtirtha Das</cp:lastModifiedBy>
  <cp:revision>2</cp:revision>
  <dcterms:created xsi:type="dcterms:W3CDTF">2013-01-27T09:14:16Z</dcterms:created>
  <dcterms:modified xsi:type="dcterms:W3CDTF">2026-07-25T10:53:45Z</dcterms:modified>
  <cp:category/>
</cp:coreProperties>
</file>